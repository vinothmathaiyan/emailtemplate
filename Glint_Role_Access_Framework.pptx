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23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235A"/>
          </a:solidFill>
          <a:ln/>
        </p:spPr>
      </p:sp>
      <p:sp>
        <p:nvSpPr>
          <p:cNvPr id="4" name="Shape 2"/>
          <p:cNvSpPr/>
          <p:nvPr/>
        </p:nvSpPr>
        <p:spPr>
          <a:xfrm>
            <a:off x="6172200" y="32004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32004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95160" y="32004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32004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818120" y="32004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229600" y="32004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172200" y="114300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114300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995160" y="114300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06640" y="114300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818120" y="114300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14300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172200" y="19659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19659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995160" y="19659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406640" y="19659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818120" y="19659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196596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172200" y="278892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278892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995160" y="278892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406640" y="278892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818120" y="278892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278892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172200" y="361188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0" y="361188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995160" y="361188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406640" y="361188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818120" y="361188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229600" y="3611880"/>
            <a:ext cx="73152" cy="73152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7315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4A223"/>
                </a:solidFill>
              </a:rPr>
              <a:t>VIVA GLINT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123444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Role &amp; Access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Framework</a:t>
            </a:r>
            <a:endParaRPr lang="en-US" sz="4400" dirty="0"/>
          </a:p>
        </p:txBody>
      </p:sp>
      <p:sp>
        <p:nvSpPr>
          <p:cNvPr id="36" name="Shape 34"/>
          <p:cNvSpPr/>
          <p:nvPr/>
        </p:nvSpPr>
        <p:spPr>
          <a:xfrm>
            <a:off x="365760" y="3063240"/>
            <a:ext cx="1005840" cy="54864"/>
          </a:xfrm>
          <a:prstGeom prst="rect">
            <a:avLst/>
          </a:prstGeom>
          <a:solidFill>
            <a:srgbClr val="F4A223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2461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Defining platform roles, permissions, user populations, and access provisioning strategy for CDO approval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" y="4663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Presented to CDO Team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4A223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155448"/>
            <a:ext cx="566928" cy="566928"/>
          </a:xfrm>
          <a:prstGeom prst="ellipse">
            <a:avLst/>
          </a:prstGeom>
          <a:solidFill>
            <a:srgbClr val="F4A22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55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91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Glint Service Admin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Role 1 of 7  |  Platform Super Admin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0" y="292608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926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1051560"/>
            <a:ext cx="50749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1051560"/>
            <a:ext cx="5074920" cy="347472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05156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A223"/>
                </a:solidFill>
              </a:rPr>
              <a:t>PERMISSIONS &amp; CAPABILITIES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591056"/>
            <a:ext cx="118872" cy="118872"/>
          </a:xfrm>
          <a:prstGeom prst="ellipse">
            <a:avLst/>
          </a:prstGeom>
          <a:solidFill>
            <a:srgbClr val="F4A22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Survey Programs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View, create, edit all surveys across all teams &amp; programs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066544"/>
            <a:ext cx="118872" cy="118872"/>
          </a:xfrm>
          <a:prstGeom prst="ellipse">
            <a:avLst/>
          </a:prstGeom>
          <a:solidFill>
            <a:srgbClr val="F4A223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Sensitive Comments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View, redact, or quarantine flagged comments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542032"/>
            <a:ext cx="118872" cy="118872"/>
          </a:xfrm>
          <a:prstGeom prst="ellipse">
            <a:avLst/>
          </a:prstGeom>
          <a:solidFill>
            <a:srgbClr val="F4A223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Question Library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Create, modify, and use the global question library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118872" cy="118872"/>
          </a:xfrm>
          <a:prstGeom prst="ellipse">
            <a:avLst/>
          </a:prstGeom>
          <a:solidFill>
            <a:srgbClr val="F4A223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Dashboards &amp; Reports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Create dashboards, share reports, add/edit/delete filters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862072" y="1591056"/>
            <a:ext cx="118872" cy="118872"/>
          </a:xfrm>
          <a:prstGeom prst="ellipse">
            <a:avLst/>
          </a:prstGeom>
          <a:solidFill>
            <a:srgbClr val="F4A223"/>
          </a:solidFill>
          <a:ln/>
        </p:spPr>
      </p:sp>
      <p:sp>
        <p:nvSpPr>
          <p:cNvPr id="26" name="Text 24"/>
          <p:cNvSpPr/>
          <p:nvPr/>
        </p:nvSpPr>
        <p:spPr>
          <a:xfrm>
            <a:off x="3044952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Role Management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44952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Create new roles, assign users, control view/comment permissions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62072" y="2066544"/>
            <a:ext cx="118872" cy="118872"/>
          </a:xfrm>
          <a:prstGeom prst="ellipse">
            <a:avLst/>
          </a:prstGeom>
          <a:solidFill>
            <a:srgbClr val="F4A223"/>
          </a:solidFill>
          <a:ln/>
        </p:spPr>
      </p:sp>
      <p:sp>
        <p:nvSpPr>
          <p:cNvPr id="29" name="Text 27"/>
          <p:cNvSpPr/>
          <p:nvPr/>
        </p:nvSpPr>
        <p:spPr>
          <a:xfrm>
            <a:off x="3044952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Nudge Notifications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44952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Create and send survey nudge notifications to boost response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862072" y="2542032"/>
            <a:ext cx="118872" cy="118872"/>
          </a:xfrm>
          <a:prstGeom prst="ellipse">
            <a:avLst/>
          </a:prstGeom>
          <a:solidFill>
            <a:srgbClr val="F4A223"/>
          </a:solidFill>
          <a:ln/>
        </p:spPr>
      </p:sp>
      <p:sp>
        <p:nvSpPr>
          <p:cNvPr id="32" name="Text 30"/>
          <p:cNvSpPr/>
          <p:nvPr/>
        </p:nvSpPr>
        <p:spPr>
          <a:xfrm>
            <a:off x="3044952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Data Management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044952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Manage people, roles, proxy login, admin access, file uploads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62072" y="3017520"/>
            <a:ext cx="118872" cy="118872"/>
          </a:xfrm>
          <a:prstGeom prst="ellipse">
            <a:avLst/>
          </a:prstGeom>
          <a:solidFill>
            <a:srgbClr val="F4A223"/>
          </a:solidFill>
          <a:ln/>
        </p:spPr>
      </p:sp>
      <p:sp>
        <p:nvSpPr>
          <p:cNvPr id="35" name="Text 33"/>
          <p:cNvSpPr/>
          <p:nvPr/>
        </p:nvSpPr>
        <p:spPr>
          <a:xfrm>
            <a:off x="3044952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Advanced Config &amp; Integrations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44952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Survey thresholds, Viva Insights &amp; Viva Pulse integrations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68112" y="1051560"/>
            <a:ext cx="3474720" cy="74980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051560"/>
            <a:ext cx="54864" cy="749808"/>
          </a:xfrm>
          <a:prstGeom prst="rect">
            <a:avLst/>
          </a:prstGeom>
          <a:solidFill>
            <a:srgbClr val="F4A223"/>
          </a:solidFill>
          <a:ln/>
        </p:spPr>
      </p:sp>
      <p:sp>
        <p:nvSpPr>
          <p:cNvPr id="39" name="Text 37"/>
          <p:cNvSpPr/>
          <p:nvPr/>
        </p:nvSpPr>
        <p:spPr>
          <a:xfrm>
            <a:off x="5577840" y="108813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4A223"/>
                </a:solidFill>
              </a:rPr>
              <a:t>DATA ACCESSIBLE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577840" y="129844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All survey data, all population segments — no restrictions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468112" y="1837944"/>
            <a:ext cx="3474720" cy="749808"/>
          </a:xfrm>
          <a:prstGeom prst="rect">
            <a:avLst/>
          </a:prstGeom>
          <a:solidFill>
            <a:srgbClr val="1B5E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68112" y="1837944"/>
            <a:ext cx="54864" cy="749808"/>
          </a:xfrm>
          <a:prstGeom prst="rect">
            <a:avLst/>
          </a:prstGeom>
          <a:solidFill>
            <a:srgbClr val="F4A223"/>
          </a:solidFill>
          <a:ln/>
        </p:spPr>
      </p:sp>
      <p:sp>
        <p:nvSpPr>
          <p:cNvPr id="43" name="Text 41"/>
          <p:cNvSpPr/>
          <p:nvPr/>
        </p:nvSpPr>
        <p:spPr>
          <a:xfrm>
            <a:off x="5577840" y="187452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4A223"/>
                </a:solidFill>
              </a:rPr>
              <a:t>POPULATION COVERED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577840" y="208483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Global / All regions (India &amp; UK primary)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468112" y="2624328"/>
            <a:ext cx="3474720" cy="749808"/>
          </a:xfrm>
          <a:prstGeom prst="rect">
            <a:avLst/>
          </a:prstGeom>
          <a:solidFill>
            <a:srgbClr val="1A4A6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68112" y="2624328"/>
            <a:ext cx="54864" cy="749808"/>
          </a:xfrm>
          <a:prstGeom prst="rect">
            <a:avLst/>
          </a:prstGeom>
          <a:solidFill>
            <a:srgbClr val="F4A223"/>
          </a:solidFill>
          <a:ln/>
        </p:spPr>
      </p:sp>
      <p:sp>
        <p:nvSpPr>
          <p:cNvPr id="47" name="Text 45"/>
          <p:cNvSpPr/>
          <p:nvPr/>
        </p:nvSpPr>
        <p:spPr>
          <a:xfrm>
            <a:off x="5577840" y="266090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4A223"/>
                </a:solidFill>
              </a:rPr>
              <a:t>WHO RECEIVES ACCESS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577840" y="2871216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Colleague Listening Team + Samuel Moore (Culture Team)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5468112" y="3410712"/>
            <a:ext cx="3474720" cy="749808"/>
          </a:xfrm>
          <a:prstGeom prst="rect">
            <a:avLst/>
          </a:prstGeom>
          <a:solidFill>
            <a:srgbClr val="1639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68112" y="3410712"/>
            <a:ext cx="54864" cy="749808"/>
          </a:xfrm>
          <a:prstGeom prst="rect">
            <a:avLst/>
          </a:prstGeom>
          <a:solidFill>
            <a:srgbClr val="F4A223"/>
          </a:solidFill>
          <a:ln/>
        </p:spPr>
      </p:sp>
      <p:sp>
        <p:nvSpPr>
          <p:cNvPr id="51" name="Text 49"/>
          <p:cNvSpPr/>
          <p:nvPr/>
        </p:nvSpPr>
        <p:spPr>
          <a:xfrm>
            <a:off x="5577840" y="344728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4A223"/>
                </a:solidFill>
              </a:rPr>
              <a:t>WHY THEY NEED IT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577840" y="365760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Owns platform governance, configuration, and full lifecycle of all survey programs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5468112" y="4197096"/>
            <a:ext cx="3474720" cy="749808"/>
          </a:xfrm>
          <a:prstGeom prst="rect">
            <a:avLst/>
          </a:prstGeom>
          <a:solidFill>
            <a:srgbClr val="0F26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68112" y="4197096"/>
            <a:ext cx="54864" cy="749808"/>
          </a:xfrm>
          <a:prstGeom prst="rect">
            <a:avLst/>
          </a:prstGeom>
          <a:solidFill>
            <a:srgbClr val="F4A223"/>
          </a:solidFill>
          <a:ln/>
        </p:spPr>
      </p:sp>
      <p:sp>
        <p:nvSpPr>
          <p:cNvPr id="55" name="Text 53"/>
          <p:cNvSpPr/>
          <p:nvPr/>
        </p:nvSpPr>
        <p:spPr>
          <a:xfrm>
            <a:off x="5577840" y="423367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4A223"/>
                </a:solidFill>
              </a:rPr>
              <a:t>HOW PROVISIONED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77840" y="444398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Bulk provisioning for full enablement; future requests via Access Request Portal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155448"/>
            <a:ext cx="566928" cy="566928"/>
          </a:xfrm>
          <a:prstGeom prst="ellipse">
            <a:avLst/>
          </a:prstGeom>
          <a:solidFill>
            <a:srgbClr val="4A90D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55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91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Survey Designer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Role 2 of 7  |  HR Survey Author (Non-Colleague Listening)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0" y="292608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926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1051560"/>
            <a:ext cx="50749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1051560"/>
            <a:ext cx="5074920" cy="347472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05156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A223"/>
                </a:solidFill>
              </a:rPr>
              <a:t>PERMISSIONS &amp; CAPABILITIES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591056"/>
            <a:ext cx="118872" cy="1188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Survey Programs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Access to all survey programs; create, edit, modify surveys &amp; distributions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066544"/>
            <a:ext cx="118872" cy="1188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360 Feedback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Full access including 360 subject/evaluator participation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542032"/>
            <a:ext cx="118872" cy="1188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Engagement &amp; Lifecycle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Manage ad hoc, recurring, and lifecycle survey programs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118872" cy="1188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Survey Participation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Participate in 360, engagement, ad hoc, and lifecycle surveys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862072" y="1591056"/>
            <a:ext cx="118872" cy="1188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3044952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Dashboards &amp; Reports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44952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Ad hoc filtering, company-wide alerts; same access as Service Admin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62072" y="2066544"/>
            <a:ext cx="118872" cy="1188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9" name="Text 27"/>
          <p:cNvSpPr/>
          <p:nvPr/>
        </p:nvSpPr>
        <p:spPr>
          <a:xfrm>
            <a:off x="3044952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Nudge Notifications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44952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Create and manage nudge notifications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862072" y="2542032"/>
            <a:ext cx="118872" cy="1188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2" name="Text 30"/>
          <p:cNvSpPr/>
          <p:nvPr/>
        </p:nvSpPr>
        <p:spPr>
          <a:xfrm>
            <a:off x="3044952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Survey Distribution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044952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Distribute surveys using existing enterprise data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62072" y="3017520"/>
            <a:ext cx="118872" cy="1188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5" name="Text 33"/>
          <p:cNvSpPr/>
          <p:nvPr/>
        </p:nvSpPr>
        <p:spPr>
          <a:xfrm>
            <a:off x="3044952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sensitive comments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44952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Cannot view, redact, or quarantine sensitive comments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68112" y="1051560"/>
            <a:ext cx="3474720" cy="74980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051560"/>
            <a:ext cx="54864" cy="7498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9" name="Text 37"/>
          <p:cNvSpPr/>
          <p:nvPr/>
        </p:nvSpPr>
        <p:spPr>
          <a:xfrm>
            <a:off x="5577840" y="108813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90D9"/>
                </a:solidFill>
              </a:rPr>
              <a:t>DATA ACCESSIBLE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577840" y="129844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All survey data &amp; population data; no data management or advanced config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468112" y="1837944"/>
            <a:ext cx="3474720" cy="749808"/>
          </a:xfrm>
          <a:prstGeom prst="rect">
            <a:avLst/>
          </a:prstGeom>
          <a:solidFill>
            <a:srgbClr val="1B5E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68112" y="1837944"/>
            <a:ext cx="54864" cy="7498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3" name="Text 41"/>
          <p:cNvSpPr/>
          <p:nvPr/>
        </p:nvSpPr>
        <p:spPr>
          <a:xfrm>
            <a:off x="5577840" y="187452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90D9"/>
                </a:solidFill>
              </a:rPr>
              <a:t>POPULATION COVERED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577840" y="208483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India &amp; UK — HR (non-Colleague Listening)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468112" y="2624328"/>
            <a:ext cx="3474720" cy="749808"/>
          </a:xfrm>
          <a:prstGeom prst="rect">
            <a:avLst/>
          </a:prstGeom>
          <a:solidFill>
            <a:srgbClr val="1A4A6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68112" y="2624328"/>
            <a:ext cx="54864" cy="7498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7" name="Text 45"/>
          <p:cNvSpPr/>
          <p:nvPr/>
        </p:nvSpPr>
        <p:spPr>
          <a:xfrm>
            <a:off x="5577840" y="266090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90D9"/>
                </a:solidFill>
              </a:rPr>
              <a:t>WHO RECEIVES ACCESS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577840" y="2871216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Talent Team (Lydia &amp; others), Journey Experts, OE Scientists, OE Team, Culture Team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5468112" y="3410712"/>
            <a:ext cx="3474720" cy="749808"/>
          </a:xfrm>
          <a:prstGeom prst="rect">
            <a:avLst/>
          </a:prstGeom>
          <a:solidFill>
            <a:srgbClr val="1639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68112" y="3410712"/>
            <a:ext cx="54864" cy="7498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1" name="Text 49"/>
          <p:cNvSpPr/>
          <p:nvPr/>
        </p:nvSpPr>
        <p:spPr>
          <a:xfrm>
            <a:off x="5577840" y="344728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90D9"/>
                </a:solidFill>
              </a:rPr>
              <a:t>WHY THEY NEED IT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577840" y="365760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Run and author survey programs without needing full admin or data management rights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5468112" y="4197096"/>
            <a:ext cx="3474720" cy="749808"/>
          </a:xfrm>
          <a:prstGeom prst="rect">
            <a:avLst/>
          </a:prstGeom>
          <a:solidFill>
            <a:srgbClr val="0F26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68112" y="4197096"/>
            <a:ext cx="54864" cy="7498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5" name="Text 53"/>
          <p:cNvSpPr/>
          <p:nvPr/>
        </p:nvSpPr>
        <p:spPr>
          <a:xfrm>
            <a:off x="5577840" y="423367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90D9"/>
                </a:solidFill>
              </a:rPr>
              <a:t>HOW PROVISIONED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77840" y="444398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Bulk provisioning initially; future requests via Access Request Portal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155448"/>
            <a:ext cx="566928" cy="566928"/>
          </a:xfrm>
          <a:prstGeom prst="ellipse">
            <a:avLst/>
          </a:prstGeom>
          <a:solidFill>
            <a:srgbClr val="27AE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55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91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Glint Survey Program Owner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Role 3 of 7  |  BUK — Engagement &amp; Lifecycle Only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0" y="292608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926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1051560"/>
            <a:ext cx="50749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1051560"/>
            <a:ext cx="5074920" cy="347472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05156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A223"/>
                </a:solidFill>
              </a:rPr>
              <a:t>PERMISSIONS &amp; CAPABILITIES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591056"/>
            <a:ext cx="118872" cy="1188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Survey Programs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All access same as Survey Designer role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066544"/>
            <a:ext cx="118872" cy="1188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Engagement &amp; Lifecycle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Full access to manage recurring, ad hoc, and lifecycle surveys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542032"/>
            <a:ext cx="118872" cy="1188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Survey Distribution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Distribute surveys using existing enterprise data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118872" cy="1188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Dashboards &amp; Reports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Ad hoc filtering, company-wide alerts; same as Survey Designer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862072" y="1591056"/>
            <a:ext cx="118872" cy="1188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3044952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Nudge Notifications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44952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Create and manage nudge notifications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62072" y="2066544"/>
            <a:ext cx="118872" cy="1188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3044952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Survey Participation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44952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Participate in engagement, ad hoc, and lifecycle surveys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862072" y="2542032"/>
            <a:ext cx="118872" cy="1188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2" name="Text 30"/>
          <p:cNvSpPr/>
          <p:nvPr/>
        </p:nvSpPr>
        <p:spPr>
          <a:xfrm>
            <a:off x="3044952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360 Feedback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044952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No access to 360 subject/evaluator programs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62072" y="3017520"/>
            <a:ext cx="118872" cy="1188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3044952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Data Mgmt/Adv Config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44952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No role mgmt, proxy login, attributes, or advanced settings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68112" y="1051560"/>
            <a:ext cx="3474720" cy="74980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051560"/>
            <a:ext cx="54864" cy="7498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9" name="Text 37"/>
          <p:cNvSpPr/>
          <p:nvPr/>
        </p:nvSpPr>
        <p:spPr>
          <a:xfrm>
            <a:off x="5577840" y="108813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7AE60"/>
                </a:solidFill>
              </a:rPr>
              <a:t>DATA ACCESSIBLE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577840" y="129844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All survey &amp; population data except 360 program data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468112" y="1837944"/>
            <a:ext cx="3474720" cy="749808"/>
          </a:xfrm>
          <a:prstGeom prst="rect">
            <a:avLst/>
          </a:prstGeom>
          <a:solidFill>
            <a:srgbClr val="1B5E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68112" y="1837944"/>
            <a:ext cx="54864" cy="7498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3" name="Text 41"/>
          <p:cNvSpPr/>
          <p:nvPr/>
        </p:nvSpPr>
        <p:spPr>
          <a:xfrm>
            <a:off x="5577840" y="187452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7AE60"/>
                </a:solidFill>
              </a:rPr>
              <a:t>POPULATION COVERED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577840" y="208483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India &amp; UK — BUK (Barclays UK) division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468112" y="2624328"/>
            <a:ext cx="3474720" cy="749808"/>
          </a:xfrm>
          <a:prstGeom prst="rect">
            <a:avLst/>
          </a:prstGeom>
          <a:solidFill>
            <a:srgbClr val="1A4A6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68112" y="2624328"/>
            <a:ext cx="54864" cy="7498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7" name="Text 45"/>
          <p:cNvSpPr/>
          <p:nvPr/>
        </p:nvSpPr>
        <p:spPr>
          <a:xfrm>
            <a:off x="5577840" y="266090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7AE60"/>
                </a:solidFill>
              </a:rPr>
              <a:t>WHO RECEIVES ACCESS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577840" y="2871216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BUK team members who run periodic engagement surveys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5468112" y="3410712"/>
            <a:ext cx="3474720" cy="749808"/>
          </a:xfrm>
          <a:prstGeom prst="rect">
            <a:avLst/>
          </a:prstGeom>
          <a:solidFill>
            <a:srgbClr val="1639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68112" y="3410712"/>
            <a:ext cx="54864" cy="7498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1" name="Text 49"/>
          <p:cNvSpPr/>
          <p:nvPr/>
        </p:nvSpPr>
        <p:spPr>
          <a:xfrm>
            <a:off x="5577840" y="344728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7AE60"/>
                </a:solidFill>
              </a:rPr>
              <a:t>WHY THEY NEED IT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577840" y="365760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BUK runs standalone engagement &amp; parameter analysis; 360 not applicable to their workflow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5468112" y="4197096"/>
            <a:ext cx="3474720" cy="749808"/>
          </a:xfrm>
          <a:prstGeom prst="rect">
            <a:avLst/>
          </a:prstGeom>
          <a:solidFill>
            <a:srgbClr val="0F26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68112" y="4197096"/>
            <a:ext cx="54864" cy="7498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5" name="Text 53"/>
          <p:cNvSpPr/>
          <p:nvPr/>
        </p:nvSpPr>
        <p:spPr>
          <a:xfrm>
            <a:off x="5577840" y="423367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7AE60"/>
                </a:solidFill>
              </a:rPr>
              <a:t>HOW PROVISIONED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77840" y="444398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Bulk provisioning initially; future requests via Access Request Portal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155448"/>
            <a:ext cx="566928" cy="566928"/>
          </a:xfrm>
          <a:prstGeom prst="ellipse">
            <a:avLst/>
          </a:prstGeom>
          <a:solidFill>
            <a:srgbClr val="8E44A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55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91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Glint Survey Program Contributor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Role 4 of 7  |  BIA / CSO — Controlled Survey Distribution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0" y="292608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926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1051560"/>
            <a:ext cx="50749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1051560"/>
            <a:ext cx="5074920" cy="347472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05156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A223"/>
                </a:solidFill>
              </a:rPr>
              <a:t>PERMISSIONS &amp; CAPABILITIES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591056"/>
            <a:ext cx="118872" cy="118872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Shared Survey Edit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Edit surveys shared with them; cannot create new survey programs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066544"/>
            <a:ext cx="118872" cy="118872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Survey Distribution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Manage and send survey distributions independently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542032"/>
            <a:ext cx="118872" cy="118872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Dashboard Access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Create dashboards and share with designated consumers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118872" cy="118872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Controlled Environment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Reuse same survey for different population cycles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862072" y="1591056"/>
            <a:ext cx="118872" cy="118872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6" name="Text 24"/>
          <p:cNvSpPr/>
          <p:nvPr/>
        </p:nvSpPr>
        <p:spPr>
          <a:xfrm>
            <a:off x="3044952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Survey Creation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44952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Cannot create or access new survey programs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62072" y="2066544"/>
            <a:ext cx="118872" cy="118872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9" name="Text 27"/>
          <p:cNvSpPr/>
          <p:nvPr/>
        </p:nvSpPr>
        <p:spPr>
          <a:xfrm>
            <a:off x="3044952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Data Management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44952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No role management, proxy login, or attribute control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862072" y="2542032"/>
            <a:ext cx="118872" cy="118872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32" name="Text 30"/>
          <p:cNvSpPr/>
          <p:nvPr/>
        </p:nvSpPr>
        <p:spPr>
          <a:xfrm>
            <a:off x="3044952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Sensitive Comments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044952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Cannot view, redact, or quarantine flagged comments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62072" y="3017520"/>
            <a:ext cx="118872" cy="118872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35" name="Text 33"/>
          <p:cNvSpPr/>
          <p:nvPr/>
        </p:nvSpPr>
        <p:spPr>
          <a:xfrm>
            <a:off x="3044952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Advanced Config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44952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No survey thresholds, integrations, or admin settings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68112" y="1051560"/>
            <a:ext cx="3474720" cy="74980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051560"/>
            <a:ext cx="54864" cy="7498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9" name="Text 37"/>
          <p:cNvSpPr/>
          <p:nvPr/>
        </p:nvSpPr>
        <p:spPr>
          <a:xfrm>
            <a:off x="5577840" y="108813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44AD"/>
                </a:solidFill>
              </a:rPr>
              <a:t>DATA ACCESSIBLE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577840" y="129844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Only shared surveys assigned to them; controlled population per distribution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468112" y="1837944"/>
            <a:ext cx="3474720" cy="749808"/>
          </a:xfrm>
          <a:prstGeom prst="rect">
            <a:avLst/>
          </a:prstGeom>
          <a:solidFill>
            <a:srgbClr val="1B5E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68112" y="1837944"/>
            <a:ext cx="54864" cy="7498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43" name="Text 41"/>
          <p:cNvSpPr/>
          <p:nvPr/>
        </p:nvSpPr>
        <p:spPr>
          <a:xfrm>
            <a:off x="5577840" y="187452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44AD"/>
                </a:solidFill>
              </a:rPr>
              <a:t>POPULATION COVERED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577840" y="208483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India &amp; UK — Barclays Internal Audit (BIA) &amp; CSO Teams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468112" y="2624328"/>
            <a:ext cx="3474720" cy="749808"/>
          </a:xfrm>
          <a:prstGeom prst="rect">
            <a:avLst/>
          </a:prstGeom>
          <a:solidFill>
            <a:srgbClr val="1A4A6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68112" y="2624328"/>
            <a:ext cx="54864" cy="7498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47" name="Text 45"/>
          <p:cNvSpPr/>
          <p:nvPr/>
        </p:nvSpPr>
        <p:spPr>
          <a:xfrm>
            <a:off x="5577840" y="266090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44AD"/>
                </a:solidFill>
              </a:rPr>
              <a:t>WHO RECEIVES ACCESS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577840" y="2871216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BIA and CSO team members running periodic audit/compliance surveys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5468112" y="3410712"/>
            <a:ext cx="3474720" cy="749808"/>
          </a:xfrm>
          <a:prstGeom prst="rect">
            <a:avLst/>
          </a:prstGeom>
          <a:solidFill>
            <a:srgbClr val="1639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68112" y="3410712"/>
            <a:ext cx="54864" cy="7498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51" name="Text 49"/>
          <p:cNvSpPr/>
          <p:nvPr/>
        </p:nvSpPr>
        <p:spPr>
          <a:xfrm>
            <a:off x="5577840" y="344728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44AD"/>
                </a:solidFill>
              </a:rPr>
              <a:t>WHY THEY NEED IT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577840" y="365760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Run periodic surveys with a fixed template reused across different populations without full authoring rights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5468112" y="4197096"/>
            <a:ext cx="3474720" cy="749808"/>
          </a:xfrm>
          <a:prstGeom prst="rect">
            <a:avLst/>
          </a:prstGeom>
          <a:solidFill>
            <a:srgbClr val="0F26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68112" y="4197096"/>
            <a:ext cx="54864" cy="7498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55" name="Text 53"/>
          <p:cNvSpPr/>
          <p:nvPr/>
        </p:nvSpPr>
        <p:spPr>
          <a:xfrm>
            <a:off x="5577840" y="423367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44AD"/>
                </a:solidFill>
              </a:rPr>
              <a:t>HOW PROVISIONED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77840" y="444398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Bulk provisioning initially; future requests via Access Request Portal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155448"/>
            <a:ext cx="566928" cy="566928"/>
          </a:xfrm>
          <a:prstGeom prst="ellipse">
            <a:avLst/>
          </a:prstGeom>
          <a:solidFill>
            <a:srgbClr val="E67E2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55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91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Glint Advanced Analytics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Role 5 of 7  |  Data &amp; OB Science Team — Dashboard Only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0" y="292608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926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 in Progress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1051560"/>
            <a:ext cx="50749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1051560"/>
            <a:ext cx="5074920" cy="347472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05156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A223"/>
                </a:solidFill>
              </a:rPr>
              <a:t>PERMISSIONS &amp; CAPABILITIES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591056"/>
            <a:ext cx="118872" cy="1188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Dashboard Access (Read)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View all dashboards available within the platform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066544"/>
            <a:ext cx="118872" cy="1188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Report Consumption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Consume shared reports and insights from survey results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542032"/>
            <a:ext cx="118872" cy="1188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Survey Authoring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Cannot create, edit, or modify any survey programs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118872" cy="1188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Distribution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Cannot send or manage survey distributions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862072" y="1591056"/>
            <a:ext cx="118872" cy="1188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3044952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Data Management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44952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No role management, proxy login, or attribute control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62072" y="2066544"/>
            <a:ext cx="118872" cy="1188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3044952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Advanced Config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44952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No survey thresholds, integrations, or advanced settings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862072" y="2542032"/>
            <a:ext cx="118872" cy="1188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3044952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⚠️ Platform Limitation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044952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Glint does not natively support advanced analytics — gap exists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62072" y="3017520"/>
            <a:ext cx="118872" cy="1188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5" name="Text 33"/>
          <p:cNvSpPr/>
          <p:nvPr/>
        </p:nvSpPr>
        <p:spPr>
          <a:xfrm>
            <a:off x="3044952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⚠️ Pending Solution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44952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Architecture decision required to enable analytics use case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68112" y="1051560"/>
            <a:ext cx="3474720" cy="74980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051560"/>
            <a:ext cx="54864" cy="7498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9" name="Text 37"/>
          <p:cNvSpPr/>
          <p:nvPr/>
        </p:nvSpPr>
        <p:spPr>
          <a:xfrm>
            <a:off x="5577840" y="108813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67E22"/>
                </a:solidFill>
              </a:rPr>
              <a:t>DATA ACCESSIBLE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577840" y="129844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Dashboard data only — no raw survey or population data access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468112" y="1837944"/>
            <a:ext cx="3474720" cy="749808"/>
          </a:xfrm>
          <a:prstGeom prst="rect">
            <a:avLst/>
          </a:prstGeom>
          <a:solidFill>
            <a:srgbClr val="1B5E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68112" y="1837944"/>
            <a:ext cx="54864" cy="7498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3" name="Text 41"/>
          <p:cNvSpPr/>
          <p:nvPr/>
        </p:nvSpPr>
        <p:spPr>
          <a:xfrm>
            <a:off x="5577840" y="187452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67E22"/>
                </a:solidFill>
              </a:rPr>
              <a:t>POPULATION COVERED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577840" y="208483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India &amp; UK — Data Science &amp; OB Science Teams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468112" y="2624328"/>
            <a:ext cx="3474720" cy="749808"/>
          </a:xfrm>
          <a:prstGeom prst="rect">
            <a:avLst/>
          </a:prstGeom>
          <a:solidFill>
            <a:srgbClr val="1A4A6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68112" y="2624328"/>
            <a:ext cx="54864" cy="7498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7" name="Text 45"/>
          <p:cNvSpPr/>
          <p:nvPr/>
        </p:nvSpPr>
        <p:spPr>
          <a:xfrm>
            <a:off x="5577840" y="266090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67E22"/>
                </a:solidFill>
              </a:rPr>
              <a:t>WHO RECEIVES ACCESS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577840" y="2871216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Data Scientists and Organisational Behaviour Scientists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5468112" y="3410712"/>
            <a:ext cx="3474720" cy="749808"/>
          </a:xfrm>
          <a:prstGeom prst="rect">
            <a:avLst/>
          </a:prstGeom>
          <a:solidFill>
            <a:srgbClr val="1639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68112" y="3410712"/>
            <a:ext cx="54864" cy="7498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1" name="Text 49"/>
          <p:cNvSpPr/>
          <p:nvPr/>
        </p:nvSpPr>
        <p:spPr>
          <a:xfrm>
            <a:off x="5577840" y="344728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67E22"/>
                </a:solidFill>
              </a:rPr>
              <a:t>WHY THEY NEED IT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577840" y="365760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Consume aggregated insights for research and analysis without authoring rights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5468112" y="4197096"/>
            <a:ext cx="3474720" cy="749808"/>
          </a:xfrm>
          <a:prstGeom prst="rect">
            <a:avLst/>
          </a:prstGeom>
          <a:solidFill>
            <a:srgbClr val="0F26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68112" y="4197096"/>
            <a:ext cx="54864" cy="7498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5" name="Text 53"/>
          <p:cNvSpPr/>
          <p:nvPr/>
        </p:nvSpPr>
        <p:spPr>
          <a:xfrm>
            <a:off x="5577840" y="423367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67E22"/>
                </a:solidFill>
              </a:rPr>
              <a:t>HOW PROVISIONED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77840" y="444398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⚠️ Solution not yet defined — Glint native advanced analytics not available. Pending platform evaluation.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155448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55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91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Glint Survey Approver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594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Role 6 of 7  |  Corporate Comms — Approval Workflow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0" y="292608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926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 in Progress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1051560"/>
            <a:ext cx="50749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1051560"/>
            <a:ext cx="5074920" cy="347472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05156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A223"/>
                </a:solidFill>
              </a:rPr>
              <a:t>PERMISSIONS &amp; CAPABILITIES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591056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Survey Approval (Proposed)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Review and approve surveys before they go live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066544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Distribution Approval (Proposed)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Approve survey distribution plans created by external teams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542032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Third-Party Access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External consultants (e.g. Karian &amp; Box) cannot access Glint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017520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❌ No Approver Role in Glint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Glint does not natively support a survey approver permission tier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862072" y="1591056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3044952" y="1517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⚠️ Platform Limitation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44952" y="17190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Approval-only role cannot be implemented with current Glint permissions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62072" y="2066544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3044952" y="19933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⚠️ Pending Solution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44952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Workflow must be redesigned or managed outside Glint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862072" y="2542032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3044952" y="2468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🔍 Under Review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044952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Corporate Comms oversight model to be re-architected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62072" y="3017520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3044952" y="29443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🔍 Stakeholder Input Needed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44952" y="3145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CDO &amp; Corporate Comms alignment required to define interim process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68112" y="1051560"/>
            <a:ext cx="3474720" cy="74980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051560"/>
            <a:ext cx="54864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5577840" y="108813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0392B"/>
                </a:solidFill>
              </a:rPr>
              <a:t>DATA ACCESSIBLE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577840" y="129844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Intended: Survey content &amp; distribution plans only — no population data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468112" y="1837944"/>
            <a:ext cx="3474720" cy="749808"/>
          </a:xfrm>
          <a:prstGeom prst="rect">
            <a:avLst/>
          </a:prstGeom>
          <a:solidFill>
            <a:srgbClr val="1B5E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68112" y="1837944"/>
            <a:ext cx="54864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3" name="Text 41"/>
          <p:cNvSpPr/>
          <p:nvPr/>
        </p:nvSpPr>
        <p:spPr>
          <a:xfrm>
            <a:off x="5577840" y="187452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0392B"/>
                </a:solidFill>
              </a:rPr>
              <a:t>POPULATION COVERED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577840" y="208483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India &amp; UK — Corporate Communications Team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468112" y="2624328"/>
            <a:ext cx="3474720" cy="749808"/>
          </a:xfrm>
          <a:prstGeom prst="rect">
            <a:avLst/>
          </a:prstGeom>
          <a:solidFill>
            <a:srgbClr val="1A4A6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68112" y="2624328"/>
            <a:ext cx="54864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7" name="Text 45"/>
          <p:cNvSpPr/>
          <p:nvPr/>
        </p:nvSpPr>
        <p:spPr>
          <a:xfrm>
            <a:off x="5577840" y="266090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0392B"/>
                </a:solidFill>
              </a:rPr>
              <a:t>WHO RECEIVES ACCESS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577840" y="2871216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Corporate Comms team responsible for approving externally-authored surveys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5468112" y="3410712"/>
            <a:ext cx="3474720" cy="749808"/>
          </a:xfrm>
          <a:prstGeom prst="rect">
            <a:avLst/>
          </a:prstGeom>
          <a:solidFill>
            <a:srgbClr val="1639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68112" y="3410712"/>
            <a:ext cx="54864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1" name="Text 49"/>
          <p:cNvSpPr/>
          <p:nvPr/>
        </p:nvSpPr>
        <p:spPr>
          <a:xfrm>
            <a:off x="5577840" y="344728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0392B"/>
                </a:solidFill>
              </a:rPr>
              <a:t>WHY THEY NEED IT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577840" y="365760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Oversight of surveys authored by 3rd parties (Karian &amp; Box) before distribution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5468112" y="4197096"/>
            <a:ext cx="3474720" cy="749808"/>
          </a:xfrm>
          <a:prstGeom prst="rect">
            <a:avLst/>
          </a:prstGeom>
          <a:solidFill>
            <a:srgbClr val="0F26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68112" y="4197096"/>
            <a:ext cx="54864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5" name="Text 53"/>
          <p:cNvSpPr/>
          <p:nvPr/>
        </p:nvSpPr>
        <p:spPr>
          <a:xfrm>
            <a:off x="5577840" y="423367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0392B"/>
                </a:solidFill>
              </a:rPr>
              <a:t>HOW PROVISIONED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77840" y="444398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FFFFFF"/>
                </a:solidFill>
              </a:rPr>
              <a:t>⚠️ Solution not yet defined — role not achievable in current Glint. Interim manual process needed.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F4A22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ROLE SUMMARY — ALL 7 GLINT ACCESS ROLES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24128"/>
          <a:ext cx="8778240" cy="3886200"/>
        </p:xfrm>
        <a:graphic>
          <a:graphicData uri="http://schemas.openxmlformats.org/drawingml/2006/table">
            <a:tbl>
              <a:tblPr/>
              <a:tblGrid>
                <a:gridCol w="274320"/>
                <a:gridCol w="1920240"/>
                <a:gridCol w="2011680"/>
                <a:gridCol w="914400"/>
                <a:gridCol w="777240"/>
                <a:gridCol w="777240"/>
                <a:gridCol w="640080"/>
                <a:gridCol w="64008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Role Name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Key Users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Survey</a:t>
                      </a:r>
                      <a:endParaRPr lang="en-US" sz="850" dirty="0"/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Authoring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Data</a:t>
                      </a:r>
                      <a:endParaRPr lang="en-US" sz="850" dirty="0"/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Mgmt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360</a:t>
                      </a:r>
                      <a:endParaRPr lang="en-US" sz="850" dirty="0"/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Feedback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Adv</a:t>
                      </a:r>
                      <a:endParaRPr lang="en-US" sz="850" dirty="0"/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Config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34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Glint Service Admin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Colleague Listening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+ Samuel Moore (Culture)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✓ Full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✓ Full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Live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34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Survey Designer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Talent, OE, Journey Experts,</a:t>
                      </a:r>
                      <a:endParaRPr lang="en-US" sz="800" dirty="0"/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Culture (non-CL)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✓ Full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Live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34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Survey Program Owner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BUK Team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✓ Full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Live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34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Survey Program Contributor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BIA &amp; CSO Teams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Edit only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Live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340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Advanced Analytics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Data &amp; OB Science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</a:rPr>
                        <a:t>WIP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340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Survey Approver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Corporate Comms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4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</a:rPr>
                        <a:t>WIP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82880" y="4754880"/>
            <a:ext cx="8778240" cy="274320"/>
          </a:xfrm>
          <a:prstGeom prst="rect">
            <a:avLst/>
          </a:prstGeom>
          <a:solidFill>
            <a:srgbClr val="FEF3CD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5A00"/>
                </a:solidFill>
              </a:rPr>
              <a:t>⚠  Roles 5 &amp; 6 are Work in Progress — platform limitations exist; definitive solutions pending CDO alignment.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Viva Glint – Role &amp; Access Framework</dc:title>
  <dc:subject>PptxGenJS Presentation</dc:subject>
  <dc:creator>PptxGenJS</dc:creator>
  <cp:lastModifiedBy>PptxGenJS</cp:lastModifiedBy>
  <cp:revision>1</cp:revision>
  <dcterms:created xsi:type="dcterms:W3CDTF">2026-04-10T02:58:09Z</dcterms:created>
  <dcterms:modified xsi:type="dcterms:W3CDTF">2026-04-10T02:58:09Z</dcterms:modified>
</cp:coreProperties>
</file>