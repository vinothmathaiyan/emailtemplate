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F4A223"/>
          </a:solidFill>
          <a:ln/>
        </p:spPr>
      </p:sp>
      <p:sp>
        <p:nvSpPr>
          <p:cNvPr id="3" name="Shape 1"/>
          <p:cNvSpPr/>
          <p:nvPr/>
        </p:nvSpPr>
        <p:spPr>
          <a:xfrm>
            <a:off x="5943600" y="0"/>
            <a:ext cx="3200400" cy="5143500"/>
          </a:xfrm>
          <a:prstGeom prst="rect">
            <a:avLst/>
          </a:prstGeom>
          <a:solidFill>
            <a:srgbClr val="16235A"/>
          </a:solidFill>
          <a:ln/>
        </p:spPr>
      </p:sp>
      <p:sp>
        <p:nvSpPr>
          <p:cNvPr id="4" name="Shape 2"/>
          <p:cNvSpPr/>
          <p:nvPr/>
        </p:nvSpPr>
        <p:spPr>
          <a:xfrm>
            <a:off x="6172200" y="320040"/>
            <a:ext cx="73152" cy="73152"/>
          </a:xfrm>
          <a:prstGeom prst="ellipse">
            <a:avLst/>
          </a:prstGeom>
          <a:solidFill>
            <a:srgbClr val="CADCFC">
              <a:alpha val="40000"/>
            </a:srgbClr>
          </a:solidFill>
          <a:ln/>
        </p:spPr>
      </p:sp>
      <p:sp>
        <p:nvSpPr>
          <p:cNvPr id="5" name="Shape 3"/>
          <p:cNvSpPr/>
          <p:nvPr/>
        </p:nvSpPr>
        <p:spPr>
          <a:xfrm>
            <a:off x="6583680" y="320040"/>
            <a:ext cx="73152" cy="73152"/>
          </a:xfrm>
          <a:prstGeom prst="ellipse">
            <a:avLst/>
          </a:prstGeom>
          <a:solidFill>
            <a:srgbClr val="CADCFC">
              <a:alpha val="40000"/>
            </a:srgbClr>
          </a:solidFill>
          <a:ln/>
        </p:spPr>
      </p:sp>
      <p:sp>
        <p:nvSpPr>
          <p:cNvPr id="6" name="Shape 4"/>
          <p:cNvSpPr/>
          <p:nvPr/>
        </p:nvSpPr>
        <p:spPr>
          <a:xfrm>
            <a:off x="6995160" y="320040"/>
            <a:ext cx="73152" cy="73152"/>
          </a:xfrm>
          <a:prstGeom prst="ellipse">
            <a:avLst/>
          </a:prstGeom>
          <a:solidFill>
            <a:srgbClr val="CADCFC">
              <a:alpha val="40000"/>
            </a:srgbClr>
          </a:solidFill>
          <a:ln/>
        </p:spPr>
      </p:sp>
      <p:sp>
        <p:nvSpPr>
          <p:cNvPr id="7" name="Shape 5"/>
          <p:cNvSpPr/>
          <p:nvPr/>
        </p:nvSpPr>
        <p:spPr>
          <a:xfrm>
            <a:off x="7406640" y="320040"/>
            <a:ext cx="73152" cy="73152"/>
          </a:xfrm>
          <a:prstGeom prst="ellipse">
            <a:avLst/>
          </a:prstGeom>
          <a:solidFill>
            <a:srgbClr val="CADCFC">
              <a:alpha val="40000"/>
            </a:srgbClr>
          </a:solidFill>
          <a:ln/>
        </p:spPr>
      </p:sp>
      <p:sp>
        <p:nvSpPr>
          <p:cNvPr id="8" name="Shape 6"/>
          <p:cNvSpPr/>
          <p:nvPr/>
        </p:nvSpPr>
        <p:spPr>
          <a:xfrm>
            <a:off x="7818120" y="320040"/>
            <a:ext cx="73152" cy="73152"/>
          </a:xfrm>
          <a:prstGeom prst="ellipse">
            <a:avLst/>
          </a:prstGeom>
          <a:solidFill>
            <a:srgbClr val="CADCFC">
              <a:alpha val="40000"/>
            </a:srgbClr>
          </a:solidFill>
          <a:ln/>
        </p:spPr>
      </p:sp>
      <p:sp>
        <p:nvSpPr>
          <p:cNvPr id="9" name="Shape 7"/>
          <p:cNvSpPr/>
          <p:nvPr/>
        </p:nvSpPr>
        <p:spPr>
          <a:xfrm>
            <a:off x="8229600" y="320040"/>
            <a:ext cx="73152" cy="73152"/>
          </a:xfrm>
          <a:prstGeom prst="ellipse">
            <a:avLst/>
          </a:prstGeom>
          <a:solidFill>
            <a:srgbClr val="CADCFC">
              <a:alpha val="40000"/>
            </a:srgbClr>
          </a:solidFill>
          <a:ln/>
        </p:spPr>
      </p:sp>
      <p:sp>
        <p:nvSpPr>
          <p:cNvPr id="10" name="Shape 8"/>
          <p:cNvSpPr/>
          <p:nvPr/>
        </p:nvSpPr>
        <p:spPr>
          <a:xfrm>
            <a:off x="6172200" y="1143000"/>
            <a:ext cx="73152" cy="73152"/>
          </a:xfrm>
          <a:prstGeom prst="ellipse">
            <a:avLst/>
          </a:prstGeom>
          <a:solidFill>
            <a:srgbClr val="CADCFC">
              <a:alpha val="40000"/>
            </a:srgbClr>
          </a:solidFill>
          <a:ln/>
        </p:spPr>
      </p:sp>
      <p:sp>
        <p:nvSpPr>
          <p:cNvPr id="11" name="Shape 9"/>
          <p:cNvSpPr/>
          <p:nvPr/>
        </p:nvSpPr>
        <p:spPr>
          <a:xfrm>
            <a:off x="6583680" y="1143000"/>
            <a:ext cx="73152" cy="73152"/>
          </a:xfrm>
          <a:prstGeom prst="ellipse">
            <a:avLst/>
          </a:prstGeom>
          <a:solidFill>
            <a:srgbClr val="CADCFC">
              <a:alpha val="40000"/>
            </a:srgbClr>
          </a:solidFill>
          <a:ln/>
        </p:spPr>
      </p:sp>
      <p:sp>
        <p:nvSpPr>
          <p:cNvPr id="12" name="Shape 10"/>
          <p:cNvSpPr/>
          <p:nvPr/>
        </p:nvSpPr>
        <p:spPr>
          <a:xfrm>
            <a:off x="6995160" y="1143000"/>
            <a:ext cx="73152" cy="73152"/>
          </a:xfrm>
          <a:prstGeom prst="ellipse">
            <a:avLst/>
          </a:prstGeom>
          <a:solidFill>
            <a:srgbClr val="CADCFC">
              <a:alpha val="40000"/>
            </a:srgbClr>
          </a:solidFill>
          <a:ln/>
        </p:spPr>
      </p:sp>
      <p:sp>
        <p:nvSpPr>
          <p:cNvPr id="13" name="Shape 11"/>
          <p:cNvSpPr/>
          <p:nvPr/>
        </p:nvSpPr>
        <p:spPr>
          <a:xfrm>
            <a:off x="7406640" y="1143000"/>
            <a:ext cx="73152" cy="73152"/>
          </a:xfrm>
          <a:prstGeom prst="ellipse">
            <a:avLst/>
          </a:prstGeom>
          <a:solidFill>
            <a:srgbClr val="CADCFC">
              <a:alpha val="40000"/>
            </a:srgbClr>
          </a:solidFill>
          <a:ln/>
        </p:spPr>
      </p:sp>
      <p:sp>
        <p:nvSpPr>
          <p:cNvPr id="14" name="Shape 12"/>
          <p:cNvSpPr/>
          <p:nvPr/>
        </p:nvSpPr>
        <p:spPr>
          <a:xfrm>
            <a:off x="7818120" y="1143000"/>
            <a:ext cx="73152" cy="73152"/>
          </a:xfrm>
          <a:prstGeom prst="ellipse">
            <a:avLst/>
          </a:prstGeom>
          <a:solidFill>
            <a:srgbClr val="CADCFC">
              <a:alpha val="40000"/>
            </a:srgbClr>
          </a:solidFill>
          <a:ln/>
        </p:spPr>
      </p:sp>
      <p:sp>
        <p:nvSpPr>
          <p:cNvPr id="15" name="Shape 13"/>
          <p:cNvSpPr/>
          <p:nvPr/>
        </p:nvSpPr>
        <p:spPr>
          <a:xfrm>
            <a:off x="8229600" y="1143000"/>
            <a:ext cx="73152" cy="73152"/>
          </a:xfrm>
          <a:prstGeom prst="ellipse">
            <a:avLst/>
          </a:prstGeom>
          <a:solidFill>
            <a:srgbClr val="CADCFC">
              <a:alpha val="40000"/>
            </a:srgbClr>
          </a:solidFill>
          <a:ln/>
        </p:spPr>
      </p:sp>
      <p:sp>
        <p:nvSpPr>
          <p:cNvPr id="16" name="Shape 14"/>
          <p:cNvSpPr/>
          <p:nvPr/>
        </p:nvSpPr>
        <p:spPr>
          <a:xfrm>
            <a:off x="6172200" y="1965960"/>
            <a:ext cx="73152" cy="73152"/>
          </a:xfrm>
          <a:prstGeom prst="ellipse">
            <a:avLst/>
          </a:prstGeom>
          <a:solidFill>
            <a:srgbClr val="CADCFC">
              <a:alpha val="40000"/>
            </a:srgbClr>
          </a:solidFill>
          <a:ln/>
        </p:spPr>
      </p:sp>
      <p:sp>
        <p:nvSpPr>
          <p:cNvPr id="17" name="Shape 15"/>
          <p:cNvSpPr/>
          <p:nvPr/>
        </p:nvSpPr>
        <p:spPr>
          <a:xfrm>
            <a:off x="6583680" y="1965960"/>
            <a:ext cx="73152" cy="73152"/>
          </a:xfrm>
          <a:prstGeom prst="ellipse">
            <a:avLst/>
          </a:prstGeom>
          <a:solidFill>
            <a:srgbClr val="CADCFC">
              <a:alpha val="40000"/>
            </a:srgbClr>
          </a:solidFill>
          <a:ln/>
        </p:spPr>
      </p:sp>
      <p:sp>
        <p:nvSpPr>
          <p:cNvPr id="18" name="Shape 16"/>
          <p:cNvSpPr/>
          <p:nvPr/>
        </p:nvSpPr>
        <p:spPr>
          <a:xfrm>
            <a:off x="6995160" y="1965960"/>
            <a:ext cx="73152" cy="73152"/>
          </a:xfrm>
          <a:prstGeom prst="ellipse">
            <a:avLst/>
          </a:prstGeom>
          <a:solidFill>
            <a:srgbClr val="CADCFC">
              <a:alpha val="40000"/>
            </a:srgbClr>
          </a:solidFill>
          <a:ln/>
        </p:spPr>
      </p:sp>
      <p:sp>
        <p:nvSpPr>
          <p:cNvPr id="19" name="Shape 17"/>
          <p:cNvSpPr/>
          <p:nvPr/>
        </p:nvSpPr>
        <p:spPr>
          <a:xfrm>
            <a:off x="7406640" y="1965960"/>
            <a:ext cx="73152" cy="73152"/>
          </a:xfrm>
          <a:prstGeom prst="ellipse">
            <a:avLst/>
          </a:prstGeom>
          <a:solidFill>
            <a:srgbClr val="CADCFC">
              <a:alpha val="40000"/>
            </a:srgbClr>
          </a:solidFill>
          <a:ln/>
        </p:spPr>
      </p:sp>
      <p:sp>
        <p:nvSpPr>
          <p:cNvPr id="20" name="Shape 18"/>
          <p:cNvSpPr/>
          <p:nvPr/>
        </p:nvSpPr>
        <p:spPr>
          <a:xfrm>
            <a:off x="7818120" y="1965960"/>
            <a:ext cx="73152" cy="73152"/>
          </a:xfrm>
          <a:prstGeom prst="ellipse">
            <a:avLst/>
          </a:prstGeom>
          <a:solidFill>
            <a:srgbClr val="CADCFC">
              <a:alpha val="40000"/>
            </a:srgbClr>
          </a:solidFill>
          <a:ln/>
        </p:spPr>
      </p:sp>
      <p:sp>
        <p:nvSpPr>
          <p:cNvPr id="21" name="Shape 19"/>
          <p:cNvSpPr/>
          <p:nvPr/>
        </p:nvSpPr>
        <p:spPr>
          <a:xfrm>
            <a:off x="8229600" y="1965960"/>
            <a:ext cx="73152" cy="73152"/>
          </a:xfrm>
          <a:prstGeom prst="ellipse">
            <a:avLst/>
          </a:prstGeom>
          <a:solidFill>
            <a:srgbClr val="CADCFC">
              <a:alpha val="40000"/>
            </a:srgbClr>
          </a:solidFill>
          <a:ln/>
        </p:spPr>
      </p:sp>
      <p:sp>
        <p:nvSpPr>
          <p:cNvPr id="22" name="Shape 20"/>
          <p:cNvSpPr/>
          <p:nvPr/>
        </p:nvSpPr>
        <p:spPr>
          <a:xfrm>
            <a:off x="6172200" y="2788920"/>
            <a:ext cx="73152" cy="73152"/>
          </a:xfrm>
          <a:prstGeom prst="ellipse">
            <a:avLst/>
          </a:prstGeom>
          <a:solidFill>
            <a:srgbClr val="CADCFC">
              <a:alpha val="40000"/>
            </a:srgbClr>
          </a:solidFill>
          <a:ln/>
        </p:spPr>
      </p:sp>
      <p:sp>
        <p:nvSpPr>
          <p:cNvPr id="23" name="Shape 21"/>
          <p:cNvSpPr/>
          <p:nvPr/>
        </p:nvSpPr>
        <p:spPr>
          <a:xfrm>
            <a:off x="6583680" y="2788920"/>
            <a:ext cx="73152" cy="73152"/>
          </a:xfrm>
          <a:prstGeom prst="ellipse">
            <a:avLst/>
          </a:prstGeom>
          <a:solidFill>
            <a:srgbClr val="CADCFC">
              <a:alpha val="40000"/>
            </a:srgbClr>
          </a:solidFill>
          <a:ln/>
        </p:spPr>
      </p:sp>
      <p:sp>
        <p:nvSpPr>
          <p:cNvPr id="24" name="Shape 22"/>
          <p:cNvSpPr/>
          <p:nvPr/>
        </p:nvSpPr>
        <p:spPr>
          <a:xfrm>
            <a:off x="6995160" y="2788920"/>
            <a:ext cx="73152" cy="73152"/>
          </a:xfrm>
          <a:prstGeom prst="ellipse">
            <a:avLst/>
          </a:prstGeom>
          <a:solidFill>
            <a:srgbClr val="CADCFC">
              <a:alpha val="40000"/>
            </a:srgbClr>
          </a:solidFill>
          <a:ln/>
        </p:spPr>
      </p:sp>
      <p:sp>
        <p:nvSpPr>
          <p:cNvPr id="25" name="Shape 23"/>
          <p:cNvSpPr/>
          <p:nvPr/>
        </p:nvSpPr>
        <p:spPr>
          <a:xfrm>
            <a:off x="7406640" y="2788920"/>
            <a:ext cx="73152" cy="73152"/>
          </a:xfrm>
          <a:prstGeom prst="ellipse">
            <a:avLst/>
          </a:prstGeom>
          <a:solidFill>
            <a:srgbClr val="CADCFC">
              <a:alpha val="40000"/>
            </a:srgbClr>
          </a:solidFill>
          <a:ln/>
        </p:spPr>
      </p:sp>
      <p:sp>
        <p:nvSpPr>
          <p:cNvPr id="26" name="Shape 24"/>
          <p:cNvSpPr/>
          <p:nvPr/>
        </p:nvSpPr>
        <p:spPr>
          <a:xfrm>
            <a:off x="7818120" y="2788920"/>
            <a:ext cx="73152" cy="73152"/>
          </a:xfrm>
          <a:prstGeom prst="ellipse">
            <a:avLst/>
          </a:prstGeom>
          <a:solidFill>
            <a:srgbClr val="CADCFC">
              <a:alpha val="40000"/>
            </a:srgbClr>
          </a:solidFill>
          <a:ln/>
        </p:spPr>
      </p:sp>
      <p:sp>
        <p:nvSpPr>
          <p:cNvPr id="27" name="Shape 25"/>
          <p:cNvSpPr/>
          <p:nvPr/>
        </p:nvSpPr>
        <p:spPr>
          <a:xfrm>
            <a:off x="8229600" y="2788920"/>
            <a:ext cx="73152" cy="73152"/>
          </a:xfrm>
          <a:prstGeom prst="ellipse">
            <a:avLst/>
          </a:prstGeom>
          <a:solidFill>
            <a:srgbClr val="CADCFC">
              <a:alpha val="40000"/>
            </a:srgbClr>
          </a:solidFill>
          <a:ln/>
        </p:spPr>
      </p:sp>
      <p:sp>
        <p:nvSpPr>
          <p:cNvPr id="28" name="Shape 26"/>
          <p:cNvSpPr/>
          <p:nvPr/>
        </p:nvSpPr>
        <p:spPr>
          <a:xfrm>
            <a:off x="6172200" y="3611880"/>
            <a:ext cx="73152" cy="73152"/>
          </a:xfrm>
          <a:prstGeom prst="ellipse">
            <a:avLst/>
          </a:prstGeom>
          <a:solidFill>
            <a:srgbClr val="CADCFC">
              <a:alpha val="40000"/>
            </a:srgbClr>
          </a:solidFill>
          <a:ln/>
        </p:spPr>
      </p:sp>
      <p:sp>
        <p:nvSpPr>
          <p:cNvPr id="29" name="Shape 27"/>
          <p:cNvSpPr/>
          <p:nvPr/>
        </p:nvSpPr>
        <p:spPr>
          <a:xfrm>
            <a:off x="6583680" y="3611880"/>
            <a:ext cx="73152" cy="73152"/>
          </a:xfrm>
          <a:prstGeom prst="ellipse">
            <a:avLst/>
          </a:prstGeom>
          <a:solidFill>
            <a:srgbClr val="CADCFC">
              <a:alpha val="40000"/>
            </a:srgbClr>
          </a:solidFill>
          <a:ln/>
        </p:spPr>
      </p:sp>
      <p:sp>
        <p:nvSpPr>
          <p:cNvPr id="30" name="Shape 28"/>
          <p:cNvSpPr/>
          <p:nvPr/>
        </p:nvSpPr>
        <p:spPr>
          <a:xfrm>
            <a:off x="6995160" y="3611880"/>
            <a:ext cx="73152" cy="73152"/>
          </a:xfrm>
          <a:prstGeom prst="ellipse">
            <a:avLst/>
          </a:prstGeom>
          <a:solidFill>
            <a:srgbClr val="CADCFC">
              <a:alpha val="40000"/>
            </a:srgbClr>
          </a:solidFill>
          <a:ln/>
        </p:spPr>
      </p:sp>
      <p:sp>
        <p:nvSpPr>
          <p:cNvPr id="31" name="Shape 29"/>
          <p:cNvSpPr/>
          <p:nvPr/>
        </p:nvSpPr>
        <p:spPr>
          <a:xfrm>
            <a:off x="7406640" y="3611880"/>
            <a:ext cx="73152" cy="73152"/>
          </a:xfrm>
          <a:prstGeom prst="ellipse">
            <a:avLst/>
          </a:prstGeom>
          <a:solidFill>
            <a:srgbClr val="CADCFC">
              <a:alpha val="40000"/>
            </a:srgbClr>
          </a:solidFill>
          <a:ln/>
        </p:spPr>
      </p:sp>
      <p:sp>
        <p:nvSpPr>
          <p:cNvPr id="32" name="Shape 30"/>
          <p:cNvSpPr/>
          <p:nvPr/>
        </p:nvSpPr>
        <p:spPr>
          <a:xfrm>
            <a:off x="7818120" y="3611880"/>
            <a:ext cx="73152" cy="73152"/>
          </a:xfrm>
          <a:prstGeom prst="ellipse">
            <a:avLst/>
          </a:prstGeom>
          <a:solidFill>
            <a:srgbClr val="CADCFC">
              <a:alpha val="40000"/>
            </a:srgbClr>
          </a:solidFill>
          <a:ln/>
        </p:spPr>
      </p:sp>
      <p:sp>
        <p:nvSpPr>
          <p:cNvPr id="33" name="Shape 31"/>
          <p:cNvSpPr/>
          <p:nvPr/>
        </p:nvSpPr>
        <p:spPr>
          <a:xfrm>
            <a:off x="8229600" y="3611880"/>
            <a:ext cx="73152" cy="73152"/>
          </a:xfrm>
          <a:prstGeom prst="ellipse">
            <a:avLst/>
          </a:prstGeom>
          <a:solidFill>
            <a:srgbClr val="CADCFC">
              <a:alpha val="40000"/>
            </a:srgbClr>
          </a:solidFill>
          <a:ln/>
        </p:spPr>
      </p:sp>
      <p:sp>
        <p:nvSpPr>
          <p:cNvPr id="34" name="Text 32"/>
          <p:cNvSpPr/>
          <p:nvPr/>
        </p:nvSpPr>
        <p:spPr>
          <a:xfrm>
            <a:off x="365760" y="731520"/>
            <a:ext cx="5303520" cy="457200"/>
          </a:xfrm>
          <a:prstGeom prst="rect">
            <a:avLst/>
          </a:prstGeom>
          <a:noFill/>
          <a:ln/>
        </p:spPr>
        <p:txBody>
          <a:bodyPr wrap="square" lIns="0" tIns="0" rIns="0" bIns="0" rtlCol="0" anchor="ctr"/>
          <a:lstStyle/>
          <a:p>
            <a:pPr indent="0" marL="0">
              <a:buNone/>
            </a:pPr>
            <a:r>
              <a:rPr lang="en-US" sz="1200" b="1" spc="500" kern="0" dirty="0">
                <a:solidFill>
                  <a:srgbClr val="F4A223"/>
                </a:solidFill>
              </a:rPr>
              <a:t>VIVA GLINT</a:t>
            </a:r>
            <a:endParaRPr lang="en-US" sz="1200" dirty="0"/>
          </a:p>
        </p:txBody>
      </p:sp>
      <p:sp>
        <p:nvSpPr>
          <p:cNvPr id="35" name="Text 33"/>
          <p:cNvSpPr/>
          <p:nvPr/>
        </p:nvSpPr>
        <p:spPr>
          <a:xfrm>
            <a:off x="365760" y="1234440"/>
            <a:ext cx="5303520" cy="1737360"/>
          </a:xfrm>
          <a:prstGeom prst="rect">
            <a:avLst/>
          </a:prstGeom>
          <a:noFill/>
          <a:ln/>
        </p:spPr>
        <p:txBody>
          <a:bodyPr wrap="square" lIns="0" tIns="0" rIns="0" bIns="0" rtlCol="0" anchor="ctr"/>
          <a:lstStyle/>
          <a:p>
            <a:pPr indent="0" marL="0">
              <a:lnSpc>
                <a:spcPct val="110000"/>
              </a:lnSpc>
              <a:buNone/>
            </a:pPr>
            <a:r>
              <a:rPr lang="en-US" sz="4400" b="1" dirty="0">
                <a:solidFill>
                  <a:srgbClr val="FFFFFF"/>
                </a:solidFill>
              </a:rPr>
              <a:t>Role &amp; Access</a:t>
            </a:r>
            <a:endParaRPr lang="en-US" sz="4400" dirty="0"/>
          </a:p>
          <a:p>
            <a:pPr indent="0" marL="0">
              <a:lnSpc>
                <a:spcPct val="110000"/>
              </a:lnSpc>
              <a:buNone/>
            </a:pPr>
            <a:r>
              <a:rPr lang="en-US" sz="4400" b="1" dirty="0">
                <a:solidFill>
                  <a:srgbClr val="FFFFFF"/>
                </a:solidFill>
              </a:rPr>
              <a:t>Framework</a:t>
            </a:r>
            <a:endParaRPr lang="en-US" sz="4400" dirty="0"/>
          </a:p>
        </p:txBody>
      </p:sp>
      <p:sp>
        <p:nvSpPr>
          <p:cNvPr id="36" name="Shape 34"/>
          <p:cNvSpPr/>
          <p:nvPr/>
        </p:nvSpPr>
        <p:spPr>
          <a:xfrm>
            <a:off x="365760" y="3063240"/>
            <a:ext cx="1005840" cy="54864"/>
          </a:xfrm>
          <a:prstGeom prst="rect">
            <a:avLst/>
          </a:prstGeom>
          <a:solidFill>
            <a:srgbClr val="F4A223"/>
          </a:solidFill>
          <a:ln/>
        </p:spPr>
      </p:sp>
      <p:sp>
        <p:nvSpPr>
          <p:cNvPr id="37" name="Text 35"/>
          <p:cNvSpPr/>
          <p:nvPr/>
        </p:nvSpPr>
        <p:spPr>
          <a:xfrm>
            <a:off x="365760" y="3246120"/>
            <a:ext cx="5120640" cy="731520"/>
          </a:xfrm>
          <a:prstGeom prst="rect">
            <a:avLst/>
          </a:prstGeom>
          <a:noFill/>
          <a:ln/>
        </p:spPr>
        <p:txBody>
          <a:bodyPr wrap="square" lIns="0" tIns="0" rIns="0" bIns="0" rtlCol="0" anchor="ctr"/>
          <a:lstStyle/>
          <a:p>
            <a:pPr indent="0" marL="0">
              <a:lnSpc>
                <a:spcPct val="130000"/>
              </a:lnSpc>
              <a:buNone/>
            </a:pPr>
            <a:r>
              <a:rPr lang="en-US" sz="1300" dirty="0">
                <a:solidFill>
                  <a:srgbClr val="CADCFC"/>
                </a:solidFill>
              </a:rPr>
              <a:t>Defining platform roles, permissions, user populations, and access provisioning strategy for CDO approval</a:t>
            </a:r>
            <a:endParaRPr lang="en-US" sz="1300" dirty="0"/>
          </a:p>
        </p:txBody>
      </p:sp>
      <p:sp>
        <p:nvSpPr>
          <p:cNvPr id="38" name="Text 36"/>
          <p:cNvSpPr/>
          <p:nvPr/>
        </p:nvSpPr>
        <p:spPr>
          <a:xfrm>
            <a:off x="365760" y="4663440"/>
            <a:ext cx="5120640" cy="320040"/>
          </a:xfrm>
          <a:prstGeom prst="rect">
            <a:avLst/>
          </a:prstGeom>
          <a:noFill/>
          <a:ln/>
        </p:spPr>
        <p:txBody>
          <a:bodyPr wrap="square" lIns="0" tIns="0" rIns="0" bIns="0" rtlCol="0" anchor="ctr"/>
          <a:lstStyle/>
          <a:p>
            <a:pPr indent="0" marL="0">
              <a:buNone/>
            </a:pPr>
            <a:r>
              <a:rPr lang="en-US" sz="1000" dirty="0">
                <a:solidFill>
                  <a:srgbClr val="64748B"/>
                </a:solidFill>
              </a:rPr>
              <a:t>Presented to CDO Team  |  2026</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6FB"/>
        </a:solidFill>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1E2761"/>
          </a:solidFill>
          <a:ln/>
        </p:spPr>
      </p:sp>
      <p:sp>
        <p:nvSpPr>
          <p:cNvPr id="3" name="Shape 1"/>
          <p:cNvSpPr/>
          <p:nvPr/>
        </p:nvSpPr>
        <p:spPr>
          <a:xfrm>
            <a:off x="0" y="0"/>
            <a:ext cx="201168" cy="960120"/>
          </a:xfrm>
          <a:prstGeom prst="rect">
            <a:avLst/>
          </a:prstGeom>
          <a:solidFill>
            <a:srgbClr val="F4A223"/>
          </a:solidFill>
          <a:ln/>
        </p:spPr>
      </p:sp>
      <p:sp>
        <p:nvSpPr>
          <p:cNvPr id="4" name="Shape 2"/>
          <p:cNvSpPr/>
          <p:nvPr/>
        </p:nvSpPr>
        <p:spPr>
          <a:xfrm>
            <a:off x="347472" y="155448"/>
            <a:ext cx="566928" cy="566928"/>
          </a:xfrm>
          <a:prstGeom prst="ellipse">
            <a:avLst/>
          </a:prstGeom>
          <a:solidFill>
            <a:srgbClr val="F4A223"/>
          </a:solidFill>
          <a:ln/>
          <a:effectLst>
            <a:outerShdw sx="100000" sy="100000" kx="0" ky="0" algn="bl" rotWithShape="0" blurRad="101600" dist="38100" dir="8100000">
              <a:srgbClr val="000000">
                <a:alpha val="12000"/>
              </a:srgbClr>
            </a:outerShdw>
          </a:effectLst>
        </p:spPr>
      </p:sp>
      <p:sp>
        <p:nvSpPr>
          <p:cNvPr id="5" name="Text 3"/>
          <p:cNvSpPr/>
          <p:nvPr/>
        </p:nvSpPr>
        <p:spPr>
          <a:xfrm>
            <a:off x="347472" y="155448"/>
            <a:ext cx="566928" cy="566928"/>
          </a:xfrm>
          <a:prstGeom prst="rect">
            <a:avLst/>
          </a:prstGeom>
          <a:noFill/>
          <a:ln/>
        </p:spPr>
        <p:txBody>
          <a:bodyPr wrap="square" lIns="0" tIns="0" rIns="0" bIns="0" rtlCol="0" anchor="ctr"/>
          <a:lstStyle/>
          <a:p>
            <a:pPr algn="ctr" indent="0" marL="0">
              <a:buNone/>
            </a:pPr>
            <a:r>
              <a:rPr lang="en-US" sz="1800" b="1" dirty="0">
                <a:solidFill>
                  <a:srgbClr val="FFFFFF"/>
                </a:solidFill>
              </a:rPr>
              <a:t>1</a:t>
            </a:r>
            <a:endParaRPr lang="en-US" sz="1800" dirty="0"/>
          </a:p>
        </p:txBody>
      </p:sp>
      <p:sp>
        <p:nvSpPr>
          <p:cNvPr id="6" name="Text 4"/>
          <p:cNvSpPr/>
          <p:nvPr/>
        </p:nvSpPr>
        <p:spPr>
          <a:xfrm>
            <a:off x="1051560" y="91440"/>
            <a:ext cx="5943600" cy="502920"/>
          </a:xfrm>
          <a:prstGeom prst="rect">
            <a:avLst/>
          </a:prstGeom>
          <a:noFill/>
          <a:ln/>
        </p:spPr>
        <p:txBody>
          <a:bodyPr wrap="square" lIns="0" tIns="0" rIns="0" bIns="0" rtlCol="0" anchor="ctr"/>
          <a:lstStyle/>
          <a:p>
            <a:pPr indent="0" marL="0">
              <a:buNone/>
            </a:pPr>
            <a:r>
              <a:rPr lang="en-US" sz="2000" b="1" dirty="0">
                <a:solidFill>
                  <a:srgbClr val="FFFFFF"/>
                </a:solidFill>
              </a:rPr>
              <a:t>Glint Service Admin</a:t>
            </a:r>
            <a:endParaRPr lang="en-US" sz="2000" dirty="0"/>
          </a:p>
        </p:txBody>
      </p:sp>
      <p:sp>
        <p:nvSpPr>
          <p:cNvPr id="7" name="Text 5"/>
          <p:cNvSpPr/>
          <p:nvPr/>
        </p:nvSpPr>
        <p:spPr>
          <a:xfrm>
            <a:off x="1051560" y="594360"/>
            <a:ext cx="5943600" cy="274320"/>
          </a:xfrm>
          <a:prstGeom prst="rect">
            <a:avLst/>
          </a:prstGeom>
          <a:noFill/>
          <a:ln/>
        </p:spPr>
        <p:txBody>
          <a:bodyPr wrap="square" lIns="0" tIns="0" rIns="0" bIns="0" rtlCol="0" anchor="ctr"/>
          <a:lstStyle/>
          <a:p>
            <a:pPr indent="0" marL="0">
              <a:buNone/>
            </a:pPr>
            <a:r>
              <a:rPr lang="en-US" sz="900" dirty="0">
                <a:solidFill>
                  <a:srgbClr val="CADCFC"/>
                </a:solidFill>
              </a:rPr>
              <a:t>Role 1 of 7  |  Platform Super Admin</a:t>
            </a:r>
            <a:endParaRPr lang="en-US" sz="900" dirty="0"/>
          </a:p>
        </p:txBody>
      </p:sp>
      <p:sp>
        <p:nvSpPr>
          <p:cNvPr id="8" name="Shape 6"/>
          <p:cNvSpPr/>
          <p:nvPr/>
        </p:nvSpPr>
        <p:spPr>
          <a:xfrm>
            <a:off x="7863840" y="292608"/>
            <a:ext cx="1097280" cy="347472"/>
          </a:xfrm>
          <a:prstGeom prst="roundRect">
            <a:avLst>
              <a:gd name="adj" fmla="val 21053"/>
            </a:avLst>
          </a:prstGeom>
          <a:solidFill>
            <a:srgbClr val="27AE60"/>
          </a:solidFill>
          <a:ln/>
        </p:spPr>
      </p:sp>
      <p:sp>
        <p:nvSpPr>
          <p:cNvPr id="9" name="Text 7"/>
          <p:cNvSpPr/>
          <p:nvPr/>
        </p:nvSpPr>
        <p:spPr>
          <a:xfrm>
            <a:off x="7863840" y="292608"/>
            <a:ext cx="1097280" cy="347472"/>
          </a:xfrm>
          <a:prstGeom prst="rect">
            <a:avLst/>
          </a:prstGeom>
          <a:noFill/>
          <a:ln/>
        </p:spPr>
        <p:txBody>
          <a:bodyPr wrap="square" lIns="0" tIns="0" rIns="0" bIns="0" rtlCol="0" anchor="ctr"/>
          <a:lstStyle/>
          <a:p>
            <a:pPr algn="ctr" indent="0" marL="0">
              <a:buNone/>
            </a:pPr>
            <a:r>
              <a:rPr lang="en-US" sz="1000" b="1" dirty="0">
                <a:solidFill>
                  <a:srgbClr val="FFFFFF"/>
                </a:solidFill>
              </a:rPr>
              <a:t>Live</a:t>
            </a:r>
            <a:endParaRPr lang="en-US" sz="1000" dirty="0"/>
          </a:p>
        </p:txBody>
      </p:sp>
      <p:sp>
        <p:nvSpPr>
          <p:cNvPr id="10" name="Shape 8"/>
          <p:cNvSpPr/>
          <p:nvPr/>
        </p:nvSpPr>
        <p:spPr>
          <a:xfrm>
            <a:off x="201168" y="1051560"/>
            <a:ext cx="5074920" cy="3886200"/>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11" name="Shape 9"/>
          <p:cNvSpPr/>
          <p:nvPr/>
        </p:nvSpPr>
        <p:spPr>
          <a:xfrm>
            <a:off x="201168" y="1051560"/>
            <a:ext cx="5074920" cy="347472"/>
          </a:xfrm>
          <a:prstGeom prst="rect">
            <a:avLst/>
          </a:prstGeom>
          <a:solidFill>
            <a:srgbClr val="1A2340"/>
          </a:solidFill>
          <a:ln/>
        </p:spPr>
      </p:sp>
      <p:sp>
        <p:nvSpPr>
          <p:cNvPr id="12" name="Text 10"/>
          <p:cNvSpPr/>
          <p:nvPr/>
        </p:nvSpPr>
        <p:spPr>
          <a:xfrm>
            <a:off x="320040" y="1051560"/>
            <a:ext cx="4892040" cy="347472"/>
          </a:xfrm>
          <a:prstGeom prst="rect">
            <a:avLst/>
          </a:prstGeom>
          <a:noFill/>
          <a:ln/>
        </p:spPr>
        <p:txBody>
          <a:bodyPr wrap="square" lIns="0" tIns="0" rIns="0" bIns="0" rtlCol="0" anchor="ctr"/>
          <a:lstStyle/>
          <a:p>
            <a:pPr indent="0" marL="0">
              <a:buNone/>
            </a:pPr>
            <a:r>
              <a:rPr lang="en-US" sz="900" b="1" spc="200" kern="0" dirty="0">
                <a:solidFill>
                  <a:srgbClr val="F4A223"/>
                </a:solidFill>
              </a:rPr>
              <a:t>PERMISSIONS &amp; CAPABILITIES</a:t>
            </a:r>
            <a:endParaRPr lang="en-US" sz="900" dirty="0"/>
          </a:p>
        </p:txBody>
      </p:sp>
      <p:sp>
        <p:nvSpPr>
          <p:cNvPr id="13" name="Shape 11"/>
          <p:cNvSpPr/>
          <p:nvPr/>
        </p:nvSpPr>
        <p:spPr>
          <a:xfrm>
            <a:off x="320040" y="1591056"/>
            <a:ext cx="118872" cy="118872"/>
          </a:xfrm>
          <a:prstGeom prst="ellipse">
            <a:avLst/>
          </a:prstGeom>
          <a:solidFill>
            <a:srgbClr val="F4A223"/>
          </a:solidFill>
          <a:ln/>
        </p:spPr>
      </p:sp>
      <p:sp>
        <p:nvSpPr>
          <p:cNvPr id="14" name="Text 12"/>
          <p:cNvSpPr/>
          <p:nvPr/>
        </p:nvSpPr>
        <p:spPr>
          <a:xfrm>
            <a:off x="502920" y="1517904"/>
            <a:ext cx="2240280" cy="201168"/>
          </a:xfrm>
          <a:prstGeom prst="rect">
            <a:avLst/>
          </a:prstGeom>
          <a:noFill/>
          <a:ln/>
        </p:spPr>
        <p:txBody>
          <a:bodyPr wrap="square" lIns="0" tIns="0" rIns="0" bIns="0" rtlCol="0" anchor="ctr"/>
          <a:lstStyle/>
          <a:p>
            <a:pPr indent="0" marL="0">
              <a:buNone/>
            </a:pPr>
            <a:r>
              <a:rPr lang="en-US" sz="950" b="1" dirty="0">
                <a:solidFill>
                  <a:srgbClr val="1A2340"/>
                </a:solidFill>
              </a:rPr>
              <a:t>Survey Programs</a:t>
            </a:r>
            <a:endParaRPr lang="en-US" sz="950" dirty="0"/>
          </a:p>
        </p:txBody>
      </p:sp>
      <p:sp>
        <p:nvSpPr>
          <p:cNvPr id="15" name="Text 13"/>
          <p:cNvSpPr/>
          <p:nvPr/>
        </p:nvSpPr>
        <p:spPr>
          <a:xfrm>
            <a:off x="502920" y="1719072"/>
            <a:ext cx="2240280" cy="256032"/>
          </a:xfrm>
          <a:prstGeom prst="rect">
            <a:avLst/>
          </a:prstGeom>
          <a:noFill/>
          <a:ln/>
        </p:spPr>
        <p:txBody>
          <a:bodyPr wrap="square" lIns="0" tIns="0" rIns="0" bIns="0" rtlCol="0" anchor="ctr"/>
          <a:lstStyle/>
          <a:p>
            <a:pPr indent="0" marL="0">
              <a:lnSpc>
                <a:spcPct val="110000"/>
              </a:lnSpc>
              <a:buNone/>
            </a:pPr>
            <a:r>
              <a:rPr lang="en-US" sz="800" dirty="0">
                <a:solidFill>
                  <a:srgbClr val="64748B"/>
                </a:solidFill>
              </a:rPr>
              <a:t>View, create, edit all surveys across all teams &amp; programs</a:t>
            </a:r>
            <a:endParaRPr lang="en-US" sz="800" dirty="0"/>
          </a:p>
        </p:txBody>
      </p:sp>
      <p:sp>
        <p:nvSpPr>
          <p:cNvPr id="16" name="Shape 14"/>
          <p:cNvSpPr/>
          <p:nvPr/>
        </p:nvSpPr>
        <p:spPr>
          <a:xfrm>
            <a:off x="320040" y="2066544"/>
            <a:ext cx="118872" cy="118872"/>
          </a:xfrm>
          <a:prstGeom prst="ellipse">
            <a:avLst/>
          </a:prstGeom>
          <a:solidFill>
            <a:srgbClr val="F4A223"/>
          </a:solidFill>
          <a:ln/>
        </p:spPr>
      </p:sp>
      <p:sp>
        <p:nvSpPr>
          <p:cNvPr id="17" name="Text 15"/>
          <p:cNvSpPr/>
          <p:nvPr/>
        </p:nvSpPr>
        <p:spPr>
          <a:xfrm>
            <a:off x="502920" y="1993392"/>
            <a:ext cx="2240280" cy="201168"/>
          </a:xfrm>
          <a:prstGeom prst="rect">
            <a:avLst/>
          </a:prstGeom>
          <a:noFill/>
          <a:ln/>
        </p:spPr>
        <p:txBody>
          <a:bodyPr wrap="square" lIns="0" tIns="0" rIns="0" bIns="0" rtlCol="0" anchor="ctr"/>
          <a:lstStyle/>
          <a:p>
            <a:pPr indent="0" marL="0">
              <a:buNone/>
            </a:pPr>
            <a:r>
              <a:rPr lang="en-US" sz="950" b="1" dirty="0">
                <a:solidFill>
                  <a:srgbClr val="1A2340"/>
                </a:solidFill>
              </a:rPr>
              <a:t>Sensitive Comments</a:t>
            </a:r>
            <a:endParaRPr lang="en-US" sz="950" dirty="0"/>
          </a:p>
        </p:txBody>
      </p:sp>
      <p:sp>
        <p:nvSpPr>
          <p:cNvPr id="18" name="Text 16"/>
          <p:cNvSpPr/>
          <p:nvPr/>
        </p:nvSpPr>
        <p:spPr>
          <a:xfrm>
            <a:off x="502920" y="2194560"/>
            <a:ext cx="2240280" cy="256032"/>
          </a:xfrm>
          <a:prstGeom prst="rect">
            <a:avLst/>
          </a:prstGeom>
          <a:noFill/>
          <a:ln/>
        </p:spPr>
        <p:txBody>
          <a:bodyPr wrap="square" lIns="0" tIns="0" rIns="0" bIns="0" rtlCol="0" anchor="ctr"/>
          <a:lstStyle/>
          <a:p>
            <a:pPr indent="0" marL="0">
              <a:lnSpc>
                <a:spcPct val="110000"/>
              </a:lnSpc>
              <a:buNone/>
            </a:pPr>
            <a:r>
              <a:rPr lang="en-US" sz="800" dirty="0">
                <a:solidFill>
                  <a:srgbClr val="64748B"/>
                </a:solidFill>
              </a:rPr>
              <a:t>View, redact, or quarantine flagged comments</a:t>
            </a:r>
            <a:endParaRPr lang="en-US" sz="800" dirty="0"/>
          </a:p>
        </p:txBody>
      </p:sp>
      <p:sp>
        <p:nvSpPr>
          <p:cNvPr id="19" name="Shape 17"/>
          <p:cNvSpPr/>
          <p:nvPr/>
        </p:nvSpPr>
        <p:spPr>
          <a:xfrm>
            <a:off x="320040" y="2542032"/>
            <a:ext cx="118872" cy="118872"/>
          </a:xfrm>
          <a:prstGeom prst="ellipse">
            <a:avLst/>
          </a:prstGeom>
          <a:solidFill>
            <a:srgbClr val="F4A223"/>
          </a:solidFill>
          <a:ln/>
        </p:spPr>
      </p:sp>
      <p:sp>
        <p:nvSpPr>
          <p:cNvPr id="20" name="Text 18"/>
          <p:cNvSpPr/>
          <p:nvPr/>
        </p:nvSpPr>
        <p:spPr>
          <a:xfrm>
            <a:off x="502920" y="2468880"/>
            <a:ext cx="2240280" cy="201168"/>
          </a:xfrm>
          <a:prstGeom prst="rect">
            <a:avLst/>
          </a:prstGeom>
          <a:noFill/>
          <a:ln/>
        </p:spPr>
        <p:txBody>
          <a:bodyPr wrap="square" lIns="0" tIns="0" rIns="0" bIns="0" rtlCol="0" anchor="ctr"/>
          <a:lstStyle/>
          <a:p>
            <a:pPr indent="0" marL="0">
              <a:buNone/>
            </a:pPr>
            <a:r>
              <a:rPr lang="en-US" sz="950" b="1" dirty="0">
                <a:solidFill>
                  <a:srgbClr val="1A2340"/>
                </a:solidFill>
              </a:rPr>
              <a:t>Question Library</a:t>
            </a:r>
            <a:endParaRPr lang="en-US" sz="950" dirty="0"/>
          </a:p>
        </p:txBody>
      </p:sp>
      <p:sp>
        <p:nvSpPr>
          <p:cNvPr id="21" name="Text 19"/>
          <p:cNvSpPr/>
          <p:nvPr/>
        </p:nvSpPr>
        <p:spPr>
          <a:xfrm>
            <a:off x="502920" y="2670048"/>
            <a:ext cx="2240280" cy="256032"/>
          </a:xfrm>
          <a:prstGeom prst="rect">
            <a:avLst/>
          </a:prstGeom>
          <a:noFill/>
          <a:ln/>
        </p:spPr>
        <p:txBody>
          <a:bodyPr wrap="square" lIns="0" tIns="0" rIns="0" bIns="0" rtlCol="0" anchor="ctr"/>
          <a:lstStyle/>
          <a:p>
            <a:pPr indent="0" marL="0">
              <a:lnSpc>
                <a:spcPct val="110000"/>
              </a:lnSpc>
              <a:buNone/>
            </a:pPr>
            <a:r>
              <a:rPr lang="en-US" sz="800" dirty="0">
                <a:solidFill>
                  <a:srgbClr val="64748B"/>
                </a:solidFill>
              </a:rPr>
              <a:t>Create, modify, and use the global question library</a:t>
            </a:r>
            <a:endParaRPr lang="en-US" sz="800" dirty="0"/>
          </a:p>
        </p:txBody>
      </p:sp>
      <p:sp>
        <p:nvSpPr>
          <p:cNvPr id="22" name="Shape 20"/>
          <p:cNvSpPr/>
          <p:nvPr/>
        </p:nvSpPr>
        <p:spPr>
          <a:xfrm>
            <a:off x="320040" y="3017520"/>
            <a:ext cx="118872" cy="118872"/>
          </a:xfrm>
          <a:prstGeom prst="ellipse">
            <a:avLst/>
          </a:prstGeom>
          <a:solidFill>
            <a:srgbClr val="F4A223"/>
          </a:solidFill>
          <a:ln/>
        </p:spPr>
      </p:sp>
      <p:sp>
        <p:nvSpPr>
          <p:cNvPr id="23" name="Text 21"/>
          <p:cNvSpPr/>
          <p:nvPr/>
        </p:nvSpPr>
        <p:spPr>
          <a:xfrm>
            <a:off x="502920" y="2944368"/>
            <a:ext cx="2240280" cy="201168"/>
          </a:xfrm>
          <a:prstGeom prst="rect">
            <a:avLst/>
          </a:prstGeom>
          <a:noFill/>
          <a:ln/>
        </p:spPr>
        <p:txBody>
          <a:bodyPr wrap="square" lIns="0" tIns="0" rIns="0" bIns="0" rtlCol="0" anchor="ctr"/>
          <a:lstStyle/>
          <a:p>
            <a:pPr indent="0" marL="0">
              <a:buNone/>
            </a:pPr>
            <a:r>
              <a:rPr lang="en-US" sz="950" b="1" dirty="0">
                <a:solidFill>
                  <a:srgbClr val="1A2340"/>
                </a:solidFill>
              </a:rPr>
              <a:t>Dashboards &amp; Reports</a:t>
            </a:r>
            <a:endParaRPr lang="en-US" sz="950" dirty="0"/>
          </a:p>
        </p:txBody>
      </p:sp>
      <p:sp>
        <p:nvSpPr>
          <p:cNvPr id="24" name="Text 22"/>
          <p:cNvSpPr/>
          <p:nvPr/>
        </p:nvSpPr>
        <p:spPr>
          <a:xfrm>
            <a:off x="502920" y="3145536"/>
            <a:ext cx="2240280" cy="256032"/>
          </a:xfrm>
          <a:prstGeom prst="rect">
            <a:avLst/>
          </a:prstGeom>
          <a:noFill/>
          <a:ln/>
        </p:spPr>
        <p:txBody>
          <a:bodyPr wrap="square" lIns="0" tIns="0" rIns="0" bIns="0" rtlCol="0" anchor="ctr"/>
          <a:lstStyle/>
          <a:p>
            <a:pPr indent="0" marL="0">
              <a:lnSpc>
                <a:spcPct val="110000"/>
              </a:lnSpc>
              <a:buNone/>
            </a:pPr>
            <a:r>
              <a:rPr lang="en-US" sz="800" dirty="0">
                <a:solidFill>
                  <a:srgbClr val="64748B"/>
                </a:solidFill>
              </a:rPr>
              <a:t>Create dashboards, share reports, add/edit/delete filters</a:t>
            </a:r>
            <a:endParaRPr lang="en-US" sz="800" dirty="0"/>
          </a:p>
        </p:txBody>
      </p:sp>
      <p:sp>
        <p:nvSpPr>
          <p:cNvPr id="25" name="Shape 23"/>
          <p:cNvSpPr/>
          <p:nvPr/>
        </p:nvSpPr>
        <p:spPr>
          <a:xfrm>
            <a:off x="2862072" y="1591056"/>
            <a:ext cx="118872" cy="118872"/>
          </a:xfrm>
          <a:prstGeom prst="ellipse">
            <a:avLst/>
          </a:prstGeom>
          <a:solidFill>
            <a:srgbClr val="F4A223"/>
          </a:solidFill>
          <a:ln/>
        </p:spPr>
      </p:sp>
      <p:sp>
        <p:nvSpPr>
          <p:cNvPr id="26" name="Text 24"/>
          <p:cNvSpPr/>
          <p:nvPr/>
        </p:nvSpPr>
        <p:spPr>
          <a:xfrm>
            <a:off x="3044952" y="1517904"/>
            <a:ext cx="2240280" cy="201168"/>
          </a:xfrm>
          <a:prstGeom prst="rect">
            <a:avLst/>
          </a:prstGeom>
          <a:noFill/>
          <a:ln/>
        </p:spPr>
        <p:txBody>
          <a:bodyPr wrap="square" lIns="0" tIns="0" rIns="0" bIns="0" rtlCol="0" anchor="ctr"/>
          <a:lstStyle/>
          <a:p>
            <a:pPr indent="0" marL="0">
              <a:buNone/>
            </a:pPr>
            <a:r>
              <a:rPr lang="en-US" sz="950" b="1" dirty="0">
                <a:solidFill>
                  <a:srgbClr val="1A2340"/>
                </a:solidFill>
              </a:rPr>
              <a:t>Role Management</a:t>
            </a:r>
            <a:endParaRPr lang="en-US" sz="950" dirty="0"/>
          </a:p>
        </p:txBody>
      </p:sp>
      <p:sp>
        <p:nvSpPr>
          <p:cNvPr id="27" name="Text 25"/>
          <p:cNvSpPr/>
          <p:nvPr/>
        </p:nvSpPr>
        <p:spPr>
          <a:xfrm>
            <a:off x="3044952" y="1719072"/>
            <a:ext cx="2240280" cy="256032"/>
          </a:xfrm>
          <a:prstGeom prst="rect">
            <a:avLst/>
          </a:prstGeom>
          <a:noFill/>
          <a:ln/>
        </p:spPr>
        <p:txBody>
          <a:bodyPr wrap="square" lIns="0" tIns="0" rIns="0" bIns="0" rtlCol="0" anchor="ctr"/>
          <a:lstStyle/>
          <a:p>
            <a:pPr indent="0" marL="0">
              <a:lnSpc>
                <a:spcPct val="110000"/>
              </a:lnSpc>
              <a:buNone/>
            </a:pPr>
            <a:r>
              <a:rPr lang="en-US" sz="800" dirty="0">
                <a:solidFill>
                  <a:srgbClr val="64748B"/>
                </a:solidFill>
              </a:rPr>
              <a:t>Create new roles, assign users, control view/comment permissions</a:t>
            </a:r>
            <a:endParaRPr lang="en-US" sz="800" dirty="0"/>
          </a:p>
        </p:txBody>
      </p:sp>
      <p:sp>
        <p:nvSpPr>
          <p:cNvPr id="28" name="Shape 26"/>
          <p:cNvSpPr/>
          <p:nvPr/>
        </p:nvSpPr>
        <p:spPr>
          <a:xfrm>
            <a:off x="2862072" y="2066544"/>
            <a:ext cx="118872" cy="118872"/>
          </a:xfrm>
          <a:prstGeom prst="ellipse">
            <a:avLst/>
          </a:prstGeom>
          <a:solidFill>
            <a:srgbClr val="F4A223"/>
          </a:solidFill>
          <a:ln/>
        </p:spPr>
      </p:sp>
      <p:sp>
        <p:nvSpPr>
          <p:cNvPr id="29" name="Text 27"/>
          <p:cNvSpPr/>
          <p:nvPr/>
        </p:nvSpPr>
        <p:spPr>
          <a:xfrm>
            <a:off x="3044952" y="1993392"/>
            <a:ext cx="2240280" cy="201168"/>
          </a:xfrm>
          <a:prstGeom prst="rect">
            <a:avLst/>
          </a:prstGeom>
          <a:noFill/>
          <a:ln/>
        </p:spPr>
        <p:txBody>
          <a:bodyPr wrap="square" lIns="0" tIns="0" rIns="0" bIns="0" rtlCol="0" anchor="ctr"/>
          <a:lstStyle/>
          <a:p>
            <a:pPr indent="0" marL="0">
              <a:buNone/>
            </a:pPr>
            <a:r>
              <a:rPr lang="en-US" sz="950" b="1" dirty="0">
                <a:solidFill>
                  <a:srgbClr val="1A2340"/>
                </a:solidFill>
              </a:rPr>
              <a:t>Nudge Notifications</a:t>
            </a:r>
            <a:endParaRPr lang="en-US" sz="950" dirty="0"/>
          </a:p>
        </p:txBody>
      </p:sp>
      <p:sp>
        <p:nvSpPr>
          <p:cNvPr id="30" name="Text 28"/>
          <p:cNvSpPr/>
          <p:nvPr/>
        </p:nvSpPr>
        <p:spPr>
          <a:xfrm>
            <a:off x="3044952" y="2194560"/>
            <a:ext cx="2240280" cy="256032"/>
          </a:xfrm>
          <a:prstGeom prst="rect">
            <a:avLst/>
          </a:prstGeom>
          <a:noFill/>
          <a:ln/>
        </p:spPr>
        <p:txBody>
          <a:bodyPr wrap="square" lIns="0" tIns="0" rIns="0" bIns="0" rtlCol="0" anchor="ctr"/>
          <a:lstStyle/>
          <a:p>
            <a:pPr indent="0" marL="0">
              <a:lnSpc>
                <a:spcPct val="110000"/>
              </a:lnSpc>
              <a:buNone/>
            </a:pPr>
            <a:r>
              <a:rPr lang="en-US" sz="800" dirty="0">
                <a:solidFill>
                  <a:srgbClr val="64748B"/>
                </a:solidFill>
              </a:rPr>
              <a:t>Create and send survey nudge notifications to boost response</a:t>
            </a:r>
            <a:endParaRPr lang="en-US" sz="800" dirty="0"/>
          </a:p>
        </p:txBody>
      </p:sp>
      <p:sp>
        <p:nvSpPr>
          <p:cNvPr id="31" name="Shape 29"/>
          <p:cNvSpPr/>
          <p:nvPr/>
        </p:nvSpPr>
        <p:spPr>
          <a:xfrm>
            <a:off x="2862072" y="2542032"/>
            <a:ext cx="118872" cy="118872"/>
          </a:xfrm>
          <a:prstGeom prst="ellipse">
            <a:avLst/>
          </a:prstGeom>
          <a:solidFill>
            <a:srgbClr val="F4A223"/>
          </a:solidFill>
          <a:ln/>
        </p:spPr>
      </p:sp>
      <p:sp>
        <p:nvSpPr>
          <p:cNvPr id="32" name="Text 30"/>
          <p:cNvSpPr/>
          <p:nvPr/>
        </p:nvSpPr>
        <p:spPr>
          <a:xfrm>
            <a:off x="3044952" y="2468880"/>
            <a:ext cx="2240280" cy="201168"/>
          </a:xfrm>
          <a:prstGeom prst="rect">
            <a:avLst/>
          </a:prstGeom>
          <a:noFill/>
          <a:ln/>
        </p:spPr>
        <p:txBody>
          <a:bodyPr wrap="square" lIns="0" tIns="0" rIns="0" bIns="0" rtlCol="0" anchor="ctr"/>
          <a:lstStyle/>
          <a:p>
            <a:pPr indent="0" marL="0">
              <a:buNone/>
            </a:pPr>
            <a:r>
              <a:rPr lang="en-US" sz="950" b="1" dirty="0">
                <a:solidFill>
                  <a:srgbClr val="1A2340"/>
                </a:solidFill>
              </a:rPr>
              <a:t>Data Management</a:t>
            </a:r>
            <a:endParaRPr lang="en-US" sz="950" dirty="0"/>
          </a:p>
        </p:txBody>
      </p:sp>
      <p:sp>
        <p:nvSpPr>
          <p:cNvPr id="33" name="Text 31"/>
          <p:cNvSpPr/>
          <p:nvPr/>
        </p:nvSpPr>
        <p:spPr>
          <a:xfrm>
            <a:off x="3044952" y="2670048"/>
            <a:ext cx="2240280" cy="256032"/>
          </a:xfrm>
          <a:prstGeom prst="rect">
            <a:avLst/>
          </a:prstGeom>
          <a:noFill/>
          <a:ln/>
        </p:spPr>
        <p:txBody>
          <a:bodyPr wrap="square" lIns="0" tIns="0" rIns="0" bIns="0" rtlCol="0" anchor="ctr"/>
          <a:lstStyle/>
          <a:p>
            <a:pPr indent="0" marL="0">
              <a:lnSpc>
                <a:spcPct val="110000"/>
              </a:lnSpc>
              <a:buNone/>
            </a:pPr>
            <a:r>
              <a:rPr lang="en-US" sz="800" dirty="0">
                <a:solidFill>
                  <a:srgbClr val="64748B"/>
                </a:solidFill>
              </a:rPr>
              <a:t>Manage people, roles, proxy login, admin access, file uploads</a:t>
            </a:r>
            <a:endParaRPr lang="en-US" sz="800" dirty="0"/>
          </a:p>
        </p:txBody>
      </p:sp>
      <p:sp>
        <p:nvSpPr>
          <p:cNvPr id="34" name="Shape 32"/>
          <p:cNvSpPr/>
          <p:nvPr/>
        </p:nvSpPr>
        <p:spPr>
          <a:xfrm>
            <a:off x="2862072" y="3017520"/>
            <a:ext cx="118872" cy="118872"/>
          </a:xfrm>
          <a:prstGeom prst="ellipse">
            <a:avLst/>
          </a:prstGeom>
          <a:solidFill>
            <a:srgbClr val="F4A223"/>
          </a:solidFill>
          <a:ln/>
        </p:spPr>
      </p:sp>
      <p:sp>
        <p:nvSpPr>
          <p:cNvPr id="35" name="Text 33"/>
          <p:cNvSpPr/>
          <p:nvPr/>
        </p:nvSpPr>
        <p:spPr>
          <a:xfrm>
            <a:off x="3044952" y="2944368"/>
            <a:ext cx="2240280" cy="201168"/>
          </a:xfrm>
          <a:prstGeom prst="rect">
            <a:avLst/>
          </a:prstGeom>
          <a:noFill/>
          <a:ln/>
        </p:spPr>
        <p:txBody>
          <a:bodyPr wrap="square" lIns="0" tIns="0" rIns="0" bIns="0" rtlCol="0" anchor="ctr"/>
          <a:lstStyle/>
          <a:p>
            <a:pPr indent="0" marL="0">
              <a:buNone/>
            </a:pPr>
            <a:r>
              <a:rPr lang="en-US" sz="950" b="1" dirty="0">
                <a:solidFill>
                  <a:srgbClr val="1A2340"/>
                </a:solidFill>
              </a:rPr>
              <a:t>Advanced Config &amp; Integrations</a:t>
            </a:r>
            <a:endParaRPr lang="en-US" sz="950" dirty="0"/>
          </a:p>
        </p:txBody>
      </p:sp>
      <p:sp>
        <p:nvSpPr>
          <p:cNvPr id="36" name="Text 34"/>
          <p:cNvSpPr/>
          <p:nvPr/>
        </p:nvSpPr>
        <p:spPr>
          <a:xfrm>
            <a:off x="3044952" y="3145536"/>
            <a:ext cx="2240280" cy="256032"/>
          </a:xfrm>
          <a:prstGeom prst="rect">
            <a:avLst/>
          </a:prstGeom>
          <a:noFill/>
          <a:ln/>
        </p:spPr>
        <p:txBody>
          <a:bodyPr wrap="square" lIns="0" tIns="0" rIns="0" bIns="0" rtlCol="0" anchor="ctr"/>
          <a:lstStyle/>
          <a:p>
            <a:pPr indent="0" marL="0">
              <a:lnSpc>
                <a:spcPct val="110000"/>
              </a:lnSpc>
              <a:buNone/>
            </a:pPr>
            <a:r>
              <a:rPr lang="en-US" sz="800" dirty="0">
                <a:solidFill>
                  <a:srgbClr val="64748B"/>
                </a:solidFill>
              </a:rPr>
              <a:t>Survey thresholds, Viva Insights &amp; Viva Pulse integrations</a:t>
            </a:r>
            <a:endParaRPr lang="en-US" sz="800" dirty="0"/>
          </a:p>
        </p:txBody>
      </p:sp>
      <p:sp>
        <p:nvSpPr>
          <p:cNvPr id="37" name="Shape 35"/>
          <p:cNvSpPr/>
          <p:nvPr/>
        </p:nvSpPr>
        <p:spPr>
          <a:xfrm>
            <a:off x="5468112" y="1051560"/>
            <a:ext cx="3474720" cy="749808"/>
          </a:xfrm>
          <a:prstGeom prst="rect">
            <a:avLst/>
          </a:prstGeom>
          <a:solidFill>
            <a:srgbClr val="1E2761"/>
          </a:solidFill>
          <a:ln/>
          <a:effectLst>
            <a:outerShdw sx="100000" sy="100000" kx="0" ky="0" algn="bl" rotWithShape="0" blurRad="101600" dist="38100" dir="8100000">
              <a:srgbClr val="000000">
                <a:alpha val="12000"/>
              </a:srgbClr>
            </a:outerShdw>
          </a:effectLst>
        </p:spPr>
      </p:sp>
      <p:sp>
        <p:nvSpPr>
          <p:cNvPr id="38" name="Shape 36"/>
          <p:cNvSpPr/>
          <p:nvPr/>
        </p:nvSpPr>
        <p:spPr>
          <a:xfrm>
            <a:off x="5468112" y="1051560"/>
            <a:ext cx="54864" cy="749808"/>
          </a:xfrm>
          <a:prstGeom prst="rect">
            <a:avLst/>
          </a:prstGeom>
          <a:solidFill>
            <a:srgbClr val="F4A223"/>
          </a:solidFill>
          <a:ln/>
        </p:spPr>
      </p:sp>
      <p:sp>
        <p:nvSpPr>
          <p:cNvPr id="39" name="Text 37"/>
          <p:cNvSpPr/>
          <p:nvPr/>
        </p:nvSpPr>
        <p:spPr>
          <a:xfrm>
            <a:off x="5577840" y="1088136"/>
            <a:ext cx="3310128" cy="201168"/>
          </a:xfrm>
          <a:prstGeom prst="rect">
            <a:avLst/>
          </a:prstGeom>
          <a:noFill/>
          <a:ln/>
        </p:spPr>
        <p:txBody>
          <a:bodyPr wrap="square" lIns="0" tIns="0" rIns="0" bIns="0" rtlCol="0" anchor="ctr"/>
          <a:lstStyle/>
          <a:p>
            <a:pPr indent="0" marL="0">
              <a:buNone/>
            </a:pPr>
            <a:r>
              <a:rPr lang="en-US" sz="750" b="1" spc="150" kern="0" dirty="0">
                <a:solidFill>
                  <a:srgbClr val="F4A223"/>
                </a:solidFill>
              </a:rPr>
              <a:t>DATA ACCESSIBLE</a:t>
            </a:r>
            <a:endParaRPr lang="en-US" sz="750" dirty="0"/>
          </a:p>
        </p:txBody>
      </p:sp>
      <p:sp>
        <p:nvSpPr>
          <p:cNvPr id="40" name="Text 38"/>
          <p:cNvSpPr/>
          <p:nvPr/>
        </p:nvSpPr>
        <p:spPr>
          <a:xfrm>
            <a:off x="5577840" y="1298448"/>
            <a:ext cx="3310128" cy="457200"/>
          </a:xfrm>
          <a:prstGeom prst="rect">
            <a:avLst/>
          </a:prstGeom>
          <a:noFill/>
          <a:ln/>
        </p:spPr>
        <p:txBody>
          <a:bodyPr wrap="square" lIns="0" tIns="0" rIns="0" bIns="0" rtlCol="0" anchor="ctr"/>
          <a:lstStyle/>
          <a:p>
            <a:pPr indent="0" marL="0">
              <a:lnSpc>
                <a:spcPct val="115000"/>
              </a:lnSpc>
              <a:buNone/>
            </a:pPr>
            <a:r>
              <a:rPr lang="en-US" sz="880" dirty="0">
                <a:solidFill>
                  <a:srgbClr val="FFFFFF"/>
                </a:solidFill>
              </a:rPr>
              <a:t>All survey data, all population segments — no restrictions</a:t>
            </a:r>
            <a:endParaRPr lang="en-US" sz="880" dirty="0"/>
          </a:p>
        </p:txBody>
      </p:sp>
      <p:sp>
        <p:nvSpPr>
          <p:cNvPr id="41" name="Shape 39"/>
          <p:cNvSpPr/>
          <p:nvPr/>
        </p:nvSpPr>
        <p:spPr>
          <a:xfrm>
            <a:off x="5468112" y="1837944"/>
            <a:ext cx="3474720" cy="749808"/>
          </a:xfrm>
          <a:prstGeom prst="rect">
            <a:avLst/>
          </a:prstGeom>
          <a:solidFill>
            <a:srgbClr val="1B5E7B"/>
          </a:solidFill>
          <a:ln/>
          <a:effectLst>
            <a:outerShdw sx="100000" sy="100000" kx="0" ky="0" algn="bl" rotWithShape="0" blurRad="101600" dist="38100" dir="8100000">
              <a:srgbClr val="000000">
                <a:alpha val="12000"/>
              </a:srgbClr>
            </a:outerShdw>
          </a:effectLst>
        </p:spPr>
      </p:sp>
      <p:sp>
        <p:nvSpPr>
          <p:cNvPr id="42" name="Shape 40"/>
          <p:cNvSpPr/>
          <p:nvPr/>
        </p:nvSpPr>
        <p:spPr>
          <a:xfrm>
            <a:off x="5468112" y="1837944"/>
            <a:ext cx="54864" cy="749808"/>
          </a:xfrm>
          <a:prstGeom prst="rect">
            <a:avLst/>
          </a:prstGeom>
          <a:solidFill>
            <a:srgbClr val="F4A223"/>
          </a:solidFill>
          <a:ln/>
        </p:spPr>
      </p:sp>
      <p:sp>
        <p:nvSpPr>
          <p:cNvPr id="43" name="Text 41"/>
          <p:cNvSpPr/>
          <p:nvPr/>
        </p:nvSpPr>
        <p:spPr>
          <a:xfrm>
            <a:off x="5577840" y="1874520"/>
            <a:ext cx="3310128" cy="201168"/>
          </a:xfrm>
          <a:prstGeom prst="rect">
            <a:avLst/>
          </a:prstGeom>
          <a:noFill/>
          <a:ln/>
        </p:spPr>
        <p:txBody>
          <a:bodyPr wrap="square" lIns="0" tIns="0" rIns="0" bIns="0" rtlCol="0" anchor="ctr"/>
          <a:lstStyle/>
          <a:p>
            <a:pPr indent="0" marL="0">
              <a:buNone/>
            </a:pPr>
            <a:r>
              <a:rPr lang="en-US" sz="750" b="1" spc="150" kern="0" dirty="0">
                <a:solidFill>
                  <a:srgbClr val="F4A223"/>
                </a:solidFill>
              </a:rPr>
              <a:t>POPULATION COVERED</a:t>
            </a:r>
            <a:endParaRPr lang="en-US" sz="750" dirty="0"/>
          </a:p>
        </p:txBody>
      </p:sp>
      <p:sp>
        <p:nvSpPr>
          <p:cNvPr id="44" name="Text 42"/>
          <p:cNvSpPr/>
          <p:nvPr/>
        </p:nvSpPr>
        <p:spPr>
          <a:xfrm>
            <a:off x="5577840" y="2084832"/>
            <a:ext cx="3310128" cy="457200"/>
          </a:xfrm>
          <a:prstGeom prst="rect">
            <a:avLst/>
          </a:prstGeom>
          <a:noFill/>
          <a:ln/>
        </p:spPr>
        <p:txBody>
          <a:bodyPr wrap="square" lIns="0" tIns="0" rIns="0" bIns="0" rtlCol="0" anchor="ctr"/>
          <a:lstStyle/>
          <a:p>
            <a:pPr indent="0" marL="0">
              <a:lnSpc>
                <a:spcPct val="115000"/>
              </a:lnSpc>
              <a:buNone/>
            </a:pPr>
            <a:r>
              <a:rPr lang="en-US" sz="880" dirty="0">
                <a:solidFill>
                  <a:srgbClr val="FFFFFF"/>
                </a:solidFill>
              </a:rPr>
              <a:t>Global / All regions (India &amp; UK primary)</a:t>
            </a:r>
            <a:endParaRPr lang="en-US" sz="880" dirty="0"/>
          </a:p>
        </p:txBody>
      </p:sp>
      <p:sp>
        <p:nvSpPr>
          <p:cNvPr id="45" name="Shape 43"/>
          <p:cNvSpPr/>
          <p:nvPr/>
        </p:nvSpPr>
        <p:spPr>
          <a:xfrm>
            <a:off x="5468112" y="2624328"/>
            <a:ext cx="3474720" cy="749808"/>
          </a:xfrm>
          <a:prstGeom prst="rect">
            <a:avLst/>
          </a:prstGeom>
          <a:solidFill>
            <a:srgbClr val="1A4A6E"/>
          </a:solidFill>
          <a:ln/>
          <a:effectLst>
            <a:outerShdw sx="100000" sy="100000" kx="0" ky="0" algn="bl" rotWithShape="0" blurRad="101600" dist="38100" dir="8100000">
              <a:srgbClr val="000000">
                <a:alpha val="12000"/>
              </a:srgbClr>
            </a:outerShdw>
          </a:effectLst>
        </p:spPr>
      </p:sp>
      <p:sp>
        <p:nvSpPr>
          <p:cNvPr id="46" name="Shape 44"/>
          <p:cNvSpPr/>
          <p:nvPr/>
        </p:nvSpPr>
        <p:spPr>
          <a:xfrm>
            <a:off x="5468112" y="2624328"/>
            <a:ext cx="54864" cy="749808"/>
          </a:xfrm>
          <a:prstGeom prst="rect">
            <a:avLst/>
          </a:prstGeom>
          <a:solidFill>
            <a:srgbClr val="F4A223"/>
          </a:solidFill>
          <a:ln/>
        </p:spPr>
      </p:sp>
      <p:sp>
        <p:nvSpPr>
          <p:cNvPr id="47" name="Text 45"/>
          <p:cNvSpPr/>
          <p:nvPr/>
        </p:nvSpPr>
        <p:spPr>
          <a:xfrm>
            <a:off x="5577840" y="2660904"/>
            <a:ext cx="3310128" cy="201168"/>
          </a:xfrm>
          <a:prstGeom prst="rect">
            <a:avLst/>
          </a:prstGeom>
          <a:noFill/>
          <a:ln/>
        </p:spPr>
        <p:txBody>
          <a:bodyPr wrap="square" lIns="0" tIns="0" rIns="0" bIns="0" rtlCol="0" anchor="ctr"/>
          <a:lstStyle/>
          <a:p>
            <a:pPr indent="0" marL="0">
              <a:buNone/>
            </a:pPr>
            <a:r>
              <a:rPr lang="en-US" sz="750" b="1" spc="150" kern="0" dirty="0">
                <a:solidFill>
                  <a:srgbClr val="F4A223"/>
                </a:solidFill>
              </a:rPr>
              <a:t>WHO RECEIVES ACCESS</a:t>
            </a:r>
            <a:endParaRPr lang="en-US" sz="750" dirty="0"/>
          </a:p>
        </p:txBody>
      </p:sp>
      <p:sp>
        <p:nvSpPr>
          <p:cNvPr id="48" name="Text 46"/>
          <p:cNvSpPr/>
          <p:nvPr/>
        </p:nvSpPr>
        <p:spPr>
          <a:xfrm>
            <a:off x="5577840" y="2871216"/>
            <a:ext cx="3310128" cy="457200"/>
          </a:xfrm>
          <a:prstGeom prst="rect">
            <a:avLst/>
          </a:prstGeom>
          <a:noFill/>
          <a:ln/>
        </p:spPr>
        <p:txBody>
          <a:bodyPr wrap="square" lIns="0" tIns="0" rIns="0" bIns="0" rtlCol="0" anchor="ctr"/>
          <a:lstStyle/>
          <a:p>
            <a:pPr indent="0" marL="0">
              <a:lnSpc>
                <a:spcPct val="115000"/>
              </a:lnSpc>
              <a:buNone/>
            </a:pPr>
            <a:r>
              <a:rPr lang="en-US" sz="880" dirty="0">
                <a:solidFill>
                  <a:srgbClr val="FFFFFF"/>
                </a:solidFill>
              </a:rPr>
              <a:t>Colleague Listening Team + Samuel Moore (Culture Team)</a:t>
            </a:r>
            <a:endParaRPr lang="en-US" sz="880" dirty="0"/>
          </a:p>
        </p:txBody>
      </p:sp>
      <p:sp>
        <p:nvSpPr>
          <p:cNvPr id="49" name="Shape 47"/>
          <p:cNvSpPr/>
          <p:nvPr/>
        </p:nvSpPr>
        <p:spPr>
          <a:xfrm>
            <a:off x="5468112" y="3410712"/>
            <a:ext cx="3474720" cy="749808"/>
          </a:xfrm>
          <a:prstGeom prst="rect">
            <a:avLst/>
          </a:prstGeom>
          <a:solidFill>
            <a:srgbClr val="16395A"/>
          </a:solidFill>
          <a:ln/>
          <a:effectLst>
            <a:outerShdw sx="100000" sy="100000" kx="0" ky="0" algn="bl" rotWithShape="0" blurRad="101600" dist="38100" dir="8100000">
              <a:srgbClr val="000000">
                <a:alpha val="12000"/>
              </a:srgbClr>
            </a:outerShdw>
          </a:effectLst>
        </p:spPr>
      </p:sp>
      <p:sp>
        <p:nvSpPr>
          <p:cNvPr id="50" name="Shape 48"/>
          <p:cNvSpPr/>
          <p:nvPr/>
        </p:nvSpPr>
        <p:spPr>
          <a:xfrm>
            <a:off x="5468112" y="3410712"/>
            <a:ext cx="54864" cy="749808"/>
          </a:xfrm>
          <a:prstGeom prst="rect">
            <a:avLst/>
          </a:prstGeom>
          <a:solidFill>
            <a:srgbClr val="F4A223"/>
          </a:solidFill>
          <a:ln/>
        </p:spPr>
      </p:sp>
      <p:sp>
        <p:nvSpPr>
          <p:cNvPr id="51" name="Text 49"/>
          <p:cNvSpPr/>
          <p:nvPr/>
        </p:nvSpPr>
        <p:spPr>
          <a:xfrm>
            <a:off x="5577840" y="3447288"/>
            <a:ext cx="3310128" cy="201168"/>
          </a:xfrm>
          <a:prstGeom prst="rect">
            <a:avLst/>
          </a:prstGeom>
          <a:noFill/>
          <a:ln/>
        </p:spPr>
        <p:txBody>
          <a:bodyPr wrap="square" lIns="0" tIns="0" rIns="0" bIns="0" rtlCol="0" anchor="ctr"/>
          <a:lstStyle/>
          <a:p>
            <a:pPr indent="0" marL="0">
              <a:buNone/>
            </a:pPr>
            <a:r>
              <a:rPr lang="en-US" sz="750" b="1" spc="150" kern="0" dirty="0">
                <a:solidFill>
                  <a:srgbClr val="F4A223"/>
                </a:solidFill>
              </a:rPr>
              <a:t>WHY THEY NEED IT</a:t>
            </a:r>
            <a:endParaRPr lang="en-US" sz="750" dirty="0"/>
          </a:p>
        </p:txBody>
      </p:sp>
      <p:sp>
        <p:nvSpPr>
          <p:cNvPr id="52" name="Text 50"/>
          <p:cNvSpPr/>
          <p:nvPr/>
        </p:nvSpPr>
        <p:spPr>
          <a:xfrm>
            <a:off x="5577840" y="3657600"/>
            <a:ext cx="3310128" cy="457200"/>
          </a:xfrm>
          <a:prstGeom prst="rect">
            <a:avLst/>
          </a:prstGeom>
          <a:noFill/>
          <a:ln/>
        </p:spPr>
        <p:txBody>
          <a:bodyPr wrap="square" lIns="0" tIns="0" rIns="0" bIns="0" rtlCol="0" anchor="ctr"/>
          <a:lstStyle/>
          <a:p>
            <a:pPr indent="0" marL="0">
              <a:lnSpc>
                <a:spcPct val="115000"/>
              </a:lnSpc>
              <a:buNone/>
            </a:pPr>
            <a:r>
              <a:rPr lang="en-US" sz="880" dirty="0">
                <a:solidFill>
                  <a:srgbClr val="FFFFFF"/>
                </a:solidFill>
              </a:rPr>
              <a:t>Owns platform governance, configuration, and full lifecycle of all survey programs</a:t>
            </a:r>
            <a:endParaRPr lang="en-US" sz="880" dirty="0"/>
          </a:p>
        </p:txBody>
      </p:sp>
      <p:sp>
        <p:nvSpPr>
          <p:cNvPr id="53" name="Shape 51"/>
          <p:cNvSpPr/>
          <p:nvPr/>
        </p:nvSpPr>
        <p:spPr>
          <a:xfrm>
            <a:off x="5468112" y="4197096"/>
            <a:ext cx="3474720" cy="749808"/>
          </a:xfrm>
          <a:prstGeom prst="rect">
            <a:avLst/>
          </a:prstGeom>
          <a:solidFill>
            <a:srgbClr val="0F2640"/>
          </a:solidFill>
          <a:ln/>
          <a:effectLst>
            <a:outerShdw sx="100000" sy="100000" kx="0" ky="0" algn="bl" rotWithShape="0" blurRad="101600" dist="38100" dir="8100000">
              <a:srgbClr val="000000">
                <a:alpha val="12000"/>
              </a:srgbClr>
            </a:outerShdw>
          </a:effectLst>
        </p:spPr>
      </p:sp>
      <p:sp>
        <p:nvSpPr>
          <p:cNvPr id="54" name="Shape 52"/>
          <p:cNvSpPr/>
          <p:nvPr/>
        </p:nvSpPr>
        <p:spPr>
          <a:xfrm>
            <a:off x="5468112" y="4197096"/>
            <a:ext cx="54864" cy="749808"/>
          </a:xfrm>
          <a:prstGeom prst="rect">
            <a:avLst/>
          </a:prstGeom>
          <a:solidFill>
            <a:srgbClr val="F4A223"/>
          </a:solidFill>
          <a:ln/>
        </p:spPr>
      </p:sp>
      <p:sp>
        <p:nvSpPr>
          <p:cNvPr id="55" name="Text 53"/>
          <p:cNvSpPr/>
          <p:nvPr/>
        </p:nvSpPr>
        <p:spPr>
          <a:xfrm>
            <a:off x="5577840" y="4233672"/>
            <a:ext cx="3310128" cy="201168"/>
          </a:xfrm>
          <a:prstGeom prst="rect">
            <a:avLst/>
          </a:prstGeom>
          <a:noFill/>
          <a:ln/>
        </p:spPr>
        <p:txBody>
          <a:bodyPr wrap="square" lIns="0" tIns="0" rIns="0" bIns="0" rtlCol="0" anchor="ctr"/>
          <a:lstStyle/>
          <a:p>
            <a:pPr indent="0" marL="0">
              <a:buNone/>
            </a:pPr>
            <a:r>
              <a:rPr lang="en-US" sz="750" b="1" spc="150" kern="0" dirty="0">
                <a:solidFill>
                  <a:srgbClr val="F4A223"/>
                </a:solidFill>
              </a:rPr>
              <a:t>HOW PROVISIONED</a:t>
            </a:r>
            <a:endParaRPr lang="en-US" sz="750" dirty="0"/>
          </a:p>
        </p:txBody>
      </p:sp>
      <p:sp>
        <p:nvSpPr>
          <p:cNvPr id="56" name="Text 54"/>
          <p:cNvSpPr/>
          <p:nvPr/>
        </p:nvSpPr>
        <p:spPr>
          <a:xfrm>
            <a:off x="5577840" y="4443984"/>
            <a:ext cx="3310128" cy="457200"/>
          </a:xfrm>
          <a:prstGeom prst="rect">
            <a:avLst/>
          </a:prstGeom>
          <a:noFill/>
          <a:ln/>
        </p:spPr>
        <p:txBody>
          <a:bodyPr wrap="square" lIns="0" tIns="0" rIns="0" bIns="0" rtlCol="0" anchor="ctr"/>
          <a:lstStyle/>
          <a:p>
            <a:pPr indent="0" marL="0">
              <a:lnSpc>
                <a:spcPct val="115000"/>
              </a:lnSpc>
              <a:buNone/>
            </a:pPr>
            <a:r>
              <a:rPr lang="en-US" sz="880" dirty="0">
                <a:solidFill>
                  <a:srgbClr val="FFFFFF"/>
                </a:solidFill>
              </a:rPr>
              <a:t>Bulk provisioning for full enablement; future requests via Access Request Portal</a:t>
            </a:r>
            <a:endParaRPr lang="en-US" sz="88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6FB"/>
        </a:solidFill>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1E2761"/>
          </a:solidFill>
          <a:ln/>
        </p:spPr>
      </p:sp>
      <p:sp>
        <p:nvSpPr>
          <p:cNvPr id="3" name="Shape 1"/>
          <p:cNvSpPr/>
          <p:nvPr/>
        </p:nvSpPr>
        <p:spPr>
          <a:xfrm>
            <a:off x="0" y="0"/>
            <a:ext cx="201168" cy="960120"/>
          </a:xfrm>
          <a:prstGeom prst="rect">
            <a:avLst/>
          </a:prstGeom>
          <a:solidFill>
            <a:srgbClr val="4A90D9"/>
          </a:solidFill>
          <a:ln/>
        </p:spPr>
      </p:sp>
      <p:sp>
        <p:nvSpPr>
          <p:cNvPr id="4" name="Shape 2"/>
          <p:cNvSpPr/>
          <p:nvPr/>
        </p:nvSpPr>
        <p:spPr>
          <a:xfrm>
            <a:off x="347472" y="155448"/>
            <a:ext cx="566928" cy="566928"/>
          </a:xfrm>
          <a:prstGeom prst="ellipse">
            <a:avLst/>
          </a:prstGeom>
          <a:solidFill>
            <a:srgbClr val="4A90D9"/>
          </a:solidFill>
          <a:ln/>
          <a:effectLst>
            <a:outerShdw sx="100000" sy="100000" kx="0" ky="0" algn="bl" rotWithShape="0" blurRad="101600" dist="38100" dir="8100000">
              <a:srgbClr val="000000">
                <a:alpha val="12000"/>
              </a:srgbClr>
            </a:outerShdw>
          </a:effectLst>
        </p:spPr>
      </p:sp>
      <p:sp>
        <p:nvSpPr>
          <p:cNvPr id="5" name="Text 3"/>
          <p:cNvSpPr/>
          <p:nvPr/>
        </p:nvSpPr>
        <p:spPr>
          <a:xfrm>
            <a:off x="347472" y="155448"/>
            <a:ext cx="566928" cy="566928"/>
          </a:xfrm>
          <a:prstGeom prst="rect">
            <a:avLst/>
          </a:prstGeom>
          <a:noFill/>
          <a:ln/>
        </p:spPr>
        <p:txBody>
          <a:bodyPr wrap="square" lIns="0" tIns="0" rIns="0" bIns="0" rtlCol="0" anchor="ctr"/>
          <a:lstStyle/>
          <a:p>
            <a:pPr algn="ctr" indent="0" marL="0">
              <a:buNone/>
            </a:pPr>
            <a:r>
              <a:rPr lang="en-US" sz="1800" b="1" dirty="0">
                <a:solidFill>
                  <a:srgbClr val="FFFFFF"/>
                </a:solidFill>
              </a:rPr>
              <a:t>2</a:t>
            </a:r>
            <a:endParaRPr lang="en-US" sz="1800" dirty="0"/>
          </a:p>
        </p:txBody>
      </p:sp>
      <p:sp>
        <p:nvSpPr>
          <p:cNvPr id="6" name="Text 4"/>
          <p:cNvSpPr/>
          <p:nvPr/>
        </p:nvSpPr>
        <p:spPr>
          <a:xfrm>
            <a:off x="1051560" y="91440"/>
            <a:ext cx="5943600" cy="502920"/>
          </a:xfrm>
          <a:prstGeom prst="rect">
            <a:avLst/>
          </a:prstGeom>
          <a:noFill/>
          <a:ln/>
        </p:spPr>
        <p:txBody>
          <a:bodyPr wrap="square" lIns="0" tIns="0" rIns="0" bIns="0" rtlCol="0" anchor="ctr"/>
          <a:lstStyle/>
          <a:p>
            <a:pPr indent="0" marL="0">
              <a:buNone/>
            </a:pPr>
            <a:r>
              <a:rPr lang="en-US" sz="2000" b="1" dirty="0">
                <a:solidFill>
                  <a:srgbClr val="FFFFFF"/>
                </a:solidFill>
              </a:rPr>
              <a:t>Survey Designer</a:t>
            </a:r>
            <a:endParaRPr lang="en-US" sz="2000" dirty="0"/>
          </a:p>
        </p:txBody>
      </p:sp>
      <p:sp>
        <p:nvSpPr>
          <p:cNvPr id="7" name="Text 5"/>
          <p:cNvSpPr/>
          <p:nvPr/>
        </p:nvSpPr>
        <p:spPr>
          <a:xfrm>
            <a:off x="1051560" y="594360"/>
            <a:ext cx="5943600" cy="274320"/>
          </a:xfrm>
          <a:prstGeom prst="rect">
            <a:avLst/>
          </a:prstGeom>
          <a:noFill/>
          <a:ln/>
        </p:spPr>
        <p:txBody>
          <a:bodyPr wrap="square" lIns="0" tIns="0" rIns="0" bIns="0" rtlCol="0" anchor="ctr"/>
          <a:lstStyle/>
          <a:p>
            <a:pPr indent="0" marL="0">
              <a:buNone/>
            </a:pPr>
            <a:r>
              <a:rPr lang="en-US" sz="900" dirty="0">
                <a:solidFill>
                  <a:srgbClr val="CADCFC"/>
                </a:solidFill>
              </a:rPr>
              <a:t>Role 2 of 7  |  HR Survey Author (Non-Colleague Listening)</a:t>
            </a:r>
            <a:endParaRPr lang="en-US" sz="900" dirty="0"/>
          </a:p>
        </p:txBody>
      </p:sp>
      <p:sp>
        <p:nvSpPr>
          <p:cNvPr id="8" name="Shape 6"/>
          <p:cNvSpPr/>
          <p:nvPr/>
        </p:nvSpPr>
        <p:spPr>
          <a:xfrm>
            <a:off x="7863840" y="292608"/>
            <a:ext cx="1097280" cy="347472"/>
          </a:xfrm>
          <a:prstGeom prst="roundRect">
            <a:avLst>
              <a:gd name="adj" fmla="val 21053"/>
            </a:avLst>
          </a:prstGeom>
          <a:solidFill>
            <a:srgbClr val="27AE60"/>
          </a:solidFill>
          <a:ln/>
        </p:spPr>
      </p:sp>
      <p:sp>
        <p:nvSpPr>
          <p:cNvPr id="9" name="Text 7"/>
          <p:cNvSpPr/>
          <p:nvPr/>
        </p:nvSpPr>
        <p:spPr>
          <a:xfrm>
            <a:off x="7863840" y="292608"/>
            <a:ext cx="1097280" cy="347472"/>
          </a:xfrm>
          <a:prstGeom prst="rect">
            <a:avLst/>
          </a:prstGeom>
          <a:noFill/>
          <a:ln/>
        </p:spPr>
        <p:txBody>
          <a:bodyPr wrap="square" lIns="0" tIns="0" rIns="0" bIns="0" rtlCol="0" anchor="ctr"/>
          <a:lstStyle/>
          <a:p>
            <a:pPr algn="ctr" indent="0" marL="0">
              <a:buNone/>
            </a:pPr>
            <a:r>
              <a:rPr lang="en-US" sz="1000" b="1" dirty="0">
                <a:solidFill>
                  <a:srgbClr val="FFFFFF"/>
                </a:solidFill>
              </a:rPr>
              <a:t>Live</a:t>
            </a:r>
            <a:endParaRPr lang="en-US" sz="1000" dirty="0"/>
          </a:p>
        </p:txBody>
      </p:sp>
      <p:sp>
        <p:nvSpPr>
          <p:cNvPr id="10" name="Shape 8"/>
          <p:cNvSpPr/>
          <p:nvPr/>
        </p:nvSpPr>
        <p:spPr>
          <a:xfrm>
            <a:off x="201168" y="1051560"/>
            <a:ext cx="5074920" cy="3886200"/>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11" name="Shape 9"/>
          <p:cNvSpPr/>
          <p:nvPr/>
        </p:nvSpPr>
        <p:spPr>
          <a:xfrm>
            <a:off x="201168" y="1051560"/>
            <a:ext cx="5074920" cy="347472"/>
          </a:xfrm>
          <a:prstGeom prst="rect">
            <a:avLst/>
          </a:prstGeom>
          <a:solidFill>
            <a:srgbClr val="1A2340"/>
          </a:solidFill>
          <a:ln/>
        </p:spPr>
      </p:sp>
      <p:sp>
        <p:nvSpPr>
          <p:cNvPr id="12" name="Text 10"/>
          <p:cNvSpPr/>
          <p:nvPr/>
        </p:nvSpPr>
        <p:spPr>
          <a:xfrm>
            <a:off x="320040" y="1051560"/>
            <a:ext cx="4892040" cy="347472"/>
          </a:xfrm>
          <a:prstGeom prst="rect">
            <a:avLst/>
          </a:prstGeom>
          <a:noFill/>
          <a:ln/>
        </p:spPr>
        <p:txBody>
          <a:bodyPr wrap="square" lIns="0" tIns="0" rIns="0" bIns="0" rtlCol="0" anchor="ctr"/>
          <a:lstStyle/>
          <a:p>
            <a:pPr indent="0" marL="0">
              <a:buNone/>
            </a:pPr>
            <a:r>
              <a:rPr lang="en-US" sz="900" b="1" spc="200" kern="0" dirty="0">
                <a:solidFill>
                  <a:srgbClr val="F4A223"/>
                </a:solidFill>
              </a:rPr>
              <a:t>PERMISSIONS &amp; CAPABILITIES</a:t>
            </a:r>
            <a:endParaRPr lang="en-US" sz="900" dirty="0"/>
          </a:p>
        </p:txBody>
      </p:sp>
      <p:sp>
        <p:nvSpPr>
          <p:cNvPr id="13" name="Shape 11"/>
          <p:cNvSpPr/>
          <p:nvPr/>
        </p:nvSpPr>
        <p:spPr>
          <a:xfrm>
            <a:off x="320040" y="1591056"/>
            <a:ext cx="118872" cy="118872"/>
          </a:xfrm>
          <a:prstGeom prst="ellipse">
            <a:avLst/>
          </a:prstGeom>
          <a:solidFill>
            <a:srgbClr val="4A90D9"/>
          </a:solidFill>
          <a:ln/>
        </p:spPr>
      </p:sp>
      <p:sp>
        <p:nvSpPr>
          <p:cNvPr id="14" name="Text 12"/>
          <p:cNvSpPr/>
          <p:nvPr/>
        </p:nvSpPr>
        <p:spPr>
          <a:xfrm>
            <a:off x="502920" y="1517904"/>
            <a:ext cx="2240280" cy="201168"/>
          </a:xfrm>
          <a:prstGeom prst="rect">
            <a:avLst/>
          </a:prstGeom>
          <a:noFill/>
          <a:ln/>
        </p:spPr>
        <p:txBody>
          <a:bodyPr wrap="square" lIns="0" tIns="0" rIns="0" bIns="0" rtlCol="0" anchor="ctr"/>
          <a:lstStyle/>
          <a:p>
            <a:pPr indent="0" marL="0">
              <a:buNone/>
            </a:pPr>
            <a:r>
              <a:rPr lang="en-US" sz="950" b="1" dirty="0">
                <a:solidFill>
                  <a:srgbClr val="1A2340"/>
                </a:solidFill>
              </a:rPr>
              <a:t>Survey Programs</a:t>
            </a:r>
            <a:endParaRPr lang="en-US" sz="950" dirty="0"/>
          </a:p>
        </p:txBody>
      </p:sp>
      <p:sp>
        <p:nvSpPr>
          <p:cNvPr id="15" name="Text 13"/>
          <p:cNvSpPr/>
          <p:nvPr/>
        </p:nvSpPr>
        <p:spPr>
          <a:xfrm>
            <a:off x="502920" y="1719072"/>
            <a:ext cx="2240280" cy="256032"/>
          </a:xfrm>
          <a:prstGeom prst="rect">
            <a:avLst/>
          </a:prstGeom>
          <a:noFill/>
          <a:ln/>
        </p:spPr>
        <p:txBody>
          <a:bodyPr wrap="square" lIns="0" tIns="0" rIns="0" bIns="0" rtlCol="0" anchor="ctr"/>
          <a:lstStyle/>
          <a:p>
            <a:pPr indent="0" marL="0">
              <a:lnSpc>
                <a:spcPct val="110000"/>
              </a:lnSpc>
              <a:buNone/>
            </a:pPr>
            <a:r>
              <a:rPr lang="en-US" sz="800" dirty="0">
                <a:solidFill>
                  <a:srgbClr val="64748B"/>
                </a:solidFill>
              </a:rPr>
              <a:t>Access to all survey programs; create, edit, modify surveys &amp; distributions</a:t>
            </a:r>
            <a:endParaRPr lang="en-US" sz="800" dirty="0"/>
          </a:p>
        </p:txBody>
      </p:sp>
      <p:sp>
        <p:nvSpPr>
          <p:cNvPr id="16" name="Shape 14"/>
          <p:cNvSpPr/>
          <p:nvPr/>
        </p:nvSpPr>
        <p:spPr>
          <a:xfrm>
            <a:off x="320040" y="2066544"/>
            <a:ext cx="118872" cy="118872"/>
          </a:xfrm>
          <a:prstGeom prst="ellipse">
            <a:avLst/>
          </a:prstGeom>
          <a:solidFill>
            <a:srgbClr val="4A90D9"/>
          </a:solidFill>
          <a:ln/>
        </p:spPr>
      </p:sp>
      <p:sp>
        <p:nvSpPr>
          <p:cNvPr id="17" name="Text 15"/>
          <p:cNvSpPr/>
          <p:nvPr/>
        </p:nvSpPr>
        <p:spPr>
          <a:xfrm>
            <a:off x="502920" y="1993392"/>
            <a:ext cx="2240280" cy="201168"/>
          </a:xfrm>
          <a:prstGeom prst="rect">
            <a:avLst/>
          </a:prstGeom>
          <a:noFill/>
          <a:ln/>
        </p:spPr>
        <p:txBody>
          <a:bodyPr wrap="square" lIns="0" tIns="0" rIns="0" bIns="0" rtlCol="0" anchor="ctr"/>
          <a:lstStyle/>
          <a:p>
            <a:pPr indent="0" marL="0">
              <a:buNone/>
            </a:pPr>
            <a:r>
              <a:rPr lang="en-US" sz="950" b="1" dirty="0">
                <a:solidFill>
                  <a:srgbClr val="1A2340"/>
                </a:solidFill>
              </a:rPr>
              <a:t>360 Feedback</a:t>
            </a:r>
            <a:endParaRPr lang="en-US" sz="950" dirty="0"/>
          </a:p>
        </p:txBody>
      </p:sp>
      <p:sp>
        <p:nvSpPr>
          <p:cNvPr id="18" name="Text 16"/>
          <p:cNvSpPr/>
          <p:nvPr/>
        </p:nvSpPr>
        <p:spPr>
          <a:xfrm>
            <a:off x="502920" y="2194560"/>
            <a:ext cx="2240280" cy="256032"/>
          </a:xfrm>
          <a:prstGeom prst="rect">
            <a:avLst/>
          </a:prstGeom>
          <a:noFill/>
          <a:ln/>
        </p:spPr>
        <p:txBody>
          <a:bodyPr wrap="square" lIns="0" tIns="0" rIns="0" bIns="0" rtlCol="0" anchor="ctr"/>
          <a:lstStyle/>
          <a:p>
            <a:pPr indent="0" marL="0">
              <a:lnSpc>
                <a:spcPct val="110000"/>
              </a:lnSpc>
              <a:buNone/>
            </a:pPr>
            <a:r>
              <a:rPr lang="en-US" sz="800" dirty="0">
                <a:solidFill>
                  <a:srgbClr val="64748B"/>
                </a:solidFill>
              </a:rPr>
              <a:t>Full access including 360 subject/evaluator participation</a:t>
            </a:r>
            <a:endParaRPr lang="en-US" sz="800" dirty="0"/>
          </a:p>
        </p:txBody>
      </p:sp>
      <p:sp>
        <p:nvSpPr>
          <p:cNvPr id="19" name="Shape 17"/>
          <p:cNvSpPr/>
          <p:nvPr/>
        </p:nvSpPr>
        <p:spPr>
          <a:xfrm>
            <a:off x="320040" y="2542032"/>
            <a:ext cx="118872" cy="118872"/>
          </a:xfrm>
          <a:prstGeom prst="ellipse">
            <a:avLst/>
          </a:prstGeom>
          <a:solidFill>
            <a:srgbClr val="4A90D9"/>
          </a:solidFill>
          <a:ln/>
        </p:spPr>
      </p:sp>
      <p:sp>
        <p:nvSpPr>
          <p:cNvPr id="20" name="Text 18"/>
          <p:cNvSpPr/>
          <p:nvPr/>
        </p:nvSpPr>
        <p:spPr>
          <a:xfrm>
            <a:off x="502920" y="2468880"/>
            <a:ext cx="2240280" cy="201168"/>
          </a:xfrm>
          <a:prstGeom prst="rect">
            <a:avLst/>
          </a:prstGeom>
          <a:noFill/>
          <a:ln/>
        </p:spPr>
        <p:txBody>
          <a:bodyPr wrap="square" lIns="0" tIns="0" rIns="0" bIns="0" rtlCol="0" anchor="ctr"/>
          <a:lstStyle/>
          <a:p>
            <a:pPr indent="0" marL="0">
              <a:buNone/>
            </a:pPr>
            <a:r>
              <a:rPr lang="en-US" sz="950" b="1" dirty="0">
                <a:solidFill>
                  <a:srgbClr val="1A2340"/>
                </a:solidFill>
              </a:rPr>
              <a:t>Engagement &amp; Lifecycle</a:t>
            </a:r>
            <a:endParaRPr lang="en-US" sz="950" dirty="0"/>
          </a:p>
        </p:txBody>
      </p:sp>
      <p:sp>
        <p:nvSpPr>
          <p:cNvPr id="21" name="Text 19"/>
          <p:cNvSpPr/>
          <p:nvPr/>
        </p:nvSpPr>
        <p:spPr>
          <a:xfrm>
            <a:off x="502920" y="2670048"/>
            <a:ext cx="2240280" cy="256032"/>
          </a:xfrm>
          <a:prstGeom prst="rect">
            <a:avLst/>
          </a:prstGeom>
          <a:noFill/>
          <a:ln/>
        </p:spPr>
        <p:txBody>
          <a:bodyPr wrap="square" lIns="0" tIns="0" rIns="0" bIns="0" rtlCol="0" anchor="ctr"/>
          <a:lstStyle/>
          <a:p>
            <a:pPr indent="0" marL="0">
              <a:lnSpc>
                <a:spcPct val="110000"/>
              </a:lnSpc>
              <a:buNone/>
            </a:pPr>
            <a:r>
              <a:rPr lang="en-US" sz="800" dirty="0">
                <a:solidFill>
                  <a:srgbClr val="64748B"/>
                </a:solidFill>
              </a:rPr>
              <a:t>Manage ad hoc, recurring, and lifecycle survey programs</a:t>
            </a:r>
            <a:endParaRPr lang="en-US" sz="800" dirty="0"/>
          </a:p>
        </p:txBody>
      </p:sp>
      <p:sp>
        <p:nvSpPr>
          <p:cNvPr id="22" name="Shape 20"/>
          <p:cNvSpPr/>
          <p:nvPr/>
        </p:nvSpPr>
        <p:spPr>
          <a:xfrm>
            <a:off x="320040" y="3017520"/>
            <a:ext cx="118872" cy="118872"/>
          </a:xfrm>
          <a:prstGeom prst="ellipse">
            <a:avLst/>
          </a:prstGeom>
          <a:solidFill>
            <a:srgbClr val="4A90D9"/>
          </a:solidFill>
          <a:ln/>
        </p:spPr>
      </p:sp>
      <p:sp>
        <p:nvSpPr>
          <p:cNvPr id="23" name="Text 21"/>
          <p:cNvSpPr/>
          <p:nvPr/>
        </p:nvSpPr>
        <p:spPr>
          <a:xfrm>
            <a:off x="502920" y="2944368"/>
            <a:ext cx="2240280" cy="201168"/>
          </a:xfrm>
          <a:prstGeom prst="rect">
            <a:avLst/>
          </a:prstGeom>
          <a:noFill/>
          <a:ln/>
        </p:spPr>
        <p:txBody>
          <a:bodyPr wrap="square" lIns="0" tIns="0" rIns="0" bIns="0" rtlCol="0" anchor="ctr"/>
          <a:lstStyle/>
          <a:p>
            <a:pPr indent="0" marL="0">
              <a:buNone/>
            </a:pPr>
            <a:r>
              <a:rPr lang="en-US" sz="950" b="1" dirty="0">
                <a:solidFill>
                  <a:srgbClr val="1A2340"/>
                </a:solidFill>
              </a:rPr>
              <a:t>Survey Participation</a:t>
            </a:r>
            <a:endParaRPr lang="en-US" sz="950" dirty="0"/>
          </a:p>
        </p:txBody>
      </p:sp>
      <p:sp>
        <p:nvSpPr>
          <p:cNvPr id="24" name="Text 22"/>
          <p:cNvSpPr/>
          <p:nvPr/>
        </p:nvSpPr>
        <p:spPr>
          <a:xfrm>
            <a:off x="502920" y="3145536"/>
            <a:ext cx="2240280" cy="256032"/>
          </a:xfrm>
          <a:prstGeom prst="rect">
            <a:avLst/>
          </a:prstGeom>
          <a:noFill/>
          <a:ln/>
        </p:spPr>
        <p:txBody>
          <a:bodyPr wrap="square" lIns="0" tIns="0" rIns="0" bIns="0" rtlCol="0" anchor="ctr"/>
          <a:lstStyle/>
          <a:p>
            <a:pPr indent="0" marL="0">
              <a:lnSpc>
                <a:spcPct val="110000"/>
              </a:lnSpc>
              <a:buNone/>
            </a:pPr>
            <a:r>
              <a:rPr lang="en-US" sz="800" dirty="0">
                <a:solidFill>
                  <a:srgbClr val="64748B"/>
                </a:solidFill>
              </a:rPr>
              <a:t>Participate in 360, engagement, ad hoc, and lifecycle surveys</a:t>
            </a:r>
            <a:endParaRPr lang="en-US" sz="800" dirty="0"/>
          </a:p>
        </p:txBody>
      </p:sp>
      <p:sp>
        <p:nvSpPr>
          <p:cNvPr id="25" name="Shape 23"/>
          <p:cNvSpPr/>
          <p:nvPr/>
        </p:nvSpPr>
        <p:spPr>
          <a:xfrm>
            <a:off x="2862072" y="1591056"/>
            <a:ext cx="118872" cy="118872"/>
          </a:xfrm>
          <a:prstGeom prst="ellipse">
            <a:avLst/>
          </a:prstGeom>
          <a:solidFill>
            <a:srgbClr val="4A90D9"/>
          </a:solidFill>
          <a:ln/>
        </p:spPr>
      </p:sp>
      <p:sp>
        <p:nvSpPr>
          <p:cNvPr id="26" name="Text 24"/>
          <p:cNvSpPr/>
          <p:nvPr/>
        </p:nvSpPr>
        <p:spPr>
          <a:xfrm>
            <a:off x="3044952" y="1517904"/>
            <a:ext cx="2240280" cy="201168"/>
          </a:xfrm>
          <a:prstGeom prst="rect">
            <a:avLst/>
          </a:prstGeom>
          <a:noFill/>
          <a:ln/>
        </p:spPr>
        <p:txBody>
          <a:bodyPr wrap="square" lIns="0" tIns="0" rIns="0" bIns="0" rtlCol="0" anchor="ctr"/>
          <a:lstStyle/>
          <a:p>
            <a:pPr indent="0" marL="0">
              <a:buNone/>
            </a:pPr>
            <a:r>
              <a:rPr lang="en-US" sz="950" b="1" dirty="0">
                <a:solidFill>
                  <a:srgbClr val="1A2340"/>
                </a:solidFill>
              </a:rPr>
              <a:t>Dashboards &amp; Reports</a:t>
            </a:r>
            <a:endParaRPr lang="en-US" sz="950" dirty="0"/>
          </a:p>
        </p:txBody>
      </p:sp>
      <p:sp>
        <p:nvSpPr>
          <p:cNvPr id="27" name="Text 25"/>
          <p:cNvSpPr/>
          <p:nvPr/>
        </p:nvSpPr>
        <p:spPr>
          <a:xfrm>
            <a:off x="3044952" y="1719072"/>
            <a:ext cx="2240280" cy="256032"/>
          </a:xfrm>
          <a:prstGeom prst="rect">
            <a:avLst/>
          </a:prstGeom>
          <a:noFill/>
          <a:ln/>
        </p:spPr>
        <p:txBody>
          <a:bodyPr wrap="square" lIns="0" tIns="0" rIns="0" bIns="0" rtlCol="0" anchor="ctr"/>
          <a:lstStyle/>
          <a:p>
            <a:pPr indent="0" marL="0">
              <a:lnSpc>
                <a:spcPct val="110000"/>
              </a:lnSpc>
              <a:buNone/>
            </a:pPr>
            <a:r>
              <a:rPr lang="en-US" sz="800" dirty="0">
                <a:solidFill>
                  <a:srgbClr val="64748B"/>
                </a:solidFill>
              </a:rPr>
              <a:t>Ad hoc filtering, company-wide alerts; same access as Service Admin</a:t>
            </a:r>
            <a:endParaRPr lang="en-US" sz="800" dirty="0"/>
          </a:p>
        </p:txBody>
      </p:sp>
      <p:sp>
        <p:nvSpPr>
          <p:cNvPr id="28" name="Shape 26"/>
          <p:cNvSpPr/>
          <p:nvPr/>
        </p:nvSpPr>
        <p:spPr>
          <a:xfrm>
            <a:off x="2862072" y="2066544"/>
            <a:ext cx="118872" cy="118872"/>
          </a:xfrm>
          <a:prstGeom prst="ellipse">
            <a:avLst/>
          </a:prstGeom>
          <a:solidFill>
            <a:srgbClr val="4A90D9"/>
          </a:solidFill>
          <a:ln/>
        </p:spPr>
      </p:sp>
      <p:sp>
        <p:nvSpPr>
          <p:cNvPr id="29" name="Text 27"/>
          <p:cNvSpPr/>
          <p:nvPr/>
        </p:nvSpPr>
        <p:spPr>
          <a:xfrm>
            <a:off x="3044952" y="1993392"/>
            <a:ext cx="2240280" cy="201168"/>
          </a:xfrm>
          <a:prstGeom prst="rect">
            <a:avLst/>
          </a:prstGeom>
          <a:noFill/>
          <a:ln/>
        </p:spPr>
        <p:txBody>
          <a:bodyPr wrap="square" lIns="0" tIns="0" rIns="0" bIns="0" rtlCol="0" anchor="ctr"/>
          <a:lstStyle/>
          <a:p>
            <a:pPr indent="0" marL="0">
              <a:buNone/>
            </a:pPr>
            <a:r>
              <a:rPr lang="en-US" sz="950" b="1" dirty="0">
                <a:solidFill>
                  <a:srgbClr val="1A2340"/>
                </a:solidFill>
              </a:rPr>
              <a:t>Nudge Notifications</a:t>
            </a:r>
            <a:endParaRPr lang="en-US" sz="950" dirty="0"/>
          </a:p>
        </p:txBody>
      </p:sp>
      <p:sp>
        <p:nvSpPr>
          <p:cNvPr id="30" name="Text 28"/>
          <p:cNvSpPr/>
          <p:nvPr/>
        </p:nvSpPr>
        <p:spPr>
          <a:xfrm>
            <a:off x="3044952" y="2194560"/>
            <a:ext cx="2240280" cy="256032"/>
          </a:xfrm>
          <a:prstGeom prst="rect">
            <a:avLst/>
          </a:prstGeom>
          <a:noFill/>
          <a:ln/>
        </p:spPr>
        <p:txBody>
          <a:bodyPr wrap="square" lIns="0" tIns="0" rIns="0" bIns="0" rtlCol="0" anchor="ctr"/>
          <a:lstStyle/>
          <a:p>
            <a:pPr indent="0" marL="0">
              <a:lnSpc>
                <a:spcPct val="110000"/>
              </a:lnSpc>
              <a:buNone/>
            </a:pPr>
            <a:r>
              <a:rPr lang="en-US" sz="800" dirty="0">
                <a:solidFill>
                  <a:srgbClr val="64748B"/>
                </a:solidFill>
              </a:rPr>
              <a:t>Create and manage nudge notifications</a:t>
            </a:r>
            <a:endParaRPr lang="en-US" sz="800" dirty="0"/>
          </a:p>
        </p:txBody>
      </p:sp>
      <p:sp>
        <p:nvSpPr>
          <p:cNvPr id="31" name="Shape 29"/>
          <p:cNvSpPr/>
          <p:nvPr/>
        </p:nvSpPr>
        <p:spPr>
          <a:xfrm>
            <a:off x="2862072" y="2542032"/>
            <a:ext cx="118872" cy="118872"/>
          </a:xfrm>
          <a:prstGeom prst="ellipse">
            <a:avLst/>
          </a:prstGeom>
          <a:solidFill>
            <a:srgbClr val="4A90D9"/>
          </a:solidFill>
          <a:ln/>
        </p:spPr>
      </p:sp>
      <p:sp>
        <p:nvSpPr>
          <p:cNvPr id="32" name="Text 30"/>
          <p:cNvSpPr/>
          <p:nvPr/>
        </p:nvSpPr>
        <p:spPr>
          <a:xfrm>
            <a:off x="3044952" y="2468880"/>
            <a:ext cx="2240280" cy="201168"/>
          </a:xfrm>
          <a:prstGeom prst="rect">
            <a:avLst/>
          </a:prstGeom>
          <a:noFill/>
          <a:ln/>
        </p:spPr>
        <p:txBody>
          <a:bodyPr wrap="square" lIns="0" tIns="0" rIns="0" bIns="0" rtlCol="0" anchor="ctr"/>
          <a:lstStyle/>
          <a:p>
            <a:pPr indent="0" marL="0">
              <a:buNone/>
            </a:pPr>
            <a:r>
              <a:rPr lang="en-US" sz="950" b="1" dirty="0">
                <a:solidFill>
                  <a:srgbClr val="1A2340"/>
                </a:solidFill>
              </a:rPr>
              <a:t>Survey Distribution</a:t>
            </a:r>
            <a:endParaRPr lang="en-US" sz="950" dirty="0"/>
          </a:p>
        </p:txBody>
      </p:sp>
      <p:sp>
        <p:nvSpPr>
          <p:cNvPr id="33" name="Text 31"/>
          <p:cNvSpPr/>
          <p:nvPr/>
        </p:nvSpPr>
        <p:spPr>
          <a:xfrm>
            <a:off x="3044952" y="2670048"/>
            <a:ext cx="2240280" cy="256032"/>
          </a:xfrm>
          <a:prstGeom prst="rect">
            <a:avLst/>
          </a:prstGeom>
          <a:noFill/>
          <a:ln/>
        </p:spPr>
        <p:txBody>
          <a:bodyPr wrap="square" lIns="0" tIns="0" rIns="0" bIns="0" rtlCol="0" anchor="ctr"/>
          <a:lstStyle/>
          <a:p>
            <a:pPr indent="0" marL="0">
              <a:lnSpc>
                <a:spcPct val="110000"/>
              </a:lnSpc>
              <a:buNone/>
            </a:pPr>
            <a:r>
              <a:rPr lang="en-US" sz="800" dirty="0">
                <a:solidFill>
                  <a:srgbClr val="64748B"/>
                </a:solidFill>
              </a:rPr>
              <a:t>Distribute surveys using existing enterprise data</a:t>
            </a:r>
            <a:endParaRPr lang="en-US" sz="800" dirty="0"/>
          </a:p>
        </p:txBody>
      </p:sp>
      <p:sp>
        <p:nvSpPr>
          <p:cNvPr id="34" name="Shape 32"/>
          <p:cNvSpPr/>
          <p:nvPr/>
        </p:nvSpPr>
        <p:spPr>
          <a:xfrm>
            <a:off x="2862072" y="3017520"/>
            <a:ext cx="118872" cy="118872"/>
          </a:xfrm>
          <a:prstGeom prst="ellipse">
            <a:avLst/>
          </a:prstGeom>
          <a:solidFill>
            <a:srgbClr val="4A90D9"/>
          </a:solidFill>
          <a:ln/>
        </p:spPr>
      </p:sp>
      <p:sp>
        <p:nvSpPr>
          <p:cNvPr id="35" name="Text 33"/>
          <p:cNvSpPr/>
          <p:nvPr/>
        </p:nvSpPr>
        <p:spPr>
          <a:xfrm>
            <a:off x="3044952" y="2944368"/>
            <a:ext cx="2240280" cy="201168"/>
          </a:xfrm>
          <a:prstGeom prst="rect">
            <a:avLst/>
          </a:prstGeom>
          <a:noFill/>
          <a:ln/>
        </p:spPr>
        <p:txBody>
          <a:bodyPr wrap="square" lIns="0" tIns="0" rIns="0" bIns="0" rtlCol="0" anchor="ctr"/>
          <a:lstStyle/>
          <a:p>
            <a:pPr indent="0" marL="0">
              <a:buNone/>
            </a:pPr>
            <a:r>
              <a:rPr lang="en-US" sz="950" b="1" dirty="0">
                <a:solidFill>
                  <a:srgbClr val="1A2340"/>
                </a:solidFill>
              </a:rPr>
              <a:t>❌ No sensitive comments</a:t>
            </a:r>
            <a:endParaRPr lang="en-US" sz="950" dirty="0"/>
          </a:p>
        </p:txBody>
      </p:sp>
      <p:sp>
        <p:nvSpPr>
          <p:cNvPr id="36" name="Text 34"/>
          <p:cNvSpPr/>
          <p:nvPr/>
        </p:nvSpPr>
        <p:spPr>
          <a:xfrm>
            <a:off x="3044952" y="3145536"/>
            <a:ext cx="2240280" cy="256032"/>
          </a:xfrm>
          <a:prstGeom prst="rect">
            <a:avLst/>
          </a:prstGeom>
          <a:noFill/>
          <a:ln/>
        </p:spPr>
        <p:txBody>
          <a:bodyPr wrap="square" lIns="0" tIns="0" rIns="0" bIns="0" rtlCol="0" anchor="ctr"/>
          <a:lstStyle/>
          <a:p>
            <a:pPr indent="0" marL="0">
              <a:lnSpc>
                <a:spcPct val="110000"/>
              </a:lnSpc>
              <a:buNone/>
            </a:pPr>
            <a:r>
              <a:rPr lang="en-US" sz="800" dirty="0">
                <a:solidFill>
                  <a:srgbClr val="64748B"/>
                </a:solidFill>
              </a:rPr>
              <a:t>Cannot view, redact, or quarantine sensitive comments</a:t>
            </a:r>
            <a:endParaRPr lang="en-US" sz="800" dirty="0"/>
          </a:p>
        </p:txBody>
      </p:sp>
      <p:sp>
        <p:nvSpPr>
          <p:cNvPr id="37" name="Shape 35"/>
          <p:cNvSpPr/>
          <p:nvPr/>
        </p:nvSpPr>
        <p:spPr>
          <a:xfrm>
            <a:off x="5468112" y="1051560"/>
            <a:ext cx="3474720" cy="749808"/>
          </a:xfrm>
          <a:prstGeom prst="rect">
            <a:avLst/>
          </a:prstGeom>
          <a:solidFill>
            <a:srgbClr val="1E2761"/>
          </a:solidFill>
          <a:ln/>
          <a:effectLst>
            <a:outerShdw sx="100000" sy="100000" kx="0" ky="0" algn="bl" rotWithShape="0" blurRad="101600" dist="38100" dir="8100000">
              <a:srgbClr val="000000">
                <a:alpha val="12000"/>
              </a:srgbClr>
            </a:outerShdw>
          </a:effectLst>
        </p:spPr>
      </p:sp>
      <p:sp>
        <p:nvSpPr>
          <p:cNvPr id="38" name="Shape 36"/>
          <p:cNvSpPr/>
          <p:nvPr/>
        </p:nvSpPr>
        <p:spPr>
          <a:xfrm>
            <a:off x="5468112" y="1051560"/>
            <a:ext cx="54864" cy="749808"/>
          </a:xfrm>
          <a:prstGeom prst="rect">
            <a:avLst/>
          </a:prstGeom>
          <a:solidFill>
            <a:srgbClr val="4A90D9"/>
          </a:solidFill>
          <a:ln/>
        </p:spPr>
      </p:sp>
      <p:sp>
        <p:nvSpPr>
          <p:cNvPr id="39" name="Text 37"/>
          <p:cNvSpPr/>
          <p:nvPr/>
        </p:nvSpPr>
        <p:spPr>
          <a:xfrm>
            <a:off x="5577840" y="1088136"/>
            <a:ext cx="3310128" cy="201168"/>
          </a:xfrm>
          <a:prstGeom prst="rect">
            <a:avLst/>
          </a:prstGeom>
          <a:noFill/>
          <a:ln/>
        </p:spPr>
        <p:txBody>
          <a:bodyPr wrap="square" lIns="0" tIns="0" rIns="0" bIns="0" rtlCol="0" anchor="ctr"/>
          <a:lstStyle/>
          <a:p>
            <a:pPr indent="0" marL="0">
              <a:buNone/>
            </a:pPr>
            <a:r>
              <a:rPr lang="en-US" sz="750" b="1" spc="150" kern="0" dirty="0">
                <a:solidFill>
                  <a:srgbClr val="4A90D9"/>
                </a:solidFill>
              </a:rPr>
              <a:t>DATA ACCESSIBLE</a:t>
            </a:r>
            <a:endParaRPr lang="en-US" sz="750" dirty="0"/>
          </a:p>
        </p:txBody>
      </p:sp>
      <p:sp>
        <p:nvSpPr>
          <p:cNvPr id="40" name="Text 38"/>
          <p:cNvSpPr/>
          <p:nvPr/>
        </p:nvSpPr>
        <p:spPr>
          <a:xfrm>
            <a:off x="5577840" y="1298448"/>
            <a:ext cx="3310128" cy="457200"/>
          </a:xfrm>
          <a:prstGeom prst="rect">
            <a:avLst/>
          </a:prstGeom>
          <a:noFill/>
          <a:ln/>
        </p:spPr>
        <p:txBody>
          <a:bodyPr wrap="square" lIns="0" tIns="0" rIns="0" bIns="0" rtlCol="0" anchor="ctr"/>
          <a:lstStyle/>
          <a:p>
            <a:pPr indent="0" marL="0">
              <a:lnSpc>
                <a:spcPct val="115000"/>
              </a:lnSpc>
              <a:buNone/>
            </a:pPr>
            <a:r>
              <a:rPr lang="en-US" sz="880" dirty="0">
                <a:solidFill>
                  <a:srgbClr val="FFFFFF"/>
                </a:solidFill>
              </a:rPr>
              <a:t>All survey data &amp; population data; no data management or advanced config</a:t>
            </a:r>
            <a:endParaRPr lang="en-US" sz="880" dirty="0"/>
          </a:p>
        </p:txBody>
      </p:sp>
      <p:sp>
        <p:nvSpPr>
          <p:cNvPr id="41" name="Shape 39"/>
          <p:cNvSpPr/>
          <p:nvPr/>
        </p:nvSpPr>
        <p:spPr>
          <a:xfrm>
            <a:off x="5468112" y="1837944"/>
            <a:ext cx="3474720" cy="749808"/>
          </a:xfrm>
          <a:prstGeom prst="rect">
            <a:avLst/>
          </a:prstGeom>
          <a:solidFill>
            <a:srgbClr val="1B5E7B"/>
          </a:solidFill>
          <a:ln/>
          <a:effectLst>
            <a:outerShdw sx="100000" sy="100000" kx="0" ky="0" algn="bl" rotWithShape="0" blurRad="101600" dist="38100" dir="8100000">
              <a:srgbClr val="000000">
                <a:alpha val="12000"/>
              </a:srgbClr>
            </a:outerShdw>
          </a:effectLst>
        </p:spPr>
      </p:sp>
      <p:sp>
        <p:nvSpPr>
          <p:cNvPr id="42" name="Shape 40"/>
          <p:cNvSpPr/>
          <p:nvPr/>
        </p:nvSpPr>
        <p:spPr>
          <a:xfrm>
            <a:off x="5468112" y="1837944"/>
            <a:ext cx="54864" cy="749808"/>
          </a:xfrm>
          <a:prstGeom prst="rect">
            <a:avLst/>
          </a:prstGeom>
          <a:solidFill>
            <a:srgbClr val="4A90D9"/>
          </a:solidFill>
          <a:ln/>
        </p:spPr>
      </p:sp>
      <p:sp>
        <p:nvSpPr>
          <p:cNvPr id="43" name="Text 41"/>
          <p:cNvSpPr/>
          <p:nvPr/>
        </p:nvSpPr>
        <p:spPr>
          <a:xfrm>
            <a:off x="5577840" y="1874520"/>
            <a:ext cx="3310128" cy="201168"/>
          </a:xfrm>
          <a:prstGeom prst="rect">
            <a:avLst/>
          </a:prstGeom>
          <a:noFill/>
          <a:ln/>
        </p:spPr>
        <p:txBody>
          <a:bodyPr wrap="square" lIns="0" tIns="0" rIns="0" bIns="0" rtlCol="0" anchor="ctr"/>
          <a:lstStyle/>
          <a:p>
            <a:pPr indent="0" marL="0">
              <a:buNone/>
            </a:pPr>
            <a:r>
              <a:rPr lang="en-US" sz="750" b="1" spc="150" kern="0" dirty="0">
                <a:solidFill>
                  <a:srgbClr val="4A90D9"/>
                </a:solidFill>
              </a:rPr>
              <a:t>POPULATION COVERED</a:t>
            </a:r>
            <a:endParaRPr lang="en-US" sz="750" dirty="0"/>
          </a:p>
        </p:txBody>
      </p:sp>
      <p:sp>
        <p:nvSpPr>
          <p:cNvPr id="44" name="Text 42"/>
          <p:cNvSpPr/>
          <p:nvPr/>
        </p:nvSpPr>
        <p:spPr>
          <a:xfrm>
            <a:off x="5577840" y="2084832"/>
            <a:ext cx="3310128" cy="457200"/>
          </a:xfrm>
          <a:prstGeom prst="rect">
            <a:avLst/>
          </a:prstGeom>
          <a:noFill/>
          <a:ln/>
        </p:spPr>
        <p:txBody>
          <a:bodyPr wrap="square" lIns="0" tIns="0" rIns="0" bIns="0" rtlCol="0" anchor="ctr"/>
          <a:lstStyle/>
          <a:p>
            <a:pPr indent="0" marL="0">
              <a:lnSpc>
                <a:spcPct val="115000"/>
              </a:lnSpc>
              <a:buNone/>
            </a:pPr>
            <a:r>
              <a:rPr lang="en-US" sz="880" dirty="0">
                <a:solidFill>
                  <a:srgbClr val="FFFFFF"/>
                </a:solidFill>
              </a:rPr>
              <a:t>India &amp; UK — HR (non-Colleague Listening)</a:t>
            </a:r>
            <a:endParaRPr lang="en-US" sz="880" dirty="0"/>
          </a:p>
        </p:txBody>
      </p:sp>
      <p:sp>
        <p:nvSpPr>
          <p:cNvPr id="45" name="Shape 43"/>
          <p:cNvSpPr/>
          <p:nvPr/>
        </p:nvSpPr>
        <p:spPr>
          <a:xfrm>
            <a:off x="5468112" y="2624328"/>
            <a:ext cx="3474720" cy="749808"/>
          </a:xfrm>
          <a:prstGeom prst="rect">
            <a:avLst/>
          </a:prstGeom>
          <a:solidFill>
            <a:srgbClr val="1A4A6E"/>
          </a:solidFill>
          <a:ln/>
          <a:effectLst>
            <a:outerShdw sx="100000" sy="100000" kx="0" ky="0" algn="bl" rotWithShape="0" blurRad="101600" dist="38100" dir="8100000">
              <a:srgbClr val="000000">
                <a:alpha val="12000"/>
              </a:srgbClr>
            </a:outerShdw>
          </a:effectLst>
        </p:spPr>
      </p:sp>
      <p:sp>
        <p:nvSpPr>
          <p:cNvPr id="46" name="Shape 44"/>
          <p:cNvSpPr/>
          <p:nvPr/>
        </p:nvSpPr>
        <p:spPr>
          <a:xfrm>
            <a:off x="5468112" y="2624328"/>
            <a:ext cx="54864" cy="749808"/>
          </a:xfrm>
          <a:prstGeom prst="rect">
            <a:avLst/>
          </a:prstGeom>
          <a:solidFill>
            <a:srgbClr val="4A90D9"/>
          </a:solidFill>
          <a:ln/>
        </p:spPr>
      </p:sp>
      <p:sp>
        <p:nvSpPr>
          <p:cNvPr id="47" name="Text 45"/>
          <p:cNvSpPr/>
          <p:nvPr/>
        </p:nvSpPr>
        <p:spPr>
          <a:xfrm>
            <a:off x="5577840" y="2660904"/>
            <a:ext cx="3310128" cy="201168"/>
          </a:xfrm>
          <a:prstGeom prst="rect">
            <a:avLst/>
          </a:prstGeom>
          <a:noFill/>
          <a:ln/>
        </p:spPr>
        <p:txBody>
          <a:bodyPr wrap="square" lIns="0" tIns="0" rIns="0" bIns="0" rtlCol="0" anchor="ctr"/>
          <a:lstStyle/>
          <a:p>
            <a:pPr indent="0" marL="0">
              <a:buNone/>
            </a:pPr>
            <a:r>
              <a:rPr lang="en-US" sz="750" b="1" spc="150" kern="0" dirty="0">
                <a:solidFill>
                  <a:srgbClr val="4A90D9"/>
                </a:solidFill>
              </a:rPr>
              <a:t>WHO RECEIVES ACCESS</a:t>
            </a:r>
            <a:endParaRPr lang="en-US" sz="750" dirty="0"/>
          </a:p>
        </p:txBody>
      </p:sp>
      <p:sp>
        <p:nvSpPr>
          <p:cNvPr id="48" name="Text 46"/>
          <p:cNvSpPr/>
          <p:nvPr/>
        </p:nvSpPr>
        <p:spPr>
          <a:xfrm>
            <a:off x="5577840" y="2871216"/>
            <a:ext cx="3310128" cy="457200"/>
          </a:xfrm>
          <a:prstGeom prst="rect">
            <a:avLst/>
          </a:prstGeom>
          <a:noFill/>
          <a:ln/>
        </p:spPr>
        <p:txBody>
          <a:bodyPr wrap="square" lIns="0" tIns="0" rIns="0" bIns="0" rtlCol="0" anchor="ctr"/>
          <a:lstStyle/>
          <a:p>
            <a:pPr indent="0" marL="0">
              <a:lnSpc>
                <a:spcPct val="115000"/>
              </a:lnSpc>
              <a:buNone/>
            </a:pPr>
            <a:r>
              <a:rPr lang="en-US" sz="880" dirty="0">
                <a:solidFill>
                  <a:srgbClr val="FFFFFF"/>
                </a:solidFill>
              </a:rPr>
              <a:t>Talent Team (Lydia &amp; others), Journey Experts, OE Scientists, OE Team, Culture Team</a:t>
            </a:r>
            <a:endParaRPr lang="en-US" sz="880" dirty="0"/>
          </a:p>
        </p:txBody>
      </p:sp>
      <p:sp>
        <p:nvSpPr>
          <p:cNvPr id="49" name="Shape 47"/>
          <p:cNvSpPr/>
          <p:nvPr/>
        </p:nvSpPr>
        <p:spPr>
          <a:xfrm>
            <a:off x="5468112" y="3410712"/>
            <a:ext cx="3474720" cy="749808"/>
          </a:xfrm>
          <a:prstGeom prst="rect">
            <a:avLst/>
          </a:prstGeom>
          <a:solidFill>
            <a:srgbClr val="16395A"/>
          </a:solidFill>
          <a:ln/>
          <a:effectLst>
            <a:outerShdw sx="100000" sy="100000" kx="0" ky="0" algn="bl" rotWithShape="0" blurRad="101600" dist="38100" dir="8100000">
              <a:srgbClr val="000000">
                <a:alpha val="12000"/>
              </a:srgbClr>
            </a:outerShdw>
          </a:effectLst>
        </p:spPr>
      </p:sp>
      <p:sp>
        <p:nvSpPr>
          <p:cNvPr id="50" name="Shape 48"/>
          <p:cNvSpPr/>
          <p:nvPr/>
        </p:nvSpPr>
        <p:spPr>
          <a:xfrm>
            <a:off x="5468112" y="3410712"/>
            <a:ext cx="54864" cy="749808"/>
          </a:xfrm>
          <a:prstGeom prst="rect">
            <a:avLst/>
          </a:prstGeom>
          <a:solidFill>
            <a:srgbClr val="4A90D9"/>
          </a:solidFill>
          <a:ln/>
        </p:spPr>
      </p:sp>
      <p:sp>
        <p:nvSpPr>
          <p:cNvPr id="51" name="Text 49"/>
          <p:cNvSpPr/>
          <p:nvPr/>
        </p:nvSpPr>
        <p:spPr>
          <a:xfrm>
            <a:off x="5577840" y="3447288"/>
            <a:ext cx="3310128" cy="201168"/>
          </a:xfrm>
          <a:prstGeom prst="rect">
            <a:avLst/>
          </a:prstGeom>
          <a:noFill/>
          <a:ln/>
        </p:spPr>
        <p:txBody>
          <a:bodyPr wrap="square" lIns="0" tIns="0" rIns="0" bIns="0" rtlCol="0" anchor="ctr"/>
          <a:lstStyle/>
          <a:p>
            <a:pPr indent="0" marL="0">
              <a:buNone/>
            </a:pPr>
            <a:r>
              <a:rPr lang="en-US" sz="750" b="1" spc="150" kern="0" dirty="0">
                <a:solidFill>
                  <a:srgbClr val="4A90D9"/>
                </a:solidFill>
              </a:rPr>
              <a:t>WHY THEY NEED IT</a:t>
            </a:r>
            <a:endParaRPr lang="en-US" sz="750" dirty="0"/>
          </a:p>
        </p:txBody>
      </p:sp>
      <p:sp>
        <p:nvSpPr>
          <p:cNvPr id="52" name="Text 50"/>
          <p:cNvSpPr/>
          <p:nvPr/>
        </p:nvSpPr>
        <p:spPr>
          <a:xfrm>
            <a:off x="5577840" y="3657600"/>
            <a:ext cx="3310128" cy="457200"/>
          </a:xfrm>
          <a:prstGeom prst="rect">
            <a:avLst/>
          </a:prstGeom>
          <a:noFill/>
          <a:ln/>
        </p:spPr>
        <p:txBody>
          <a:bodyPr wrap="square" lIns="0" tIns="0" rIns="0" bIns="0" rtlCol="0" anchor="ctr"/>
          <a:lstStyle/>
          <a:p>
            <a:pPr indent="0" marL="0">
              <a:lnSpc>
                <a:spcPct val="115000"/>
              </a:lnSpc>
              <a:buNone/>
            </a:pPr>
            <a:r>
              <a:rPr lang="en-US" sz="880" dirty="0">
                <a:solidFill>
                  <a:srgbClr val="FFFFFF"/>
                </a:solidFill>
              </a:rPr>
              <a:t>Run and author survey programs without needing full admin or data management rights</a:t>
            </a:r>
            <a:endParaRPr lang="en-US" sz="880" dirty="0"/>
          </a:p>
        </p:txBody>
      </p:sp>
      <p:sp>
        <p:nvSpPr>
          <p:cNvPr id="53" name="Shape 51"/>
          <p:cNvSpPr/>
          <p:nvPr/>
        </p:nvSpPr>
        <p:spPr>
          <a:xfrm>
            <a:off x="5468112" y="4197096"/>
            <a:ext cx="3474720" cy="749808"/>
          </a:xfrm>
          <a:prstGeom prst="rect">
            <a:avLst/>
          </a:prstGeom>
          <a:solidFill>
            <a:srgbClr val="0F2640"/>
          </a:solidFill>
          <a:ln/>
          <a:effectLst>
            <a:outerShdw sx="100000" sy="100000" kx="0" ky="0" algn="bl" rotWithShape="0" blurRad="101600" dist="38100" dir="8100000">
              <a:srgbClr val="000000">
                <a:alpha val="12000"/>
              </a:srgbClr>
            </a:outerShdw>
          </a:effectLst>
        </p:spPr>
      </p:sp>
      <p:sp>
        <p:nvSpPr>
          <p:cNvPr id="54" name="Shape 52"/>
          <p:cNvSpPr/>
          <p:nvPr/>
        </p:nvSpPr>
        <p:spPr>
          <a:xfrm>
            <a:off x="5468112" y="4197096"/>
            <a:ext cx="54864" cy="749808"/>
          </a:xfrm>
          <a:prstGeom prst="rect">
            <a:avLst/>
          </a:prstGeom>
          <a:solidFill>
            <a:srgbClr val="4A90D9"/>
          </a:solidFill>
          <a:ln/>
        </p:spPr>
      </p:sp>
      <p:sp>
        <p:nvSpPr>
          <p:cNvPr id="55" name="Text 53"/>
          <p:cNvSpPr/>
          <p:nvPr/>
        </p:nvSpPr>
        <p:spPr>
          <a:xfrm>
            <a:off x="5577840" y="4233672"/>
            <a:ext cx="3310128" cy="201168"/>
          </a:xfrm>
          <a:prstGeom prst="rect">
            <a:avLst/>
          </a:prstGeom>
          <a:noFill/>
          <a:ln/>
        </p:spPr>
        <p:txBody>
          <a:bodyPr wrap="square" lIns="0" tIns="0" rIns="0" bIns="0" rtlCol="0" anchor="ctr"/>
          <a:lstStyle/>
          <a:p>
            <a:pPr indent="0" marL="0">
              <a:buNone/>
            </a:pPr>
            <a:r>
              <a:rPr lang="en-US" sz="750" b="1" spc="150" kern="0" dirty="0">
                <a:solidFill>
                  <a:srgbClr val="4A90D9"/>
                </a:solidFill>
              </a:rPr>
              <a:t>HOW PROVISIONED</a:t>
            </a:r>
            <a:endParaRPr lang="en-US" sz="750" dirty="0"/>
          </a:p>
        </p:txBody>
      </p:sp>
      <p:sp>
        <p:nvSpPr>
          <p:cNvPr id="56" name="Text 54"/>
          <p:cNvSpPr/>
          <p:nvPr/>
        </p:nvSpPr>
        <p:spPr>
          <a:xfrm>
            <a:off x="5577840" y="4443984"/>
            <a:ext cx="3310128" cy="457200"/>
          </a:xfrm>
          <a:prstGeom prst="rect">
            <a:avLst/>
          </a:prstGeom>
          <a:noFill/>
          <a:ln/>
        </p:spPr>
        <p:txBody>
          <a:bodyPr wrap="square" lIns="0" tIns="0" rIns="0" bIns="0" rtlCol="0" anchor="ctr"/>
          <a:lstStyle/>
          <a:p>
            <a:pPr indent="0" marL="0">
              <a:lnSpc>
                <a:spcPct val="115000"/>
              </a:lnSpc>
              <a:buNone/>
            </a:pPr>
            <a:r>
              <a:rPr lang="en-US" sz="880" dirty="0">
                <a:solidFill>
                  <a:srgbClr val="FFFFFF"/>
                </a:solidFill>
              </a:rPr>
              <a:t>Bulk provisioning initially; future requests via Access Request Portal</a:t>
            </a:r>
            <a:endParaRPr lang="en-US" sz="88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6FB"/>
        </a:solidFill>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1E2761"/>
          </a:solidFill>
          <a:ln/>
        </p:spPr>
      </p:sp>
      <p:sp>
        <p:nvSpPr>
          <p:cNvPr id="3" name="Shape 1"/>
          <p:cNvSpPr/>
          <p:nvPr/>
        </p:nvSpPr>
        <p:spPr>
          <a:xfrm>
            <a:off x="0" y="0"/>
            <a:ext cx="201168" cy="960120"/>
          </a:xfrm>
          <a:prstGeom prst="rect">
            <a:avLst/>
          </a:prstGeom>
          <a:solidFill>
            <a:srgbClr val="27AE60"/>
          </a:solidFill>
          <a:ln/>
        </p:spPr>
      </p:sp>
      <p:sp>
        <p:nvSpPr>
          <p:cNvPr id="4" name="Shape 2"/>
          <p:cNvSpPr/>
          <p:nvPr/>
        </p:nvSpPr>
        <p:spPr>
          <a:xfrm>
            <a:off x="347472" y="155448"/>
            <a:ext cx="566928" cy="566928"/>
          </a:xfrm>
          <a:prstGeom prst="ellipse">
            <a:avLst/>
          </a:prstGeom>
          <a:solidFill>
            <a:srgbClr val="27AE60"/>
          </a:solidFill>
          <a:ln/>
          <a:effectLst>
            <a:outerShdw sx="100000" sy="100000" kx="0" ky="0" algn="bl" rotWithShape="0" blurRad="101600" dist="38100" dir="8100000">
              <a:srgbClr val="000000">
                <a:alpha val="12000"/>
              </a:srgbClr>
            </a:outerShdw>
          </a:effectLst>
        </p:spPr>
      </p:sp>
      <p:sp>
        <p:nvSpPr>
          <p:cNvPr id="5" name="Text 3"/>
          <p:cNvSpPr/>
          <p:nvPr/>
        </p:nvSpPr>
        <p:spPr>
          <a:xfrm>
            <a:off x="347472" y="155448"/>
            <a:ext cx="566928" cy="566928"/>
          </a:xfrm>
          <a:prstGeom prst="rect">
            <a:avLst/>
          </a:prstGeom>
          <a:noFill/>
          <a:ln/>
        </p:spPr>
        <p:txBody>
          <a:bodyPr wrap="square" lIns="0" tIns="0" rIns="0" bIns="0" rtlCol="0" anchor="ctr"/>
          <a:lstStyle/>
          <a:p>
            <a:pPr algn="ctr" indent="0" marL="0">
              <a:buNone/>
            </a:pPr>
            <a:r>
              <a:rPr lang="en-US" sz="1800" b="1" dirty="0">
                <a:solidFill>
                  <a:srgbClr val="FFFFFF"/>
                </a:solidFill>
              </a:rPr>
              <a:t>3</a:t>
            </a:r>
            <a:endParaRPr lang="en-US" sz="1800" dirty="0"/>
          </a:p>
        </p:txBody>
      </p:sp>
      <p:sp>
        <p:nvSpPr>
          <p:cNvPr id="6" name="Text 4"/>
          <p:cNvSpPr/>
          <p:nvPr/>
        </p:nvSpPr>
        <p:spPr>
          <a:xfrm>
            <a:off x="1051560" y="91440"/>
            <a:ext cx="5943600" cy="502920"/>
          </a:xfrm>
          <a:prstGeom prst="rect">
            <a:avLst/>
          </a:prstGeom>
          <a:noFill/>
          <a:ln/>
        </p:spPr>
        <p:txBody>
          <a:bodyPr wrap="square" lIns="0" tIns="0" rIns="0" bIns="0" rtlCol="0" anchor="ctr"/>
          <a:lstStyle/>
          <a:p>
            <a:pPr indent="0" marL="0">
              <a:buNone/>
            </a:pPr>
            <a:r>
              <a:rPr lang="en-US" sz="2000" b="1" dirty="0">
                <a:solidFill>
                  <a:srgbClr val="FFFFFF"/>
                </a:solidFill>
              </a:rPr>
              <a:t>Glint Survey Program Owner</a:t>
            </a:r>
            <a:endParaRPr lang="en-US" sz="2000" dirty="0"/>
          </a:p>
        </p:txBody>
      </p:sp>
      <p:sp>
        <p:nvSpPr>
          <p:cNvPr id="7" name="Text 5"/>
          <p:cNvSpPr/>
          <p:nvPr/>
        </p:nvSpPr>
        <p:spPr>
          <a:xfrm>
            <a:off x="1051560" y="594360"/>
            <a:ext cx="5943600" cy="274320"/>
          </a:xfrm>
          <a:prstGeom prst="rect">
            <a:avLst/>
          </a:prstGeom>
          <a:noFill/>
          <a:ln/>
        </p:spPr>
        <p:txBody>
          <a:bodyPr wrap="square" lIns="0" tIns="0" rIns="0" bIns="0" rtlCol="0" anchor="ctr"/>
          <a:lstStyle/>
          <a:p>
            <a:pPr indent="0" marL="0">
              <a:buNone/>
            </a:pPr>
            <a:r>
              <a:rPr lang="en-US" sz="900" dirty="0">
                <a:solidFill>
                  <a:srgbClr val="CADCFC"/>
                </a:solidFill>
              </a:rPr>
              <a:t>Role 3 of 7  |  BUK — Engagement &amp; Lifecycle Only</a:t>
            </a:r>
            <a:endParaRPr lang="en-US" sz="900" dirty="0"/>
          </a:p>
        </p:txBody>
      </p:sp>
      <p:sp>
        <p:nvSpPr>
          <p:cNvPr id="8" name="Shape 6"/>
          <p:cNvSpPr/>
          <p:nvPr/>
        </p:nvSpPr>
        <p:spPr>
          <a:xfrm>
            <a:off x="7863840" y="292608"/>
            <a:ext cx="1097280" cy="347472"/>
          </a:xfrm>
          <a:prstGeom prst="roundRect">
            <a:avLst>
              <a:gd name="adj" fmla="val 21053"/>
            </a:avLst>
          </a:prstGeom>
          <a:solidFill>
            <a:srgbClr val="27AE60"/>
          </a:solidFill>
          <a:ln/>
        </p:spPr>
      </p:sp>
      <p:sp>
        <p:nvSpPr>
          <p:cNvPr id="9" name="Text 7"/>
          <p:cNvSpPr/>
          <p:nvPr/>
        </p:nvSpPr>
        <p:spPr>
          <a:xfrm>
            <a:off x="7863840" y="292608"/>
            <a:ext cx="1097280" cy="347472"/>
          </a:xfrm>
          <a:prstGeom prst="rect">
            <a:avLst/>
          </a:prstGeom>
          <a:noFill/>
          <a:ln/>
        </p:spPr>
        <p:txBody>
          <a:bodyPr wrap="square" lIns="0" tIns="0" rIns="0" bIns="0" rtlCol="0" anchor="ctr"/>
          <a:lstStyle/>
          <a:p>
            <a:pPr algn="ctr" indent="0" marL="0">
              <a:buNone/>
            </a:pPr>
            <a:r>
              <a:rPr lang="en-US" sz="1000" b="1" dirty="0">
                <a:solidFill>
                  <a:srgbClr val="FFFFFF"/>
                </a:solidFill>
              </a:rPr>
              <a:t>Live</a:t>
            </a:r>
            <a:endParaRPr lang="en-US" sz="1000" dirty="0"/>
          </a:p>
        </p:txBody>
      </p:sp>
      <p:sp>
        <p:nvSpPr>
          <p:cNvPr id="10" name="Shape 8"/>
          <p:cNvSpPr/>
          <p:nvPr/>
        </p:nvSpPr>
        <p:spPr>
          <a:xfrm>
            <a:off x="201168" y="1051560"/>
            <a:ext cx="5074920" cy="3886200"/>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11" name="Shape 9"/>
          <p:cNvSpPr/>
          <p:nvPr/>
        </p:nvSpPr>
        <p:spPr>
          <a:xfrm>
            <a:off x="201168" y="1051560"/>
            <a:ext cx="5074920" cy="347472"/>
          </a:xfrm>
          <a:prstGeom prst="rect">
            <a:avLst/>
          </a:prstGeom>
          <a:solidFill>
            <a:srgbClr val="1A2340"/>
          </a:solidFill>
          <a:ln/>
        </p:spPr>
      </p:sp>
      <p:sp>
        <p:nvSpPr>
          <p:cNvPr id="12" name="Text 10"/>
          <p:cNvSpPr/>
          <p:nvPr/>
        </p:nvSpPr>
        <p:spPr>
          <a:xfrm>
            <a:off x="320040" y="1051560"/>
            <a:ext cx="4892040" cy="347472"/>
          </a:xfrm>
          <a:prstGeom prst="rect">
            <a:avLst/>
          </a:prstGeom>
          <a:noFill/>
          <a:ln/>
        </p:spPr>
        <p:txBody>
          <a:bodyPr wrap="square" lIns="0" tIns="0" rIns="0" bIns="0" rtlCol="0" anchor="ctr"/>
          <a:lstStyle/>
          <a:p>
            <a:pPr indent="0" marL="0">
              <a:buNone/>
            </a:pPr>
            <a:r>
              <a:rPr lang="en-US" sz="900" b="1" spc="200" kern="0" dirty="0">
                <a:solidFill>
                  <a:srgbClr val="F4A223"/>
                </a:solidFill>
              </a:rPr>
              <a:t>PERMISSIONS &amp; CAPABILITIES</a:t>
            </a:r>
            <a:endParaRPr lang="en-US" sz="900" dirty="0"/>
          </a:p>
        </p:txBody>
      </p:sp>
      <p:sp>
        <p:nvSpPr>
          <p:cNvPr id="13" name="Shape 11"/>
          <p:cNvSpPr/>
          <p:nvPr/>
        </p:nvSpPr>
        <p:spPr>
          <a:xfrm>
            <a:off x="320040" y="1591056"/>
            <a:ext cx="118872" cy="118872"/>
          </a:xfrm>
          <a:prstGeom prst="ellipse">
            <a:avLst/>
          </a:prstGeom>
          <a:solidFill>
            <a:srgbClr val="27AE60"/>
          </a:solidFill>
          <a:ln/>
        </p:spPr>
      </p:sp>
      <p:sp>
        <p:nvSpPr>
          <p:cNvPr id="14" name="Text 12"/>
          <p:cNvSpPr/>
          <p:nvPr/>
        </p:nvSpPr>
        <p:spPr>
          <a:xfrm>
            <a:off x="502920" y="1517904"/>
            <a:ext cx="2240280" cy="201168"/>
          </a:xfrm>
          <a:prstGeom prst="rect">
            <a:avLst/>
          </a:prstGeom>
          <a:noFill/>
          <a:ln/>
        </p:spPr>
        <p:txBody>
          <a:bodyPr wrap="square" lIns="0" tIns="0" rIns="0" bIns="0" rtlCol="0" anchor="ctr"/>
          <a:lstStyle/>
          <a:p>
            <a:pPr indent="0" marL="0">
              <a:buNone/>
            </a:pPr>
            <a:r>
              <a:rPr lang="en-US" sz="950" b="1" dirty="0">
                <a:solidFill>
                  <a:srgbClr val="1A2340"/>
                </a:solidFill>
              </a:rPr>
              <a:t>Survey Programs</a:t>
            </a:r>
            <a:endParaRPr lang="en-US" sz="950" dirty="0"/>
          </a:p>
        </p:txBody>
      </p:sp>
      <p:sp>
        <p:nvSpPr>
          <p:cNvPr id="15" name="Text 13"/>
          <p:cNvSpPr/>
          <p:nvPr/>
        </p:nvSpPr>
        <p:spPr>
          <a:xfrm>
            <a:off x="502920" y="1719072"/>
            <a:ext cx="2240280" cy="256032"/>
          </a:xfrm>
          <a:prstGeom prst="rect">
            <a:avLst/>
          </a:prstGeom>
          <a:noFill/>
          <a:ln/>
        </p:spPr>
        <p:txBody>
          <a:bodyPr wrap="square" lIns="0" tIns="0" rIns="0" bIns="0" rtlCol="0" anchor="ctr"/>
          <a:lstStyle/>
          <a:p>
            <a:pPr indent="0" marL="0">
              <a:lnSpc>
                <a:spcPct val="110000"/>
              </a:lnSpc>
              <a:buNone/>
            </a:pPr>
            <a:r>
              <a:rPr lang="en-US" sz="800" dirty="0">
                <a:solidFill>
                  <a:srgbClr val="64748B"/>
                </a:solidFill>
              </a:rPr>
              <a:t>All access same as Survey Designer role</a:t>
            </a:r>
            <a:endParaRPr lang="en-US" sz="800" dirty="0"/>
          </a:p>
        </p:txBody>
      </p:sp>
      <p:sp>
        <p:nvSpPr>
          <p:cNvPr id="16" name="Shape 14"/>
          <p:cNvSpPr/>
          <p:nvPr/>
        </p:nvSpPr>
        <p:spPr>
          <a:xfrm>
            <a:off x="320040" y="2066544"/>
            <a:ext cx="118872" cy="118872"/>
          </a:xfrm>
          <a:prstGeom prst="ellipse">
            <a:avLst/>
          </a:prstGeom>
          <a:solidFill>
            <a:srgbClr val="27AE60"/>
          </a:solidFill>
          <a:ln/>
        </p:spPr>
      </p:sp>
      <p:sp>
        <p:nvSpPr>
          <p:cNvPr id="17" name="Text 15"/>
          <p:cNvSpPr/>
          <p:nvPr/>
        </p:nvSpPr>
        <p:spPr>
          <a:xfrm>
            <a:off x="502920" y="1993392"/>
            <a:ext cx="2240280" cy="201168"/>
          </a:xfrm>
          <a:prstGeom prst="rect">
            <a:avLst/>
          </a:prstGeom>
          <a:noFill/>
          <a:ln/>
        </p:spPr>
        <p:txBody>
          <a:bodyPr wrap="square" lIns="0" tIns="0" rIns="0" bIns="0" rtlCol="0" anchor="ctr"/>
          <a:lstStyle/>
          <a:p>
            <a:pPr indent="0" marL="0">
              <a:buNone/>
            </a:pPr>
            <a:r>
              <a:rPr lang="en-US" sz="950" b="1" dirty="0">
                <a:solidFill>
                  <a:srgbClr val="1A2340"/>
                </a:solidFill>
              </a:rPr>
              <a:t>Engagement &amp; Lifecycle</a:t>
            </a:r>
            <a:endParaRPr lang="en-US" sz="950" dirty="0"/>
          </a:p>
        </p:txBody>
      </p:sp>
      <p:sp>
        <p:nvSpPr>
          <p:cNvPr id="18" name="Text 16"/>
          <p:cNvSpPr/>
          <p:nvPr/>
        </p:nvSpPr>
        <p:spPr>
          <a:xfrm>
            <a:off x="502920" y="2194560"/>
            <a:ext cx="2240280" cy="256032"/>
          </a:xfrm>
          <a:prstGeom prst="rect">
            <a:avLst/>
          </a:prstGeom>
          <a:noFill/>
          <a:ln/>
        </p:spPr>
        <p:txBody>
          <a:bodyPr wrap="square" lIns="0" tIns="0" rIns="0" bIns="0" rtlCol="0" anchor="ctr"/>
          <a:lstStyle/>
          <a:p>
            <a:pPr indent="0" marL="0">
              <a:lnSpc>
                <a:spcPct val="110000"/>
              </a:lnSpc>
              <a:buNone/>
            </a:pPr>
            <a:r>
              <a:rPr lang="en-US" sz="800" dirty="0">
                <a:solidFill>
                  <a:srgbClr val="64748B"/>
                </a:solidFill>
              </a:rPr>
              <a:t>Full access to manage recurring, ad hoc, and lifecycle surveys</a:t>
            </a:r>
            <a:endParaRPr lang="en-US" sz="800" dirty="0"/>
          </a:p>
        </p:txBody>
      </p:sp>
      <p:sp>
        <p:nvSpPr>
          <p:cNvPr id="19" name="Shape 17"/>
          <p:cNvSpPr/>
          <p:nvPr/>
        </p:nvSpPr>
        <p:spPr>
          <a:xfrm>
            <a:off x="320040" y="2542032"/>
            <a:ext cx="118872" cy="118872"/>
          </a:xfrm>
          <a:prstGeom prst="ellipse">
            <a:avLst/>
          </a:prstGeom>
          <a:solidFill>
            <a:srgbClr val="27AE60"/>
          </a:solidFill>
          <a:ln/>
        </p:spPr>
      </p:sp>
      <p:sp>
        <p:nvSpPr>
          <p:cNvPr id="20" name="Text 18"/>
          <p:cNvSpPr/>
          <p:nvPr/>
        </p:nvSpPr>
        <p:spPr>
          <a:xfrm>
            <a:off x="502920" y="2468880"/>
            <a:ext cx="2240280" cy="201168"/>
          </a:xfrm>
          <a:prstGeom prst="rect">
            <a:avLst/>
          </a:prstGeom>
          <a:noFill/>
          <a:ln/>
        </p:spPr>
        <p:txBody>
          <a:bodyPr wrap="square" lIns="0" tIns="0" rIns="0" bIns="0" rtlCol="0" anchor="ctr"/>
          <a:lstStyle/>
          <a:p>
            <a:pPr indent="0" marL="0">
              <a:buNone/>
            </a:pPr>
            <a:r>
              <a:rPr lang="en-US" sz="950" b="1" dirty="0">
                <a:solidFill>
                  <a:srgbClr val="1A2340"/>
                </a:solidFill>
              </a:rPr>
              <a:t>Survey Distribution</a:t>
            </a:r>
            <a:endParaRPr lang="en-US" sz="950" dirty="0"/>
          </a:p>
        </p:txBody>
      </p:sp>
      <p:sp>
        <p:nvSpPr>
          <p:cNvPr id="21" name="Text 19"/>
          <p:cNvSpPr/>
          <p:nvPr/>
        </p:nvSpPr>
        <p:spPr>
          <a:xfrm>
            <a:off x="502920" y="2670048"/>
            <a:ext cx="2240280" cy="256032"/>
          </a:xfrm>
          <a:prstGeom prst="rect">
            <a:avLst/>
          </a:prstGeom>
          <a:noFill/>
          <a:ln/>
        </p:spPr>
        <p:txBody>
          <a:bodyPr wrap="square" lIns="0" tIns="0" rIns="0" bIns="0" rtlCol="0" anchor="ctr"/>
          <a:lstStyle/>
          <a:p>
            <a:pPr indent="0" marL="0">
              <a:lnSpc>
                <a:spcPct val="110000"/>
              </a:lnSpc>
              <a:buNone/>
            </a:pPr>
            <a:r>
              <a:rPr lang="en-US" sz="800" dirty="0">
                <a:solidFill>
                  <a:srgbClr val="64748B"/>
                </a:solidFill>
              </a:rPr>
              <a:t>Distribute surveys using existing enterprise data</a:t>
            </a:r>
            <a:endParaRPr lang="en-US" sz="800" dirty="0"/>
          </a:p>
        </p:txBody>
      </p:sp>
      <p:sp>
        <p:nvSpPr>
          <p:cNvPr id="22" name="Shape 20"/>
          <p:cNvSpPr/>
          <p:nvPr/>
        </p:nvSpPr>
        <p:spPr>
          <a:xfrm>
            <a:off x="320040" y="3017520"/>
            <a:ext cx="118872" cy="118872"/>
          </a:xfrm>
          <a:prstGeom prst="ellipse">
            <a:avLst/>
          </a:prstGeom>
          <a:solidFill>
            <a:srgbClr val="27AE60"/>
          </a:solidFill>
          <a:ln/>
        </p:spPr>
      </p:sp>
      <p:sp>
        <p:nvSpPr>
          <p:cNvPr id="23" name="Text 21"/>
          <p:cNvSpPr/>
          <p:nvPr/>
        </p:nvSpPr>
        <p:spPr>
          <a:xfrm>
            <a:off x="502920" y="2944368"/>
            <a:ext cx="2240280" cy="201168"/>
          </a:xfrm>
          <a:prstGeom prst="rect">
            <a:avLst/>
          </a:prstGeom>
          <a:noFill/>
          <a:ln/>
        </p:spPr>
        <p:txBody>
          <a:bodyPr wrap="square" lIns="0" tIns="0" rIns="0" bIns="0" rtlCol="0" anchor="ctr"/>
          <a:lstStyle/>
          <a:p>
            <a:pPr indent="0" marL="0">
              <a:buNone/>
            </a:pPr>
            <a:r>
              <a:rPr lang="en-US" sz="950" b="1" dirty="0">
                <a:solidFill>
                  <a:srgbClr val="1A2340"/>
                </a:solidFill>
              </a:rPr>
              <a:t>Dashboards &amp; Reports</a:t>
            </a:r>
            <a:endParaRPr lang="en-US" sz="950" dirty="0"/>
          </a:p>
        </p:txBody>
      </p:sp>
      <p:sp>
        <p:nvSpPr>
          <p:cNvPr id="24" name="Text 22"/>
          <p:cNvSpPr/>
          <p:nvPr/>
        </p:nvSpPr>
        <p:spPr>
          <a:xfrm>
            <a:off x="502920" y="3145536"/>
            <a:ext cx="2240280" cy="256032"/>
          </a:xfrm>
          <a:prstGeom prst="rect">
            <a:avLst/>
          </a:prstGeom>
          <a:noFill/>
          <a:ln/>
        </p:spPr>
        <p:txBody>
          <a:bodyPr wrap="square" lIns="0" tIns="0" rIns="0" bIns="0" rtlCol="0" anchor="ctr"/>
          <a:lstStyle/>
          <a:p>
            <a:pPr indent="0" marL="0">
              <a:lnSpc>
                <a:spcPct val="110000"/>
              </a:lnSpc>
              <a:buNone/>
            </a:pPr>
            <a:r>
              <a:rPr lang="en-US" sz="800" dirty="0">
                <a:solidFill>
                  <a:srgbClr val="64748B"/>
                </a:solidFill>
              </a:rPr>
              <a:t>Ad hoc filtering, company-wide alerts; same as Survey Designer</a:t>
            </a:r>
            <a:endParaRPr lang="en-US" sz="800" dirty="0"/>
          </a:p>
        </p:txBody>
      </p:sp>
      <p:sp>
        <p:nvSpPr>
          <p:cNvPr id="25" name="Shape 23"/>
          <p:cNvSpPr/>
          <p:nvPr/>
        </p:nvSpPr>
        <p:spPr>
          <a:xfrm>
            <a:off x="2862072" y="1591056"/>
            <a:ext cx="118872" cy="118872"/>
          </a:xfrm>
          <a:prstGeom prst="ellipse">
            <a:avLst/>
          </a:prstGeom>
          <a:solidFill>
            <a:srgbClr val="27AE60"/>
          </a:solidFill>
          <a:ln/>
        </p:spPr>
      </p:sp>
      <p:sp>
        <p:nvSpPr>
          <p:cNvPr id="26" name="Text 24"/>
          <p:cNvSpPr/>
          <p:nvPr/>
        </p:nvSpPr>
        <p:spPr>
          <a:xfrm>
            <a:off x="3044952" y="1517904"/>
            <a:ext cx="2240280" cy="201168"/>
          </a:xfrm>
          <a:prstGeom prst="rect">
            <a:avLst/>
          </a:prstGeom>
          <a:noFill/>
          <a:ln/>
        </p:spPr>
        <p:txBody>
          <a:bodyPr wrap="square" lIns="0" tIns="0" rIns="0" bIns="0" rtlCol="0" anchor="ctr"/>
          <a:lstStyle/>
          <a:p>
            <a:pPr indent="0" marL="0">
              <a:buNone/>
            </a:pPr>
            <a:r>
              <a:rPr lang="en-US" sz="950" b="1" dirty="0">
                <a:solidFill>
                  <a:srgbClr val="1A2340"/>
                </a:solidFill>
              </a:rPr>
              <a:t>Nudge Notifications</a:t>
            </a:r>
            <a:endParaRPr lang="en-US" sz="950" dirty="0"/>
          </a:p>
        </p:txBody>
      </p:sp>
      <p:sp>
        <p:nvSpPr>
          <p:cNvPr id="27" name="Text 25"/>
          <p:cNvSpPr/>
          <p:nvPr/>
        </p:nvSpPr>
        <p:spPr>
          <a:xfrm>
            <a:off x="3044952" y="1719072"/>
            <a:ext cx="2240280" cy="256032"/>
          </a:xfrm>
          <a:prstGeom prst="rect">
            <a:avLst/>
          </a:prstGeom>
          <a:noFill/>
          <a:ln/>
        </p:spPr>
        <p:txBody>
          <a:bodyPr wrap="square" lIns="0" tIns="0" rIns="0" bIns="0" rtlCol="0" anchor="ctr"/>
          <a:lstStyle/>
          <a:p>
            <a:pPr indent="0" marL="0">
              <a:lnSpc>
                <a:spcPct val="110000"/>
              </a:lnSpc>
              <a:buNone/>
            </a:pPr>
            <a:r>
              <a:rPr lang="en-US" sz="800" dirty="0">
                <a:solidFill>
                  <a:srgbClr val="64748B"/>
                </a:solidFill>
              </a:rPr>
              <a:t>Create and manage nudge notifications</a:t>
            </a:r>
            <a:endParaRPr lang="en-US" sz="800" dirty="0"/>
          </a:p>
        </p:txBody>
      </p:sp>
      <p:sp>
        <p:nvSpPr>
          <p:cNvPr id="28" name="Shape 26"/>
          <p:cNvSpPr/>
          <p:nvPr/>
        </p:nvSpPr>
        <p:spPr>
          <a:xfrm>
            <a:off x="2862072" y="2066544"/>
            <a:ext cx="118872" cy="118872"/>
          </a:xfrm>
          <a:prstGeom prst="ellipse">
            <a:avLst/>
          </a:prstGeom>
          <a:solidFill>
            <a:srgbClr val="27AE60"/>
          </a:solidFill>
          <a:ln/>
        </p:spPr>
      </p:sp>
      <p:sp>
        <p:nvSpPr>
          <p:cNvPr id="29" name="Text 27"/>
          <p:cNvSpPr/>
          <p:nvPr/>
        </p:nvSpPr>
        <p:spPr>
          <a:xfrm>
            <a:off x="3044952" y="1993392"/>
            <a:ext cx="2240280" cy="201168"/>
          </a:xfrm>
          <a:prstGeom prst="rect">
            <a:avLst/>
          </a:prstGeom>
          <a:noFill/>
          <a:ln/>
        </p:spPr>
        <p:txBody>
          <a:bodyPr wrap="square" lIns="0" tIns="0" rIns="0" bIns="0" rtlCol="0" anchor="ctr"/>
          <a:lstStyle/>
          <a:p>
            <a:pPr indent="0" marL="0">
              <a:buNone/>
            </a:pPr>
            <a:r>
              <a:rPr lang="en-US" sz="950" b="1" dirty="0">
                <a:solidFill>
                  <a:srgbClr val="1A2340"/>
                </a:solidFill>
              </a:rPr>
              <a:t>Survey Participation</a:t>
            </a:r>
            <a:endParaRPr lang="en-US" sz="950" dirty="0"/>
          </a:p>
        </p:txBody>
      </p:sp>
      <p:sp>
        <p:nvSpPr>
          <p:cNvPr id="30" name="Text 28"/>
          <p:cNvSpPr/>
          <p:nvPr/>
        </p:nvSpPr>
        <p:spPr>
          <a:xfrm>
            <a:off x="3044952" y="2194560"/>
            <a:ext cx="2240280" cy="256032"/>
          </a:xfrm>
          <a:prstGeom prst="rect">
            <a:avLst/>
          </a:prstGeom>
          <a:noFill/>
          <a:ln/>
        </p:spPr>
        <p:txBody>
          <a:bodyPr wrap="square" lIns="0" tIns="0" rIns="0" bIns="0" rtlCol="0" anchor="ctr"/>
          <a:lstStyle/>
          <a:p>
            <a:pPr indent="0" marL="0">
              <a:lnSpc>
                <a:spcPct val="110000"/>
              </a:lnSpc>
              <a:buNone/>
            </a:pPr>
            <a:r>
              <a:rPr lang="en-US" sz="800" dirty="0">
                <a:solidFill>
                  <a:srgbClr val="64748B"/>
                </a:solidFill>
              </a:rPr>
              <a:t>Participate in engagement, ad hoc, and lifecycle surveys</a:t>
            </a:r>
            <a:endParaRPr lang="en-US" sz="800" dirty="0"/>
          </a:p>
        </p:txBody>
      </p:sp>
      <p:sp>
        <p:nvSpPr>
          <p:cNvPr id="31" name="Shape 29"/>
          <p:cNvSpPr/>
          <p:nvPr/>
        </p:nvSpPr>
        <p:spPr>
          <a:xfrm>
            <a:off x="2862072" y="2542032"/>
            <a:ext cx="118872" cy="118872"/>
          </a:xfrm>
          <a:prstGeom prst="ellipse">
            <a:avLst/>
          </a:prstGeom>
          <a:solidFill>
            <a:srgbClr val="27AE60"/>
          </a:solidFill>
          <a:ln/>
        </p:spPr>
      </p:sp>
      <p:sp>
        <p:nvSpPr>
          <p:cNvPr id="32" name="Text 30"/>
          <p:cNvSpPr/>
          <p:nvPr/>
        </p:nvSpPr>
        <p:spPr>
          <a:xfrm>
            <a:off x="3044952" y="2468880"/>
            <a:ext cx="2240280" cy="201168"/>
          </a:xfrm>
          <a:prstGeom prst="rect">
            <a:avLst/>
          </a:prstGeom>
          <a:noFill/>
          <a:ln/>
        </p:spPr>
        <p:txBody>
          <a:bodyPr wrap="square" lIns="0" tIns="0" rIns="0" bIns="0" rtlCol="0" anchor="ctr"/>
          <a:lstStyle/>
          <a:p>
            <a:pPr indent="0" marL="0">
              <a:buNone/>
            </a:pPr>
            <a:r>
              <a:rPr lang="en-US" sz="950" b="1" dirty="0">
                <a:solidFill>
                  <a:srgbClr val="1A2340"/>
                </a:solidFill>
              </a:rPr>
              <a:t>❌ No 360 Feedback</a:t>
            </a:r>
            <a:endParaRPr lang="en-US" sz="950" dirty="0"/>
          </a:p>
        </p:txBody>
      </p:sp>
      <p:sp>
        <p:nvSpPr>
          <p:cNvPr id="33" name="Text 31"/>
          <p:cNvSpPr/>
          <p:nvPr/>
        </p:nvSpPr>
        <p:spPr>
          <a:xfrm>
            <a:off x="3044952" y="2670048"/>
            <a:ext cx="2240280" cy="256032"/>
          </a:xfrm>
          <a:prstGeom prst="rect">
            <a:avLst/>
          </a:prstGeom>
          <a:noFill/>
          <a:ln/>
        </p:spPr>
        <p:txBody>
          <a:bodyPr wrap="square" lIns="0" tIns="0" rIns="0" bIns="0" rtlCol="0" anchor="ctr"/>
          <a:lstStyle/>
          <a:p>
            <a:pPr indent="0" marL="0">
              <a:lnSpc>
                <a:spcPct val="110000"/>
              </a:lnSpc>
              <a:buNone/>
            </a:pPr>
            <a:r>
              <a:rPr lang="en-US" sz="800" dirty="0">
                <a:solidFill>
                  <a:srgbClr val="64748B"/>
                </a:solidFill>
              </a:rPr>
              <a:t>No access to 360 subject/evaluator programs</a:t>
            </a:r>
            <a:endParaRPr lang="en-US" sz="800" dirty="0"/>
          </a:p>
        </p:txBody>
      </p:sp>
      <p:sp>
        <p:nvSpPr>
          <p:cNvPr id="34" name="Shape 32"/>
          <p:cNvSpPr/>
          <p:nvPr/>
        </p:nvSpPr>
        <p:spPr>
          <a:xfrm>
            <a:off x="2862072" y="3017520"/>
            <a:ext cx="118872" cy="118872"/>
          </a:xfrm>
          <a:prstGeom prst="ellipse">
            <a:avLst/>
          </a:prstGeom>
          <a:solidFill>
            <a:srgbClr val="27AE60"/>
          </a:solidFill>
          <a:ln/>
        </p:spPr>
      </p:sp>
      <p:sp>
        <p:nvSpPr>
          <p:cNvPr id="35" name="Text 33"/>
          <p:cNvSpPr/>
          <p:nvPr/>
        </p:nvSpPr>
        <p:spPr>
          <a:xfrm>
            <a:off x="3044952" y="2944368"/>
            <a:ext cx="2240280" cy="201168"/>
          </a:xfrm>
          <a:prstGeom prst="rect">
            <a:avLst/>
          </a:prstGeom>
          <a:noFill/>
          <a:ln/>
        </p:spPr>
        <p:txBody>
          <a:bodyPr wrap="square" lIns="0" tIns="0" rIns="0" bIns="0" rtlCol="0" anchor="ctr"/>
          <a:lstStyle/>
          <a:p>
            <a:pPr indent="0" marL="0">
              <a:buNone/>
            </a:pPr>
            <a:r>
              <a:rPr lang="en-US" sz="950" b="1" dirty="0">
                <a:solidFill>
                  <a:srgbClr val="1A2340"/>
                </a:solidFill>
              </a:rPr>
              <a:t>❌ No Data Mgmt/Adv Config</a:t>
            </a:r>
            <a:endParaRPr lang="en-US" sz="950" dirty="0"/>
          </a:p>
        </p:txBody>
      </p:sp>
      <p:sp>
        <p:nvSpPr>
          <p:cNvPr id="36" name="Text 34"/>
          <p:cNvSpPr/>
          <p:nvPr/>
        </p:nvSpPr>
        <p:spPr>
          <a:xfrm>
            <a:off x="3044952" y="3145536"/>
            <a:ext cx="2240280" cy="256032"/>
          </a:xfrm>
          <a:prstGeom prst="rect">
            <a:avLst/>
          </a:prstGeom>
          <a:noFill/>
          <a:ln/>
        </p:spPr>
        <p:txBody>
          <a:bodyPr wrap="square" lIns="0" tIns="0" rIns="0" bIns="0" rtlCol="0" anchor="ctr"/>
          <a:lstStyle/>
          <a:p>
            <a:pPr indent="0" marL="0">
              <a:lnSpc>
                <a:spcPct val="110000"/>
              </a:lnSpc>
              <a:buNone/>
            </a:pPr>
            <a:r>
              <a:rPr lang="en-US" sz="800" dirty="0">
                <a:solidFill>
                  <a:srgbClr val="64748B"/>
                </a:solidFill>
              </a:rPr>
              <a:t>No role mgmt, proxy login, attributes, or advanced settings</a:t>
            </a:r>
            <a:endParaRPr lang="en-US" sz="800" dirty="0"/>
          </a:p>
        </p:txBody>
      </p:sp>
      <p:sp>
        <p:nvSpPr>
          <p:cNvPr id="37" name="Shape 35"/>
          <p:cNvSpPr/>
          <p:nvPr/>
        </p:nvSpPr>
        <p:spPr>
          <a:xfrm>
            <a:off x="5468112" y="1051560"/>
            <a:ext cx="3474720" cy="749808"/>
          </a:xfrm>
          <a:prstGeom prst="rect">
            <a:avLst/>
          </a:prstGeom>
          <a:solidFill>
            <a:srgbClr val="1E2761"/>
          </a:solidFill>
          <a:ln/>
          <a:effectLst>
            <a:outerShdw sx="100000" sy="100000" kx="0" ky="0" algn="bl" rotWithShape="0" blurRad="101600" dist="38100" dir="8100000">
              <a:srgbClr val="000000">
                <a:alpha val="12000"/>
              </a:srgbClr>
            </a:outerShdw>
          </a:effectLst>
        </p:spPr>
      </p:sp>
      <p:sp>
        <p:nvSpPr>
          <p:cNvPr id="38" name="Shape 36"/>
          <p:cNvSpPr/>
          <p:nvPr/>
        </p:nvSpPr>
        <p:spPr>
          <a:xfrm>
            <a:off x="5468112" y="1051560"/>
            <a:ext cx="54864" cy="749808"/>
          </a:xfrm>
          <a:prstGeom prst="rect">
            <a:avLst/>
          </a:prstGeom>
          <a:solidFill>
            <a:srgbClr val="27AE60"/>
          </a:solidFill>
          <a:ln/>
        </p:spPr>
      </p:sp>
      <p:sp>
        <p:nvSpPr>
          <p:cNvPr id="39" name="Text 37"/>
          <p:cNvSpPr/>
          <p:nvPr/>
        </p:nvSpPr>
        <p:spPr>
          <a:xfrm>
            <a:off x="5577840" y="1088136"/>
            <a:ext cx="3310128" cy="201168"/>
          </a:xfrm>
          <a:prstGeom prst="rect">
            <a:avLst/>
          </a:prstGeom>
          <a:noFill/>
          <a:ln/>
        </p:spPr>
        <p:txBody>
          <a:bodyPr wrap="square" lIns="0" tIns="0" rIns="0" bIns="0" rtlCol="0" anchor="ctr"/>
          <a:lstStyle/>
          <a:p>
            <a:pPr indent="0" marL="0">
              <a:buNone/>
            </a:pPr>
            <a:r>
              <a:rPr lang="en-US" sz="750" b="1" spc="150" kern="0" dirty="0">
                <a:solidFill>
                  <a:srgbClr val="27AE60"/>
                </a:solidFill>
              </a:rPr>
              <a:t>DATA ACCESSIBLE</a:t>
            </a:r>
            <a:endParaRPr lang="en-US" sz="750" dirty="0"/>
          </a:p>
        </p:txBody>
      </p:sp>
      <p:sp>
        <p:nvSpPr>
          <p:cNvPr id="40" name="Text 38"/>
          <p:cNvSpPr/>
          <p:nvPr/>
        </p:nvSpPr>
        <p:spPr>
          <a:xfrm>
            <a:off x="5577840" y="1298448"/>
            <a:ext cx="3310128" cy="457200"/>
          </a:xfrm>
          <a:prstGeom prst="rect">
            <a:avLst/>
          </a:prstGeom>
          <a:noFill/>
          <a:ln/>
        </p:spPr>
        <p:txBody>
          <a:bodyPr wrap="square" lIns="0" tIns="0" rIns="0" bIns="0" rtlCol="0" anchor="ctr"/>
          <a:lstStyle/>
          <a:p>
            <a:pPr indent="0" marL="0">
              <a:lnSpc>
                <a:spcPct val="115000"/>
              </a:lnSpc>
              <a:buNone/>
            </a:pPr>
            <a:r>
              <a:rPr lang="en-US" sz="880" dirty="0">
                <a:solidFill>
                  <a:srgbClr val="FFFFFF"/>
                </a:solidFill>
              </a:rPr>
              <a:t>All survey &amp; population data except 360 program data</a:t>
            </a:r>
            <a:endParaRPr lang="en-US" sz="880" dirty="0"/>
          </a:p>
        </p:txBody>
      </p:sp>
      <p:sp>
        <p:nvSpPr>
          <p:cNvPr id="41" name="Shape 39"/>
          <p:cNvSpPr/>
          <p:nvPr/>
        </p:nvSpPr>
        <p:spPr>
          <a:xfrm>
            <a:off x="5468112" y="1837944"/>
            <a:ext cx="3474720" cy="749808"/>
          </a:xfrm>
          <a:prstGeom prst="rect">
            <a:avLst/>
          </a:prstGeom>
          <a:solidFill>
            <a:srgbClr val="1B5E7B"/>
          </a:solidFill>
          <a:ln/>
          <a:effectLst>
            <a:outerShdw sx="100000" sy="100000" kx="0" ky="0" algn="bl" rotWithShape="0" blurRad="101600" dist="38100" dir="8100000">
              <a:srgbClr val="000000">
                <a:alpha val="12000"/>
              </a:srgbClr>
            </a:outerShdw>
          </a:effectLst>
        </p:spPr>
      </p:sp>
      <p:sp>
        <p:nvSpPr>
          <p:cNvPr id="42" name="Shape 40"/>
          <p:cNvSpPr/>
          <p:nvPr/>
        </p:nvSpPr>
        <p:spPr>
          <a:xfrm>
            <a:off x="5468112" y="1837944"/>
            <a:ext cx="54864" cy="749808"/>
          </a:xfrm>
          <a:prstGeom prst="rect">
            <a:avLst/>
          </a:prstGeom>
          <a:solidFill>
            <a:srgbClr val="27AE60"/>
          </a:solidFill>
          <a:ln/>
        </p:spPr>
      </p:sp>
      <p:sp>
        <p:nvSpPr>
          <p:cNvPr id="43" name="Text 41"/>
          <p:cNvSpPr/>
          <p:nvPr/>
        </p:nvSpPr>
        <p:spPr>
          <a:xfrm>
            <a:off x="5577840" y="1874520"/>
            <a:ext cx="3310128" cy="201168"/>
          </a:xfrm>
          <a:prstGeom prst="rect">
            <a:avLst/>
          </a:prstGeom>
          <a:noFill/>
          <a:ln/>
        </p:spPr>
        <p:txBody>
          <a:bodyPr wrap="square" lIns="0" tIns="0" rIns="0" bIns="0" rtlCol="0" anchor="ctr"/>
          <a:lstStyle/>
          <a:p>
            <a:pPr indent="0" marL="0">
              <a:buNone/>
            </a:pPr>
            <a:r>
              <a:rPr lang="en-US" sz="750" b="1" spc="150" kern="0" dirty="0">
                <a:solidFill>
                  <a:srgbClr val="27AE60"/>
                </a:solidFill>
              </a:rPr>
              <a:t>POPULATION COVERED</a:t>
            </a:r>
            <a:endParaRPr lang="en-US" sz="750" dirty="0"/>
          </a:p>
        </p:txBody>
      </p:sp>
      <p:sp>
        <p:nvSpPr>
          <p:cNvPr id="44" name="Text 42"/>
          <p:cNvSpPr/>
          <p:nvPr/>
        </p:nvSpPr>
        <p:spPr>
          <a:xfrm>
            <a:off x="5577840" y="2084832"/>
            <a:ext cx="3310128" cy="457200"/>
          </a:xfrm>
          <a:prstGeom prst="rect">
            <a:avLst/>
          </a:prstGeom>
          <a:noFill/>
          <a:ln/>
        </p:spPr>
        <p:txBody>
          <a:bodyPr wrap="square" lIns="0" tIns="0" rIns="0" bIns="0" rtlCol="0" anchor="ctr"/>
          <a:lstStyle/>
          <a:p>
            <a:pPr indent="0" marL="0">
              <a:lnSpc>
                <a:spcPct val="115000"/>
              </a:lnSpc>
              <a:buNone/>
            </a:pPr>
            <a:r>
              <a:rPr lang="en-US" sz="880" dirty="0">
                <a:solidFill>
                  <a:srgbClr val="FFFFFF"/>
                </a:solidFill>
              </a:rPr>
              <a:t>India &amp; UK — BUK (Barclays UK) division</a:t>
            </a:r>
            <a:endParaRPr lang="en-US" sz="880" dirty="0"/>
          </a:p>
        </p:txBody>
      </p:sp>
      <p:sp>
        <p:nvSpPr>
          <p:cNvPr id="45" name="Shape 43"/>
          <p:cNvSpPr/>
          <p:nvPr/>
        </p:nvSpPr>
        <p:spPr>
          <a:xfrm>
            <a:off x="5468112" y="2624328"/>
            <a:ext cx="3474720" cy="749808"/>
          </a:xfrm>
          <a:prstGeom prst="rect">
            <a:avLst/>
          </a:prstGeom>
          <a:solidFill>
            <a:srgbClr val="1A4A6E"/>
          </a:solidFill>
          <a:ln/>
          <a:effectLst>
            <a:outerShdw sx="100000" sy="100000" kx="0" ky="0" algn="bl" rotWithShape="0" blurRad="101600" dist="38100" dir="8100000">
              <a:srgbClr val="000000">
                <a:alpha val="12000"/>
              </a:srgbClr>
            </a:outerShdw>
          </a:effectLst>
        </p:spPr>
      </p:sp>
      <p:sp>
        <p:nvSpPr>
          <p:cNvPr id="46" name="Shape 44"/>
          <p:cNvSpPr/>
          <p:nvPr/>
        </p:nvSpPr>
        <p:spPr>
          <a:xfrm>
            <a:off x="5468112" y="2624328"/>
            <a:ext cx="54864" cy="749808"/>
          </a:xfrm>
          <a:prstGeom prst="rect">
            <a:avLst/>
          </a:prstGeom>
          <a:solidFill>
            <a:srgbClr val="27AE60"/>
          </a:solidFill>
          <a:ln/>
        </p:spPr>
      </p:sp>
      <p:sp>
        <p:nvSpPr>
          <p:cNvPr id="47" name="Text 45"/>
          <p:cNvSpPr/>
          <p:nvPr/>
        </p:nvSpPr>
        <p:spPr>
          <a:xfrm>
            <a:off x="5577840" y="2660904"/>
            <a:ext cx="3310128" cy="201168"/>
          </a:xfrm>
          <a:prstGeom prst="rect">
            <a:avLst/>
          </a:prstGeom>
          <a:noFill/>
          <a:ln/>
        </p:spPr>
        <p:txBody>
          <a:bodyPr wrap="square" lIns="0" tIns="0" rIns="0" bIns="0" rtlCol="0" anchor="ctr"/>
          <a:lstStyle/>
          <a:p>
            <a:pPr indent="0" marL="0">
              <a:buNone/>
            </a:pPr>
            <a:r>
              <a:rPr lang="en-US" sz="750" b="1" spc="150" kern="0" dirty="0">
                <a:solidFill>
                  <a:srgbClr val="27AE60"/>
                </a:solidFill>
              </a:rPr>
              <a:t>WHO RECEIVES ACCESS</a:t>
            </a:r>
            <a:endParaRPr lang="en-US" sz="750" dirty="0"/>
          </a:p>
        </p:txBody>
      </p:sp>
      <p:sp>
        <p:nvSpPr>
          <p:cNvPr id="48" name="Text 46"/>
          <p:cNvSpPr/>
          <p:nvPr/>
        </p:nvSpPr>
        <p:spPr>
          <a:xfrm>
            <a:off x="5577840" y="2871216"/>
            <a:ext cx="3310128" cy="457200"/>
          </a:xfrm>
          <a:prstGeom prst="rect">
            <a:avLst/>
          </a:prstGeom>
          <a:noFill/>
          <a:ln/>
        </p:spPr>
        <p:txBody>
          <a:bodyPr wrap="square" lIns="0" tIns="0" rIns="0" bIns="0" rtlCol="0" anchor="ctr"/>
          <a:lstStyle/>
          <a:p>
            <a:pPr indent="0" marL="0">
              <a:lnSpc>
                <a:spcPct val="115000"/>
              </a:lnSpc>
              <a:buNone/>
            </a:pPr>
            <a:r>
              <a:rPr lang="en-US" sz="880" dirty="0">
                <a:solidFill>
                  <a:srgbClr val="FFFFFF"/>
                </a:solidFill>
              </a:rPr>
              <a:t>BUK team members who run periodic engagement surveys</a:t>
            </a:r>
            <a:endParaRPr lang="en-US" sz="880" dirty="0"/>
          </a:p>
        </p:txBody>
      </p:sp>
      <p:sp>
        <p:nvSpPr>
          <p:cNvPr id="49" name="Shape 47"/>
          <p:cNvSpPr/>
          <p:nvPr/>
        </p:nvSpPr>
        <p:spPr>
          <a:xfrm>
            <a:off x="5468112" y="3410712"/>
            <a:ext cx="3474720" cy="749808"/>
          </a:xfrm>
          <a:prstGeom prst="rect">
            <a:avLst/>
          </a:prstGeom>
          <a:solidFill>
            <a:srgbClr val="16395A"/>
          </a:solidFill>
          <a:ln/>
          <a:effectLst>
            <a:outerShdw sx="100000" sy="100000" kx="0" ky="0" algn="bl" rotWithShape="0" blurRad="101600" dist="38100" dir="8100000">
              <a:srgbClr val="000000">
                <a:alpha val="12000"/>
              </a:srgbClr>
            </a:outerShdw>
          </a:effectLst>
        </p:spPr>
      </p:sp>
      <p:sp>
        <p:nvSpPr>
          <p:cNvPr id="50" name="Shape 48"/>
          <p:cNvSpPr/>
          <p:nvPr/>
        </p:nvSpPr>
        <p:spPr>
          <a:xfrm>
            <a:off x="5468112" y="3410712"/>
            <a:ext cx="54864" cy="749808"/>
          </a:xfrm>
          <a:prstGeom prst="rect">
            <a:avLst/>
          </a:prstGeom>
          <a:solidFill>
            <a:srgbClr val="27AE60"/>
          </a:solidFill>
          <a:ln/>
        </p:spPr>
      </p:sp>
      <p:sp>
        <p:nvSpPr>
          <p:cNvPr id="51" name="Text 49"/>
          <p:cNvSpPr/>
          <p:nvPr/>
        </p:nvSpPr>
        <p:spPr>
          <a:xfrm>
            <a:off x="5577840" y="3447288"/>
            <a:ext cx="3310128" cy="201168"/>
          </a:xfrm>
          <a:prstGeom prst="rect">
            <a:avLst/>
          </a:prstGeom>
          <a:noFill/>
          <a:ln/>
        </p:spPr>
        <p:txBody>
          <a:bodyPr wrap="square" lIns="0" tIns="0" rIns="0" bIns="0" rtlCol="0" anchor="ctr"/>
          <a:lstStyle/>
          <a:p>
            <a:pPr indent="0" marL="0">
              <a:buNone/>
            </a:pPr>
            <a:r>
              <a:rPr lang="en-US" sz="750" b="1" spc="150" kern="0" dirty="0">
                <a:solidFill>
                  <a:srgbClr val="27AE60"/>
                </a:solidFill>
              </a:rPr>
              <a:t>WHY THEY NEED IT</a:t>
            </a:r>
            <a:endParaRPr lang="en-US" sz="750" dirty="0"/>
          </a:p>
        </p:txBody>
      </p:sp>
      <p:sp>
        <p:nvSpPr>
          <p:cNvPr id="52" name="Text 50"/>
          <p:cNvSpPr/>
          <p:nvPr/>
        </p:nvSpPr>
        <p:spPr>
          <a:xfrm>
            <a:off x="5577840" y="3657600"/>
            <a:ext cx="3310128" cy="457200"/>
          </a:xfrm>
          <a:prstGeom prst="rect">
            <a:avLst/>
          </a:prstGeom>
          <a:noFill/>
          <a:ln/>
        </p:spPr>
        <p:txBody>
          <a:bodyPr wrap="square" lIns="0" tIns="0" rIns="0" bIns="0" rtlCol="0" anchor="ctr"/>
          <a:lstStyle/>
          <a:p>
            <a:pPr indent="0" marL="0">
              <a:lnSpc>
                <a:spcPct val="115000"/>
              </a:lnSpc>
              <a:buNone/>
            </a:pPr>
            <a:r>
              <a:rPr lang="en-US" sz="880" dirty="0">
                <a:solidFill>
                  <a:srgbClr val="FFFFFF"/>
                </a:solidFill>
              </a:rPr>
              <a:t>BUK runs standalone engagement &amp; parameter analysis; 360 not applicable to their workflow</a:t>
            </a:r>
            <a:endParaRPr lang="en-US" sz="880" dirty="0"/>
          </a:p>
        </p:txBody>
      </p:sp>
      <p:sp>
        <p:nvSpPr>
          <p:cNvPr id="53" name="Shape 51"/>
          <p:cNvSpPr/>
          <p:nvPr/>
        </p:nvSpPr>
        <p:spPr>
          <a:xfrm>
            <a:off x="5468112" y="4197096"/>
            <a:ext cx="3474720" cy="749808"/>
          </a:xfrm>
          <a:prstGeom prst="rect">
            <a:avLst/>
          </a:prstGeom>
          <a:solidFill>
            <a:srgbClr val="0F2640"/>
          </a:solidFill>
          <a:ln/>
          <a:effectLst>
            <a:outerShdw sx="100000" sy="100000" kx="0" ky="0" algn="bl" rotWithShape="0" blurRad="101600" dist="38100" dir="8100000">
              <a:srgbClr val="000000">
                <a:alpha val="12000"/>
              </a:srgbClr>
            </a:outerShdw>
          </a:effectLst>
        </p:spPr>
      </p:sp>
      <p:sp>
        <p:nvSpPr>
          <p:cNvPr id="54" name="Shape 52"/>
          <p:cNvSpPr/>
          <p:nvPr/>
        </p:nvSpPr>
        <p:spPr>
          <a:xfrm>
            <a:off x="5468112" y="4197096"/>
            <a:ext cx="54864" cy="749808"/>
          </a:xfrm>
          <a:prstGeom prst="rect">
            <a:avLst/>
          </a:prstGeom>
          <a:solidFill>
            <a:srgbClr val="27AE60"/>
          </a:solidFill>
          <a:ln/>
        </p:spPr>
      </p:sp>
      <p:sp>
        <p:nvSpPr>
          <p:cNvPr id="55" name="Text 53"/>
          <p:cNvSpPr/>
          <p:nvPr/>
        </p:nvSpPr>
        <p:spPr>
          <a:xfrm>
            <a:off x="5577840" y="4233672"/>
            <a:ext cx="3310128" cy="201168"/>
          </a:xfrm>
          <a:prstGeom prst="rect">
            <a:avLst/>
          </a:prstGeom>
          <a:noFill/>
          <a:ln/>
        </p:spPr>
        <p:txBody>
          <a:bodyPr wrap="square" lIns="0" tIns="0" rIns="0" bIns="0" rtlCol="0" anchor="ctr"/>
          <a:lstStyle/>
          <a:p>
            <a:pPr indent="0" marL="0">
              <a:buNone/>
            </a:pPr>
            <a:r>
              <a:rPr lang="en-US" sz="750" b="1" spc="150" kern="0" dirty="0">
                <a:solidFill>
                  <a:srgbClr val="27AE60"/>
                </a:solidFill>
              </a:rPr>
              <a:t>HOW PROVISIONED</a:t>
            </a:r>
            <a:endParaRPr lang="en-US" sz="750" dirty="0"/>
          </a:p>
        </p:txBody>
      </p:sp>
      <p:sp>
        <p:nvSpPr>
          <p:cNvPr id="56" name="Text 54"/>
          <p:cNvSpPr/>
          <p:nvPr/>
        </p:nvSpPr>
        <p:spPr>
          <a:xfrm>
            <a:off x="5577840" y="4443984"/>
            <a:ext cx="3310128" cy="457200"/>
          </a:xfrm>
          <a:prstGeom prst="rect">
            <a:avLst/>
          </a:prstGeom>
          <a:noFill/>
          <a:ln/>
        </p:spPr>
        <p:txBody>
          <a:bodyPr wrap="square" lIns="0" tIns="0" rIns="0" bIns="0" rtlCol="0" anchor="ctr"/>
          <a:lstStyle/>
          <a:p>
            <a:pPr indent="0" marL="0">
              <a:lnSpc>
                <a:spcPct val="115000"/>
              </a:lnSpc>
              <a:buNone/>
            </a:pPr>
            <a:r>
              <a:rPr lang="en-US" sz="880" dirty="0">
                <a:solidFill>
                  <a:srgbClr val="FFFFFF"/>
                </a:solidFill>
              </a:rPr>
              <a:t>Bulk provisioning initially; future requests via Access Request Portal</a:t>
            </a:r>
            <a:endParaRPr lang="en-US" sz="88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6FB"/>
        </a:solidFill>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1E2761"/>
          </a:solidFill>
          <a:ln/>
        </p:spPr>
      </p:sp>
      <p:sp>
        <p:nvSpPr>
          <p:cNvPr id="3" name="Shape 1"/>
          <p:cNvSpPr/>
          <p:nvPr/>
        </p:nvSpPr>
        <p:spPr>
          <a:xfrm>
            <a:off x="0" y="0"/>
            <a:ext cx="201168" cy="960120"/>
          </a:xfrm>
          <a:prstGeom prst="rect">
            <a:avLst/>
          </a:prstGeom>
          <a:solidFill>
            <a:srgbClr val="8E44AD"/>
          </a:solidFill>
          <a:ln/>
        </p:spPr>
      </p:sp>
      <p:sp>
        <p:nvSpPr>
          <p:cNvPr id="4" name="Shape 2"/>
          <p:cNvSpPr/>
          <p:nvPr/>
        </p:nvSpPr>
        <p:spPr>
          <a:xfrm>
            <a:off x="347472" y="155448"/>
            <a:ext cx="566928" cy="566928"/>
          </a:xfrm>
          <a:prstGeom prst="ellipse">
            <a:avLst/>
          </a:prstGeom>
          <a:solidFill>
            <a:srgbClr val="8E44AD"/>
          </a:solidFill>
          <a:ln/>
          <a:effectLst>
            <a:outerShdw sx="100000" sy="100000" kx="0" ky="0" algn="bl" rotWithShape="0" blurRad="101600" dist="38100" dir="8100000">
              <a:srgbClr val="000000">
                <a:alpha val="12000"/>
              </a:srgbClr>
            </a:outerShdw>
          </a:effectLst>
        </p:spPr>
      </p:sp>
      <p:sp>
        <p:nvSpPr>
          <p:cNvPr id="5" name="Text 3"/>
          <p:cNvSpPr/>
          <p:nvPr/>
        </p:nvSpPr>
        <p:spPr>
          <a:xfrm>
            <a:off x="347472" y="155448"/>
            <a:ext cx="566928" cy="566928"/>
          </a:xfrm>
          <a:prstGeom prst="rect">
            <a:avLst/>
          </a:prstGeom>
          <a:noFill/>
          <a:ln/>
        </p:spPr>
        <p:txBody>
          <a:bodyPr wrap="square" lIns="0" tIns="0" rIns="0" bIns="0" rtlCol="0" anchor="ctr"/>
          <a:lstStyle/>
          <a:p>
            <a:pPr algn="ctr" indent="0" marL="0">
              <a:buNone/>
            </a:pPr>
            <a:r>
              <a:rPr lang="en-US" sz="1800" b="1" dirty="0">
                <a:solidFill>
                  <a:srgbClr val="FFFFFF"/>
                </a:solidFill>
              </a:rPr>
              <a:t>4</a:t>
            </a:r>
            <a:endParaRPr lang="en-US" sz="1800" dirty="0"/>
          </a:p>
        </p:txBody>
      </p:sp>
      <p:sp>
        <p:nvSpPr>
          <p:cNvPr id="6" name="Text 4"/>
          <p:cNvSpPr/>
          <p:nvPr/>
        </p:nvSpPr>
        <p:spPr>
          <a:xfrm>
            <a:off x="1051560" y="91440"/>
            <a:ext cx="5943600" cy="502920"/>
          </a:xfrm>
          <a:prstGeom prst="rect">
            <a:avLst/>
          </a:prstGeom>
          <a:noFill/>
          <a:ln/>
        </p:spPr>
        <p:txBody>
          <a:bodyPr wrap="square" lIns="0" tIns="0" rIns="0" bIns="0" rtlCol="0" anchor="ctr"/>
          <a:lstStyle/>
          <a:p>
            <a:pPr indent="0" marL="0">
              <a:buNone/>
            </a:pPr>
            <a:r>
              <a:rPr lang="en-US" sz="2000" b="1" dirty="0">
                <a:solidFill>
                  <a:srgbClr val="FFFFFF"/>
                </a:solidFill>
              </a:rPr>
              <a:t>Glint Survey Program Contributor</a:t>
            </a:r>
            <a:endParaRPr lang="en-US" sz="2000" dirty="0"/>
          </a:p>
        </p:txBody>
      </p:sp>
      <p:sp>
        <p:nvSpPr>
          <p:cNvPr id="7" name="Text 5"/>
          <p:cNvSpPr/>
          <p:nvPr/>
        </p:nvSpPr>
        <p:spPr>
          <a:xfrm>
            <a:off x="1051560" y="594360"/>
            <a:ext cx="5943600" cy="274320"/>
          </a:xfrm>
          <a:prstGeom prst="rect">
            <a:avLst/>
          </a:prstGeom>
          <a:noFill/>
          <a:ln/>
        </p:spPr>
        <p:txBody>
          <a:bodyPr wrap="square" lIns="0" tIns="0" rIns="0" bIns="0" rtlCol="0" anchor="ctr"/>
          <a:lstStyle/>
          <a:p>
            <a:pPr indent="0" marL="0">
              <a:buNone/>
            </a:pPr>
            <a:r>
              <a:rPr lang="en-US" sz="900" dirty="0">
                <a:solidFill>
                  <a:srgbClr val="CADCFC"/>
                </a:solidFill>
              </a:rPr>
              <a:t>Role 4 of 7  |  BIA / CSO — Controlled Survey Distribution</a:t>
            </a:r>
            <a:endParaRPr lang="en-US" sz="900" dirty="0"/>
          </a:p>
        </p:txBody>
      </p:sp>
      <p:sp>
        <p:nvSpPr>
          <p:cNvPr id="8" name="Shape 6"/>
          <p:cNvSpPr/>
          <p:nvPr/>
        </p:nvSpPr>
        <p:spPr>
          <a:xfrm>
            <a:off x="7863840" y="292608"/>
            <a:ext cx="1097280" cy="347472"/>
          </a:xfrm>
          <a:prstGeom prst="roundRect">
            <a:avLst>
              <a:gd name="adj" fmla="val 21053"/>
            </a:avLst>
          </a:prstGeom>
          <a:solidFill>
            <a:srgbClr val="27AE60"/>
          </a:solidFill>
          <a:ln/>
        </p:spPr>
      </p:sp>
      <p:sp>
        <p:nvSpPr>
          <p:cNvPr id="9" name="Text 7"/>
          <p:cNvSpPr/>
          <p:nvPr/>
        </p:nvSpPr>
        <p:spPr>
          <a:xfrm>
            <a:off x="7863840" y="292608"/>
            <a:ext cx="1097280" cy="347472"/>
          </a:xfrm>
          <a:prstGeom prst="rect">
            <a:avLst/>
          </a:prstGeom>
          <a:noFill/>
          <a:ln/>
        </p:spPr>
        <p:txBody>
          <a:bodyPr wrap="square" lIns="0" tIns="0" rIns="0" bIns="0" rtlCol="0" anchor="ctr"/>
          <a:lstStyle/>
          <a:p>
            <a:pPr algn="ctr" indent="0" marL="0">
              <a:buNone/>
            </a:pPr>
            <a:r>
              <a:rPr lang="en-US" sz="1000" b="1" dirty="0">
                <a:solidFill>
                  <a:srgbClr val="FFFFFF"/>
                </a:solidFill>
              </a:rPr>
              <a:t>Live</a:t>
            </a:r>
            <a:endParaRPr lang="en-US" sz="1000" dirty="0"/>
          </a:p>
        </p:txBody>
      </p:sp>
      <p:sp>
        <p:nvSpPr>
          <p:cNvPr id="10" name="Shape 8"/>
          <p:cNvSpPr/>
          <p:nvPr/>
        </p:nvSpPr>
        <p:spPr>
          <a:xfrm>
            <a:off x="201168" y="1051560"/>
            <a:ext cx="5074920" cy="3886200"/>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11" name="Shape 9"/>
          <p:cNvSpPr/>
          <p:nvPr/>
        </p:nvSpPr>
        <p:spPr>
          <a:xfrm>
            <a:off x="201168" y="1051560"/>
            <a:ext cx="5074920" cy="347472"/>
          </a:xfrm>
          <a:prstGeom prst="rect">
            <a:avLst/>
          </a:prstGeom>
          <a:solidFill>
            <a:srgbClr val="1A2340"/>
          </a:solidFill>
          <a:ln/>
        </p:spPr>
      </p:sp>
      <p:sp>
        <p:nvSpPr>
          <p:cNvPr id="12" name="Text 10"/>
          <p:cNvSpPr/>
          <p:nvPr/>
        </p:nvSpPr>
        <p:spPr>
          <a:xfrm>
            <a:off x="320040" y="1051560"/>
            <a:ext cx="4892040" cy="347472"/>
          </a:xfrm>
          <a:prstGeom prst="rect">
            <a:avLst/>
          </a:prstGeom>
          <a:noFill/>
          <a:ln/>
        </p:spPr>
        <p:txBody>
          <a:bodyPr wrap="square" lIns="0" tIns="0" rIns="0" bIns="0" rtlCol="0" anchor="ctr"/>
          <a:lstStyle/>
          <a:p>
            <a:pPr indent="0" marL="0">
              <a:buNone/>
            </a:pPr>
            <a:r>
              <a:rPr lang="en-US" sz="900" b="1" spc="200" kern="0" dirty="0">
                <a:solidFill>
                  <a:srgbClr val="F4A223"/>
                </a:solidFill>
              </a:rPr>
              <a:t>PERMISSIONS &amp; CAPABILITIES</a:t>
            </a:r>
            <a:endParaRPr lang="en-US" sz="900" dirty="0"/>
          </a:p>
        </p:txBody>
      </p:sp>
      <p:sp>
        <p:nvSpPr>
          <p:cNvPr id="13" name="Shape 11"/>
          <p:cNvSpPr/>
          <p:nvPr/>
        </p:nvSpPr>
        <p:spPr>
          <a:xfrm>
            <a:off x="320040" y="1591056"/>
            <a:ext cx="118872" cy="118872"/>
          </a:xfrm>
          <a:prstGeom prst="ellipse">
            <a:avLst/>
          </a:prstGeom>
          <a:solidFill>
            <a:srgbClr val="8E44AD"/>
          </a:solidFill>
          <a:ln/>
        </p:spPr>
      </p:sp>
      <p:sp>
        <p:nvSpPr>
          <p:cNvPr id="14" name="Text 12"/>
          <p:cNvSpPr/>
          <p:nvPr/>
        </p:nvSpPr>
        <p:spPr>
          <a:xfrm>
            <a:off x="502920" y="1517904"/>
            <a:ext cx="2240280" cy="201168"/>
          </a:xfrm>
          <a:prstGeom prst="rect">
            <a:avLst/>
          </a:prstGeom>
          <a:noFill/>
          <a:ln/>
        </p:spPr>
        <p:txBody>
          <a:bodyPr wrap="square" lIns="0" tIns="0" rIns="0" bIns="0" rtlCol="0" anchor="ctr"/>
          <a:lstStyle/>
          <a:p>
            <a:pPr indent="0" marL="0">
              <a:buNone/>
            </a:pPr>
            <a:r>
              <a:rPr lang="en-US" sz="950" b="1" dirty="0">
                <a:solidFill>
                  <a:srgbClr val="1A2340"/>
                </a:solidFill>
              </a:rPr>
              <a:t>Shared Survey Edit</a:t>
            </a:r>
            <a:endParaRPr lang="en-US" sz="950" dirty="0"/>
          </a:p>
        </p:txBody>
      </p:sp>
      <p:sp>
        <p:nvSpPr>
          <p:cNvPr id="15" name="Text 13"/>
          <p:cNvSpPr/>
          <p:nvPr/>
        </p:nvSpPr>
        <p:spPr>
          <a:xfrm>
            <a:off x="502920" y="1719072"/>
            <a:ext cx="2240280" cy="256032"/>
          </a:xfrm>
          <a:prstGeom prst="rect">
            <a:avLst/>
          </a:prstGeom>
          <a:noFill/>
          <a:ln/>
        </p:spPr>
        <p:txBody>
          <a:bodyPr wrap="square" lIns="0" tIns="0" rIns="0" bIns="0" rtlCol="0" anchor="ctr"/>
          <a:lstStyle/>
          <a:p>
            <a:pPr indent="0" marL="0">
              <a:lnSpc>
                <a:spcPct val="110000"/>
              </a:lnSpc>
              <a:buNone/>
            </a:pPr>
            <a:r>
              <a:rPr lang="en-US" sz="800" dirty="0">
                <a:solidFill>
                  <a:srgbClr val="64748B"/>
                </a:solidFill>
              </a:rPr>
              <a:t>Edit surveys shared with them; cannot create new survey programs</a:t>
            </a:r>
            <a:endParaRPr lang="en-US" sz="800" dirty="0"/>
          </a:p>
        </p:txBody>
      </p:sp>
      <p:sp>
        <p:nvSpPr>
          <p:cNvPr id="16" name="Shape 14"/>
          <p:cNvSpPr/>
          <p:nvPr/>
        </p:nvSpPr>
        <p:spPr>
          <a:xfrm>
            <a:off x="320040" y="2066544"/>
            <a:ext cx="118872" cy="118872"/>
          </a:xfrm>
          <a:prstGeom prst="ellipse">
            <a:avLst/>
          </a:prstGeom>
          <a:solidFill>
            <a:srgbClr val="8E44AD"/>
          </a:solidFill>
          <a:ln/>
        </p:spPr>
      </p:sp>
      <p:sp>
        <p:nvSpPr>
          <p:cNvPr id="17" name="Text 15"/>
          <p:cNvSpPr/>
          <p:nvPr/>
        </p:nvSpPr>
        <p:spPr>
          <a:xfrm>
            <a:off x="502920" y="1993392"/>
            <a:ext cx="2240280" cy="201168"/>
          </a:xfrm>
          <a:prstGeom prst="rect">
            <a:avLst/>
          </a:prstGeom>
          <a:noFill/>
          <a:ln/>
        </p:spPr>
        <p:txBody>
          <a:bodyPr wrap="square" lIns="0" tIns="0" rIns="0" bIns="0" rtlCol="0" anchor="ctr"/>
          <a:lstStyle/>
          <a:p>
            <a:pPr indent="0" marL="0">
              <a:buNone/>
            </a:pPr>
            <a:r>
              <a:rPr lang="en-US" sz="950" b="1" dirty="0">
                <a:solidFill>
                  <a:srgbClr val="1A2340"/>
                </a:solidFill>
              </a:rPr>
              <a:t>Survey Distribution</a:t>
            </a:r>
            <a:endParaRPr lang="en-US" sz="950" dirty="0"/>
          </a:p>
        </p:txBody>
      </p:sp>
      <p:sp>
        <p:nvSpPr>
          <p:cNvPr id="18" name="Text 16"/>
          <p:cNvSpPr/>
          <p:nvPr/>
        </p:nvSpPr>
        <p:spPr>
          <a:xfrm>
            <a:off x="502920" y="2194560"/>
            <a:ext cx="2240280" cy="256032"/>
          </a:xfrm>
          <a:prstGeom prst="rect">
            <a:avLst/>
          </a:prstGeom>
          <a:noFill/>
          <a:ln/>
        </p:spPr>
        <p:txBody>
          <a:bodyPr wrap="square" lIns="0" tIns="0" rIns="0" bIns="0" rtlCol="0" anchor="ctr"/>
          <a:lstStyle/>
          <a:p>
            <a:pPr indent="0" marL="0">
              <a:lnSpc>
                <a:spcPct val="110000"/>
              </a:lnSpc>
              <a:buNone/>
            </a:pPr>
            <a:r>
              <a:rPr lang="en-US" sz="800" dirty="0">
                <a:solidFill>
                  <a:srgbClr val="64748B"/>
                </a:solidFill>
              </a:rPr>
              <a:t>Manage and send survey distributions independently</a:t>
            </a:r>
            <a:endParaRPr lang="en-US" sz="800" dirty="0"/>
          </a:p>
        </p:txBody>
      </p:sp>
      <p:sp>
        <p:nvSpPr>
          <p:cNvPr id="19" name="Shape 17"/>
          <p:cNvSpPr/>
          <p:nvPr/>
        </p:nvSpPr>
        <p:spPr>
          <a:xfrm>
            <a:off x="320040" y="2542032"/>
            <a:ext cx="118872" cy="118872"/>
          </a:xfrm>
          <a:prstGeom prst="ellipse">
            <a:avLst/>
          </a:prstGeom>
          <a:solidFill>
            <a:srgbClr val="8E44AD"/>
          </a:solidFill>
          <a:ln/>
        </p:spPr>
      </p:sp>
      <p:sp>
        <p:nvSpPr>
          <p:cNvPr id="20" name="Text 18"/>
          <p:cNvSpPr/>
          <p:nvPr/>
        </p:nvSpPr>
        <p:spPr>
          <a:xfrm>
            <a:off x="502920" y="2468880"/>
            <a:ext cx="2240280" cy="201168"/>
          </a:xfrm>
          <a:prstGeom prst="rect">
            <a:avLst/>
          </a:prstGeom>
          <a:noFill/>
          <a:ln/>
        </p:spPr>
        <p:txBody>
          <a:bodyPr wrap="square" lIns="0" tIns="0" rIns="0" bIns="0" rtlCol="0" anchor="ctr"/>
          <a:lstStyle/>
          <a:p>
            <a:pPr indent="0" marL="0">
              <a:buNone/>
            </a:pPr>
            <a:r>
              <a:rPr lang="en-US" sz="950" b="1" dirty="0">
                <a:solidFill>
                  <a:srgbClr val="1A2340"/>
                </a:solidFill>
              </a:rPr>
              <a:t>Dashboard Access</a:t>
            </a:r>
            <a:endParaRPr lang="en-US" sz="950" dirty="0"/>
          </a:p>
        </p:txBody>
      </p:sp>
      <p:sp>
        <p:nvSpPr>
          <p:cNvPr id="21" name="Text 19"/>
          <p:cNvSpPr/>
          <p:nvPr/>
        </p:nvSpPr>
        <p:spPr>
          <a:xfrm>
            <a:off x="502920" y="2670048"/>
            <a:ext cx="2240280" cy="256032"/>
          </a:xfrm>
          <a:prstGeom prst="rect">
            <a:avLst/>
          </a:prstGeom>
          <a:noFill/>
          <a:ln/>
        </p:spPr>
        <p:txBody>
          <a:bodyPr wrap="square" lIns="0" tIns="0" rIns="0" bIns="0" rtlCol="0" anchor="ctr"/>
          <a:lstStyle/>
          <a:p>
            <a:pPr indent="0" marL="0">
              <a:lnSpc>
                <a:spcPct val="110000"/>
              </a:lnSpc>
              <a:buNone/>
            </a:pPr>
            <a:r>
              <a:rPr lang="en-US" sz="800" dirty="0">
                <a:solidFill>
                  <a:srgbClr val="64748B"/>
                </a:solidFill>
              </a:rPr>
              <a:t>Create dashboards and share with designated consumers</a:t>
            </a:r>
            <a:endParaRPr lang="en-US" sz="800" dirty="0"/>
          </a:p>
        </p:txBody>
      </p:sp>
      <p:sp>
        <p:nvSpPr>
          <p:cNvPr id="22" name="Shape 20"/>
          <p:cNvSpPr/>
          <p:nvPr/>
        </p:nvSpPr>
        <p:spPr>
          <a:xfrm>
            <a:off x="320040" y="3017520"/>
            <a:ext cx="118872" cy="118872"/>
          </a:xfrm>
          <a:prstGeom prst="ellipse">
            <a:avLst/>
          </a:prstGeom>
          <a:solidFill>
            <a:srgbClr val="8E44AD"/>
          </a:solidFill>
          <a:ln/>
        </p:spPr>
      </p:sp>
      <p:sp>
        <p:nvSpPr>
          <p:cNvPr id="23" name="Text 21"/>
          <p:cNvSpPr/>
          <p:nvPr/>
        </p:nvSpPr>
        <p:spPr>
          <a:xfrm>
            <a:off x="502920" y="2944368"/>
            <a:ext cx="2240280" cy="201168"/>
          </a:xfrm>
          <a:prstGeom prst="rect">
            <a:avLst/>
          </a:prstGeom>
          <a:noFill/>
          <a:ln/>
        </p:spPr>
        <p:txBody>
          <a:bodyPr wrap="square" lIns="0" tIns="0" rIns="0" bIns="0" rtlCol="0" anchor="ctr"/>
          <a:lstStyle/>
          <a:p>
            <a:pPr indent="0" marL="0">
              <a:buNone/>
            </a:pPr>
            <a:r>
              <a:rPr lang="en-US" sz="950" b="1" dirty="0">
                <a:solidFill>
                  <a:srgbClr val="1A2340"/>
                </a:solidFill>
              </a:rPr>
              <a:t>Controlled Environment</a:t>
            </a:r>
            <a:endParaRPr lang="en-US" sz="950" dirty="0"/>
          </a:p>
        </p:txBody>
      </p:sp>
      <p:sp>
        <p:nvSpPr>
          <p:cNvPr id="24" name="Text 22"/>
          <p:cNvSpPr/>
          <p:nvPr/>
        </p:nvSpPr>
        <p:spPr>
          <a:xfrm>
            <a:off x="502920" y="3145536"/>
            <a:ext cx="2240280" cy="256032"/>
          </a:xfrm>
          <a:prstGeom prst="rect">
            <a:avLst/>
          </a:prstGeom>
          <a:noFill/>
          <a:ln/>
        </p:spPr>
        <p:txBody>
          <a:bodyPr wrap="square" lIns="0" tIns="0" rIns="0" bIns="0" rtlCol="0" anchor="ctr"/>
          <a:lstStyle/>
          <a:p>
            <a:pPr indent="0" marL="0">
              <a:lnSpc>
                <a:spcPct val="110000"/>
              </a:lnSpc>
              <a:buNone/>
            </a:pPr>
            <a:r>
              <a:rPr lang="en-US" sz="800" dirty="0">
                <a:solidFill>
                  <a:srgbClr val="64748B"/>
                </a:solidFill>
              </a:rPr>
              <a:t>Reuse same survey for different population cycles</a:t>
            </a:r>
            <a:endParaRPr lang="en-US" sz="800" dirty="0"/>
          </a:p>
        </p:txBody>
      </p:sp>
      <p:sp>
        <p:nvSpPr>
          <p:cNvPr id="25" name="Shape 23"/>
          <p:cNvSpPr/>
          <p:nvPr/>
        </p:nvSpPr>
        <p:spPr>
          <a:xfrm>
            <a:off x="2862072" y="1591056"/>
            <a:ext cx="118872" cy="118872"/>
          </a:xfrm>
          <a:prstGeom prst="ellipse">
            <a:avLst/>
          </a:prstGeom>
          <a:solidFill>
            <a:srgbClr val="8E44AD"/>
          </a:solidFill>
          <a:ln/>
        </p:spPr>
      </p:sp>
      <p:sp>
        <p:nvSpPr>
          <p:cNvPr id="26" name="Text 24"/>
          <p:cNvSpPr/>
          <p:nvPr/>
        </p:nvSpPr>
        <p:spPr>
          <a:xfrm>
            <a:off x="3044952" y="1517904"/>
            <a:ext cx="2240280" cy="201168"/>
          </a:xfrm>
          <a:prstGeom prst="rect">
            <a:avLst/>
          </a:prstGeom>
          <a:noFill/>
          <a:ln/>
        </p:spPr>
        <p:txBody>
          <a:bodyPr wrap="square" lIns="0" tIns="0" rIns="0" bIns="0" rtlCol="0" anchor="ctr"/>
          <a:lstStyle/>
          <a:p>
            <a:pPr indent="0" marL="0">
              <a:buNone/>
            </a:pPr>
            <a:r>
              <a:rPr lang="en-US" sz="950" b="1" dirty="0">
                <a:solidFill>
                  <a:srgbClr val="1A2340"/>
                </a:solidFill>
              </a:rPr>
              <a:t>❌ No Survey Creation</a:t>
            </a:r>
            <a:endParaRPr lang="en-US" sz="950" dirty="0"/>
          </a:p>
        </p:txBody>
      </p:sp>
      <p:sp>
        <p:nvSpPr>
          <p:cNvPr id="27" name="Text 25"/>
          <p:cNvSpPr/>
          <p:nvPr/>
        </p:nvSpPr>
        <p:spPr>
          <a:xfrm>
            <a:off x="3044952" y="1719072"/>
            <a:ext cx="2240280" cy="256032"/>
          </a:xfrm>
          <a:prstGeom prst="rect">
            <a:avLst/>
          </a:prstGeom>
          <a:noFill/>
          <a:ln/>
        </p:spPr>
        <p:txBody>
          <a:bodyPr wrap="square" lIns="0" tIns="0" rIns="0" bIns="0" rtlCol="0" anchor="ctr"/>
          <a:lstStyle/>
          <a:p>
            <a:pPr indent="0" marL="0">
              <a:lnSpc>
                <a:spcPct val="110000"/>
              </a:lnSpc>
              <a:buNone/>
            </a:pPr>
            <a:r>
              <a:rPr lang="en-US" sz="800" dirty="0">
                <a:solidFill>
                  <a:srgbClr val="64748B"/>
                </a:solidFill>
              </a:rPr>
              <a:t>Cannot create or access new survey programs</a:t>
            </a:r>
            <a:endParaRPr lang="en-US" sz="800" dirty="0"/>
          </a:p>
        </p:txBody>
      </p:sp>
      <p:sp>
        <p:nvSpPr>
          <p:cNvPr id="28" name="Shape 26"/>
          <p:cNvSpPr/>
          <p:nvPr/>
        </p:nvSpPr>
        <p:spPr>
          <a:xfrm>
            <a:off x="2862072" y="2066544"/>
            <a:ext cx="118872" cy="118872"/>
          </a:xfrm>
          <a:prstGeom prst="ellipse">
            <a:avLst/>
          </a:prstGeom>
          <a:solidFill>
            <a:srgbClr val="8E44AD"/>
          </a:solidFill>
          <a:ln/>
        </p:spPr>
      </p:sp>
      <p:sp>
        <p:nvSpPr>
          <p:cNvPr id="29" name="Text 27"/>
          <p:cNvSpPr/>
          <p:nvPr/>
        </p:nvSpPr>
        <p:spPr>
          <a:xfrm>
            <a:off x="3044952" y="1993392"/>
            <a:ext cx="2240280" cy="201168"/>
          </a:xfrm>
          <a:prstGeom prst="rect">
            <a:avLst/>
          </a:prstGeom>
          <a:noFill/>
          <a:ln/>
        </p:spPr>
        <p:txBody>
          <a:bodyPr wrap="square" lIns="0" tIns="0" rIns="0" bIns="0" rtlCol="0" anchor="ctr"/>
          <a:lstStyle/>
          <a:p>
            <a:pPr indent="0" marL="0">
              <a:buNone/>
            </a:pPr>
            <a:r>
              <a:rPr lang="en-US" sz="950" b="1" dirty="0">
                <a:solidFill>
                  <a:srgbClr val="1A2340"/>
                </a:solidFill>
              </a:rPr>
              <a:t>❌ No Data Management</a:t>
            </a:r>
            <a:endParaRPr lang="en-US" sz="950" dirty="0"/>
          </a:p>
        </p:txBody>
      </p:sp>
      <p:sp>
        <p:nvSpPr>
          <p:cNvPr id="30" name="Text 28"/>
          <p:cNvSpPr/>
          <p:nvPr/>
        </p:nvSpPr>
        <p:spPr>
          <a:xfrm>
            <a:off x="3044952" y="2194560"/>
            <a:ext cx="2240280" cy="256032"/>
          </a:xfrm>
          <a:prstGeom prst="rect">
            <a:avLst/>
          </a:prstGeom>
          <a:noFill/>
          <a:ln/>
        </p:spPr>
        <p:txBody>
          <a:bodyPr wrap="square" lIns="0" tIns="0" rIns="0" bIns="0" rtlCol="0" anchor="ctr"/>
          <a:lstStyle/>
          <a:p>
            <a:pPr indent="0" marL="0">
              <a:lnSpc>
                <a:spcPct val="110000"/>
              </a:lnSpc>
              <a:buNone/>
            </a:pPr>
            <a:r>
              <a:rPr lang="en-US" sz="800" dirty="0">
                <a:solidFill>
                  <a:srgbClr val="64748B"/>
                </a:solidFill>
              </a:rPr>
              <a:t>No role management, proxy login, or attribute control</a:t>
            </a:r>
            <a:endParaRPr lang="en-US" sz="800" dirty="0"/>
          </a:p>
        </p:txBody>
      </p:sp>
      <p:sp>
        <p:nvSpPr>
          <p:cNvPr id="31" name="Shape 29"/>
          <p:cNvSpPr/>
          <p:nvPr/>
        </p:nvSpPr>
        <p:spPr>
          <a:xfrm>
            <a:off x="2862072" y="2542032"/>
            <a:ext cx="118872" cy="118872"/>
          </a:xfrm>
          <a:prstGeom prst="ellipse">
            <a:avLst/>
          </a:prstGeom>
          <a:solidFill>
            <a:srgbClr val="8E44AD"/>
          </a:solidFill>
          <a:ln/>
        </p:spPr>
      </p:sp>
      <p:sp>
        <p:nvSpPr>
          <p:cNvPr id="32" name="Text 30"/>
          <p:cNvSpPr/>
          <p:nvPr/>
        </p:nvSpPr>
        <p:spPr>
          <a:xfrm>
            <a:off x="3044952" y="2468880"/>
            <a:ext cx="2240280" cy="201168"/>
          </a:xfrm>
          <a:prstGeom prst="rect">
            <a:avLst/>
          </a:prstGeom>
          <a:noFill/>
          <a:ln/>
        </p:spPr>
        <p:txBody>
          <a:bodyPr wrap="square" lIns="0" tIns="0" rIns="0" bIns="0" rtlCol="0" anchor="ctr"/>
          <a:lstStyle/>
          <a:p>
            <a:pPr indent="0" marL="0">
              <a:buNone/>
            </a:pPr>
            <a:r>
              <a:rPr lang="en-US" sz="950" b="1" dirty="0">
                <a:solidFill>
                  <a:srgbClr val="1A2340"/>
                </a:solidFill>
              </a:rPr>
              <a:t>❌ No Sensitive Comments</a:t>
            </a:r>
            <a:endParaRPr lang="en-US" sz="950" dirty="0"/>
          </a:p>
        </p:txBody>
      </p:sp>
      <p:sp>
        <p:nvSpPr>
          <p:cNvPr id="33" name="Text 31"/>
          <p:cNvSpPr/>
          <p:nvPr/>
        </p:nvSpPr>
        <p:spPr>
          <a:xfrm>
            <a:off x="3044952" y="2670048"/>
            <a:ext cx="2240280" cy="256032"/>
          </a:xfrm>
          <a:prstGeom prst="rect">
            <a:avLst/>
          </a:prstGeom>
          <a:noFill/>
          <a:ln/>
        </p:spPr>
        <p:txBody>
          <a:bodyPr wrap="square" lIns="0" tIns="0" rIns="0" bIns="0" rtlCol="0" anchor="ctr"/>
          <a:lstStyle/>
          <a:p>
            <a:pPr indent="0" marL="0">
              <a:lnSpc>
                <a:spcPct val="110000"/>
              </a:lnSpc>
              <a:buNone/>
            </a:pPr>
            <a:r>
              <a:rPr lang="en-US" sz="800" dirty="0">
                <a:solidFill>
                  <a:srgbClr val="64748B"/>
                </a:solidFill>
              </a:rPr>
              <a:t>Cannot view, redact, or quarantine flagged comments</a:t>
            </a:r>
            <a:endParaRPr lang="en-US" sz="800" dirty="0"/>
          </a:p>
        </p:txBody>
      </p:sp>
      <p:sp>
        <p:nvSpPr>
          <p:cNvPr id="34" name="Shape 32"/>
          <p:cNvSpPr/>
          <p:nvPr/>
        </p:nvSpPr>
        <p:spPr>
          <a:xfrm>
            <a:off x="2862072" y="3017520"/>
            <a:ext cx="118872" cy="118872"/>
          </a:xfrm>
          <a:prstGeom prst="ellipse">
            <a:avLst/>
          </a:prstGeom>
          <a:solidFill>
            <a:srgbClr val="8E44AD"/>
          </a:solidFill>
          <a:ln/>
        </p:spPr>
      </p:sp>
      <p:sp>
        <p:nvSpPr>
          <p:cNvPr id="35" name="Text 33"/>
          <p:cNvSpPr/>
          <p:nvPr/>
        </p:nvSpPr>
        <p:spPr>
          <a:xfrm>
            <a:off x="3044952" y="2944368"/>
            <a:ext cx="2240280" cy="201168"/>
          </a:xfrm>
          <a:prstGeom prst="rect">
            <a:avLst/>
          </a:prstGeom>
          <a:noFill/>
          <a:ln/>
        </p:spPr>
        <p:txBody>
          <a:bodyPr wrap="square" lIns="0" tIns="0" rIns="0" bIns="0" rtlCol="0" anchor="ctr"/>
          <a:lstStyle/>
          <a:p>
            <a:pPr indent="0" marL="0">
              <a:buNone/>
            </a:pPr>
            <a:r>
              <a:rPr lang="en-US" sz="950" b="1" dirty="0">
                <a:solidFill>
                  <a:srgbClr val="1A2340"/>
                </a:solidFill>
              </a:rPr>
              <a:t>❌ No Advanced Config</a:t>
            </a:r>
            <a:endParaRPr lang="en-US" sz="950" dirty="0"/>
          </a:p>
        </p:txBody>
      </p:sp>
      <p:sp>
        <p:nvSpPr>
          <p:cNvPr id="36" name="Text 34"/>
          <p:cNvSpPr/>
          <p:nvPr/>
        </p:nvSpPr>
        <p:spPr>
          <a:xfrm>
            <a:off x="3044952" y="3145536"/>
            <a:ext cx="2240280" cy="256032"/>
          </a:xfrm>
          <a:prstGeom prst="rect">
            <a:avLst/>
          </a:prstGeom>
          <a:noFill/>
          <a:ln/>
        </p:spPr>
        <p:txBody>
          <a:bodyPr wrap="square" lIns="0" tIns="0" rIns="0" bIns="0" rtlCol="0" anchor="ctr"/>
          <a:lstStyle/>
          <a:p>
            <a:pPr indent="0" marL="0">
              <a:lnSpc>
                <a:spcPct val="110000"/>
              </a:lnSpc>
              <a:buNone/>
            </a:pPr>
            <a:r>
              <a:rPr lang="en-US" sz="800" dirty="0">
                <a:solidFill>
                  <a:srgbClr val="64748B"/>
                </a:solidFill>
              </a:rPr>
              <a:t>No survey thresholds, integrations, or admin settings</a:t>
            </a:r>
            <a:endParaRPr lang="en-US" sz="800" dirty="0"/>
          </a:p>
        </p:txBody>
      </p:sp>
      <p:sp>
        <p:nvSpPr>
          <p:cNvPr id="37" name="Shape 35"/>
          <p:cNvSpPr/>
          <p:nvPr/>
        </p:nvSpPr>
        <p:spPr>
          <a:xfrm>
            <a:off x="5468112" y="1051560"/>
            <a:ext cx="3474720" cy="749808"/>
          </a:xfrm>
          <a:prstGeom prst="rect">
            <a:avLst/>
          </a:prstGeom>
          <a:solidFill>
            <a:srgbClr val="1E2761"/>
          </a:solidFill>
          <a:ln/>
          <a:effectLst>
            <a:outerShdw sx="100000" sy="100000" kx="0" ky="0" algn="bl" rotWithShape="0" blurRad="101600" dist="38100" dir="8100000">
              <a:srgbClr val="000000">
                <a:alpha val="12000"/>
              </a:srgbClr>
            </a:outerShdw>
          </a:effectLst>
        </p:spPr>
      </p:sp>
      <p:sp>
        <p:nvSpPr>
          <p:cNvPr id="38" name="Shape 36"/>
          <p:cNvSpPr/>
          <p:nvPr/>
        </p:nvSpPr>
        <p:spPr>
          <a:xfrm>
            <a:off x="5468112" y="1051560"/>
            <a:ext cx="54864" cy="749808"/>
          </a:xfrm>
          <a:prstGeom prst="rect">
            <a:avLst/>
          </a:prstGeom>
          <a:solidFill>
            <a:srgbClr val="8E44AD"/>
          </a:solidFill>
          <a:ln/>
        </p:spPr>
      </p:sp>
      <p:sp>
        <p:nvSpPr>
          <p:cNvPr id="39" name="Text 37"/>
          <p:cNvSpPr/>
          <p:nvPr/>
        </p:nvSpPr>
        <p:spPr>
          <a:xfrm>
            <a:off x="5577840" y="1088136"/>
            <a:ext cx="3310128" cy="201168"/>
          </a:xfrm>
          <a:prstGeom prst="rect">
            <a:avLst/>
          </a:prstGeom>
          <a:noFill/>
          <a:ln/>
        </p:spPr>
        <p:txBody>
          <a:bodyPr wrap="square" lIns="0" tIns="0" rIns="0" bIns="0" rtlCol="0" anchor="ctr"/>
          <a:lstStyle/>
          <a:p>
            <a:pPr indent="0" marL="0">
              <a:buNone/>
            </a:pPr>
            <a:r>
              <a:rPr lang="en-US" sz="750" b="1" spc="150" kern="0" dirty="0">
                <a:solidFill>
                  <a:srgbClr val="8E44AD"/>
                </a:solidFill>
              </a:rPr>
              <a:t>DATA ACCESSIBLE</a:t>
            </a:r>
            <a:endParaRPr lang="en-US" sz="750" dirty="0"/>
          </a:p>
        </p:txBody>
      </p:sp>
      <p:sp>
        <p:nvSpPr>
          <p:cNvPr id="40" name="Text 38"/>
          <p:cNvSpPr/>
          <p:nvPr/>
        </p:nvSpPr>
        <p:spPr>
          <a:xfrm>
            <a:off x="5577840" y="1298448"/>
            <a:ext cx="3310128" cy="457200"/>
          </a:xfrm>
          <a:prstGeom prst="rect">
            <a:avLst/>
          </a:prstGeom>
          <a:noFill/>
          <a:ln/>
        </p:spPr>
        <p:txBody>
          <a:bodyPr wrap="square" lIns="0" tIns="0" rIns="0" bIns="0" rtlCol="0" anchor="ctr"/>
          <a:lstStyle/>
          <a:p>
            <a:pPr indent="0" marL="0">
              <a:lnSpc>
                <a:spcPct val="115000"/>
              </a:lnSpc>
              <a:buNone/>
            </a:pPr>
            <a:r>
              <a:rPr lang="en-US" sz="880" dirty="0">
                <a:solidFill>
                  <a:srgbClr val="FFFFFF"/>
                </a:solidFill>
              </a:rPr>
              <a:t>Only shared surveys assigned to them; controlled population per distribution</a:t>
            </a:r>
            <a:endParaRPr lang="en-US" sz="880" dirty="0"/>
          </a:p>
        </p:txBody>
      </p:sp>
      <p:sp>
        <p:nvSpPr>
          <p:cNvPr id="41" name="Shape 39"/>
          <p:cNvSpPr/>
          <p:nvPr/>
        </p:nvSpPr>
        <p:spPr>
          <a:xfrm>
            <a:off x="5468112" y="1837944"/>
            <a:ext cx="3474720" cy="749808"/>
          </a:xfrm>
          <a:prstGeom prst="rect">
            <a:avLst/>
          </a:prstGeom>
          <a:solidFill>
            <a:srgbClr val="1B5E7B"/>
          </a:solidFill>
          <a:ln/>
          <a:effectLst>
            <a:outerShdw sx="100000" sy="100000" kx="0" ky="0" algn="bl" rotWithShape="0" blurRad="101600" dist="38100" dir="8100000">
              <a:srgbClr val="000000">
                <a:alpha val="12000"/>
              </a:srgbClr>
            </a:outerShdw>
          </a:effectLst>
        </p:spPr>
      </p:sp>
      <p:sp>
        <p:nvSpPr>
          <p:cNvPr id="42" name="Shape 40"/>
          <p:cNvSpPr/>
          <p:nvPr/>
        </p:nvSpPr>
        <p:spPr>
          <a:xfrm>
            <a:off x="5468112" y="1837944"/>
            <a:ext cx="54864" cy="749808"/>
          </a:xfrm>
          <a:prstGeom prst="rect">
            <a:avLst/>
          </a:prstGeom>
          <a:solidFill>
            <a:srgbClr val="8E44AD"/>
          </a:solidFill>
          <a:ln/>
        </p:spPr>
      </p:sp>
      <p:sp>
        <p:nvSpPr>
          <p:cNvPr id="43" name="Text 41"/>
          <p:cNvSpPr/>
          <p:nvPr/>
        </p:nvSpPr>
        <p:spPr>
          <a:xfrm>
            <a:off x="5577840" y="1874520"/>
            <a:ext cx="3310128" cy="201168"/>
          </a:xfrm>
          <a:prstGeom prst="rect">
            <a:avLst/>
          </a:prstGeom>
          <a:noFill/>
          <a:ln/>
        </p:spPr>
        <p:txBody>
          <a:bodyPr wrap="square" lIns="0" tIns="0" rIns="0" bIns="0" rtlCol="0" anchor="ctr"/>
          <a:lstStyle/>
          <a:p>
            <a:pPr indent="0" marL="0">
              <a:buNone/>
            </a:pPr>
            <a:r>
              <a:rPr lang="en-US" sz="750" b="1" spc="150" kern="0" dirty="0">
                <a:solidFill>
                  <a:srgbClr val="8E44AD"/>
                </a:solidFill>
              </a:rPr>
              <a:t>POPULATION COVERED</a:t>
            </a:r>
            <a:endParaRPr lang="en-US" sz="750" dirty="0"/>
          </a:p>
        </p:txBody>
      </p:sp>
      <p:sp>
        <p:nvSpPr>
          <p:cNvPr id="44" name="Text 42"/>
          <p:cNvSpPr/>
          <p:nvPr/>
        </p:nvSpPr>
        <p:spPr>
          <a:xfrm>
            <a:off x="5577840" y="2084832"/>
            <a:ext cx="3310128" cy="457200"/>
          </a:xfrm>
          <a:prstGeom prst="rect">
            <a:avLst/>
          </a:prstGeom>
          <a:noFill/>
          <a:ln/>
        </p:spPr>
        <p:txBody>
          <a:bodyPr wrap="square" lIns="0" tIns="0" rIns="0" bIns="0" rtlCol="0" anchor="ctr"/>
          <a:lstStyle/>
          <a:p>
            <a:pPr indent="0" marL="0">
              <a:lnSpc>
                <a:spcPct val="115000"/>
              </a:lnSpc>
              <a:buNone/>
            </a:pPr>
            <a:r>
              <a:rPr lang="en-US" sz="880" dirty="0">
                <a:solidFill>
                  <a:srgbClr val="FFFFFF"/>
                </a:solidFill>
              </a:rPr>
              <a:t>India &amp; UK — Barclays Internal Audit (BIA) &amp; CSO Teams</a:t>
            </a:r>
            <a:endParaRPr lang="en-US" sz="880" dirty="0"/>
          </a:p>
        </p:txBody>
      </p:sp>
      <p:sp>
        <p:nvSpPr>
          <p:cNvPr id="45" name="Shape 43"/>
          <p:cNvSpPr/>
          <p:nvPr/>
        </p:nvSpPr>
        <p:spPr>
          <a:xfrm>
            <a:off x="5468112" y="2624328"/>
            <a:ext cx="3474720" cy="749808"/>
          </a:xfrm>
          <a:prstGeom prst="rect">
            <a:avLst/>
          </a:prstGeom>
          <a:solidFill>
            <a:srgbClr val="1A4A6E"/>
          </a:solidFill>
          <a:ln/>
          <a:effectLst>
            <a:outerShdw sx="100000" sy="100000" kx="0" ky="0" algn="bl" rotWithShape="0" blurRad="101600" dist="38100" dir="8100000">
              <a:srgbClr val="000000">
                <a:alpha val="12000"/>
              </a:srgbClr>
            </a:outerShdw>
          </a:effectLst>
        </p:spPr>
      </p:sp>
      <p:sp>
        <p:nvSpPr>
          <p:cNvPr id="46" name="Shape 44"/>
          <p:cNvSpPr/>
          <p:nvPr/>
        </p:nvSpPr>
        <p:spPr>
          <a:xfrm>
            <a:off x="5468112" y="2624328"/>
            <a:ext cx="54864" cy="749808"/>
          </a:xfrm>
          <a:prstGeom prst="rect">
            <a:avLst/>
          </a:prstGeom>
          <a:solidFill>
            <a:srgbClr val="8E44AD"/>
          </a:solidFill>
          <a:ln/>
        </p:spPr>
      </p:sp>
      <p:sp>
        <p:nvSpPr>
          <p:cNvPr id="47" name="Text 45"/>
          <p:cNvSpPr/>
          <p:nvPr/>
        </p:nvSpPr>
        <p:spPr>
          <a:xfrm>
            <a:off x="5577840" y="2660904"/>
            <a:ext cx="3310128" cy="201168"/>
          </a:xfrm>
          <a:prstGeom prst="rect">
            <a:avLst/>
          </a:prstGeom>
          <a:noFill/>
          <a:ln/>
        </p:spPr>
        <p:txBody>
          <a:bodyPr wrap="square" lIns="0" tIns="0" rIns="0" bIns="0" rtlCol="0" anchor="ctr"/>
          <a:lstStyle/>
          <a:p>
            <a:pPr indent="0" marL="0">
              <a:buNone/>
            </a:pPr>
            <a:r>
              <a:rPr lang="en-US" sz="750" b="1" spc="150" kern="0" dirty="0">
                <a:solidFill>
                  <a:srgbClr val="8E44AD"/>
                </a:solidFill>
              </a:rPr>
              <a:t>WHO RECEIVES ACCESS</a:t>
            </a:r>
            <a:endParaRPr lang="en-US" sz="750" dirty="0"/>
          </a:p>
        </p:txBody>
      </p:sp>
      <p:sp>
        <p:nvSpPr>
          <p:cNvPr id="48" name="Text 46"/>
          <p:cNvSpPr/>
          <p:nvPr/>
        </p:nvSpPr>
        <p:spPr>
          <a:xfrm>
            <a:off x="5577840" y="2871216"/>
            <a:ext cx="3310128" cy="457200"/>
          </a:xfrm>
          <a:prstGeom prst="rect">
            <a:avLst/>
          </a:prstGeom>
          <a:noFill/>
          <a:ln/>
        </p:spPr>
        <p:txBody>
          <a:bodyPr wrap="square" lIns="0" tIns="0" rIns="0" bIns="0" rtlCol="0" anchor="ctr"/>
          <a:lstStyle/>
          <a:p>
            <a:pPr indent="0" marL="0">
              <a:lnSpc>
                <a:spcPct val="115000"/>
              </a:lnSpc>
              <a:buNone/>
            </a:pPr>
            <a:r>
              <a:rPr lang="en-US" sz="880" dirty="0">
                <a:solidFill>
                  <a:srgbClr val="FFFFFF"/>
                </a:solidFill>
              </a:rPr>
              <a:t>BIA and CSO team members running periodic audit/compliance surveys</a:t>
            </a:r>
            <a:endParaRPr lang="en-US" sz="880" dirty="0"/>
          </a:p>
        </p:txBody>
      </p:sp>
      <p:sp>
        <p:nvSpPr>
          <p:cNvPr id="49" name="Shape 47"/>
          <p:cNvSpPr/>
          <p:nvPr/>
        </p:nvSpPr>
        <p:spPr>
          <a:xfrm>
            <a:off x="5468112" y="3410712"/>
            <a:ext cx="3474720" cy="749808"/>
          </a:xfrm>
          <a:prstGeom prst="rect">
            <a:avLst/>
          </a:prstGeom>
          <a:solidFill>
            <a:srgbClr val="16395A"/>
          </a:solidFill>
          <a:ln/>
          <a:effectLst>
            <a:outerShdw sx="100000" sy="100000" kx="0" ky="0" algn="bl" rotWithShape="0" blurRad="101600" dist="38100" dir="8100000">
              <a:srgbClr val="000000">
                <a:alpha val="12000"/>
              </a:srgbClr>
            </a:outerShdw>
          </a:effectLst>
        </p:spPr>
      </p:sp>
      <p:sp>
        <p:nvSpPr>
          <p:cNvPr id="50" name="Shape 48"/>
          <p:cNvSpPr/>
          <p:nvPr/>
        </p:nvSpPr>
        <p:spPr>
          <a:xfrm>
            <a:off x="5468112" y="3410712"/>
            <a:ext cx="54864" cy="749808"/>
          </a:xfrm>
          <a:prstGeom prst="rect">
            <a:avLst/>
          </a:prstGeom>
          <a:solidFill>
            <a:srgbClr val="8E44AD"/>
          </a:solidFill>
          <a:ln/>
        </p:spPr>
      </p:sp>
      <p:sp>
        <p:nvSpPr>
          <p:cNvPr id="51" name="Text 49"/>
          <p:cNvSpPr/>
          <p:nvPr/>
        </p:nvSpPr>
        <p:spPr>
          <a:xfrm>
            <a:off x="5577840" y="3447288"/>
            <a:ext cx="3310128" cy="201168"/>
          </a:xfrm>
          <a:prstGeom prst="rect">
            <a:avLst/>
          </a:prstGeom>
          <a:noFill/>
          <a:ln/>
        </p:spPr>
        <p:txBody>
          <a:bodyPr wrap="square" lIns="0" tIns="0" rIns="0" bIns="0" rtlCol="0" anchor="ctr"/>
          <a:lstStyle/>
          <a:p>
            <a:pPr indent="0" marL="0">
              <a:buNone/>
            </a:pPr>
            <a:r>
              <a:rPr lang="en-US" sz="750" b="1" spc="150" kern="0" dirty="0">
                <a:solidFill>
                  <a:srgbClr val="8E44AD"/>
                </a:solidFill>
              </a:rPr>
              <a:t>WHY THEY NEED IT</a:t>
            </a:r>
            <a:endParaRPr lang="en-US" sz="750" dirty="0"/>
          </a:p>
        </p:txBody>
      </p:sp>
      <p:sp>
        <p:nvSpPr>
          <p:cNvPr id="52" name="Text 50"/>
          <p:cNvSpPr/>
          <p:nvPr/>
        </p:nvSpPr>
        <p:spPr>
          <a:xfrm>
            <a:off x="5577840" y="3657600"/>
            <a:ext cx="3310128" cy="457200"/>
          </a:xfrm>
          <a:prstGeom prst="rect">
            <a:avLst/>
          </a:prstGeom>
          <a:noFill/>
          <a:ln/>
        </p:spPr>
        <p:txBody>
          <a:bodyPr wrap="square" lIns="0" tIns="0" rIns="0" bIns="0" rtlCol="0" anchor="ctr"/>
          <a:lstStyle/>
          <a:p>
            <a:pPr indent="0" marL="0">
              <a:lnSpc>
                <a:spcPct val="115000"/>
              </a:lnSpc>
              <a:buNone/>
            </a:pPr>
            <a:r>
              <a:rPr lang="en-US" sz="880" dirty="0">
                <a:solidFill>
                  <a:srgbClr val="FFFFFF"/>
                </a:solidFill>
              </a:rPr>
              <a:t>Run periodic surveys with a fixed template reused across different populations without full authoring rights</a:t>
            </a:r>
            <a:endParaRPr lang="en-US" sz="880" dirty="0"/>
          </a:p>
        </p:txBody>
      </p:sp>
      <p:sp>
        <p:nvSpPr>
          <p:cNvPr id="53" name="Shape 51"/>
          <p:cNvSpPr/>
          <p:nvPr/>
        </p:nvSpPr>
        <p:spPr>
          <a:xfrm>
            <a:off x="5468112" y="4197096"/>
            <a:ext cx="3474720" cy="749808"/>
          </a:xfrm>
          <a:prstGeom prst="rect">
            <a:avLst/>
          </a:prstGeom>
          <a:solidFill>
            <a:srgbClr val="0F2640"/>
          </a:solidFill>
          <a:ln/>
          <a:effectLst>
            <a:outerShdw sx="100000" sy="100000" kx="0" ky="0" algn="bl" rotWithShape="0" blurRad="101600" dist="38100" dir="8100000">
              <a:srgbClr val="000000">
                <a:alpha val="12000"/>
              </a:srgbClr>
            </a:outerShdw>
          </a:effectLst>
        </p:spPr>
      </p:sp>
      <p:sp>
        <p:nvSpPr>
          <p:cNvPr id="54" name="Shape 52"/>
          <p:cNvSpPr/>
          <p:nvPr/>
        </p:nvSpPr>
        <p:spPr>
          <a:xfrm>
            <a:off x="5468112" y="4197096"/>
            <a:ext cx="54864" cy="749808"/>
          </a:xfrm>
          <a:prstGeom prst="rect">
            <a:avLst/>
          </a:prstGeom>
          <a:solidFill>
            <a:srgbClr val="8E44AD"/>
          </a:solidFill>
          <a:ln/>
        </p:spPr>
      </p:sp>
      <p:sp>
        <p:nvSpPr>
          <p:cNvPr id="55" name="Text 53"/>
          <p:cNvSpPr/>
          <p:nvPr/>
        </p:nvSpPr>
        <p:spPr>
          <a:xfrm>
            <a:off x="5577840" y="4233672"/>
            <a:ext cx="3310128" cy="201168"/>
          </a:xfrm>
          <a:prstGeom prst="rect">
            <a:avLst/>
          </a:prstGeom>
          <a:noFill/>
          <a:ln/>
        </p:spPr>
        <p:txBody>
          <a:bodyPr wrap="square" lIns="0" tIns="0" rIns="0" bIns="0" rtlCol="0" anchor="ctr"/>
          <a:lstStyle/>
          <a:p>
            <a:pPr indent="0" marL="0">
              <a:buNone/>
            </a:pPr>
            <a:r>
              <a:rPr lang="en-US" sz="750" b="1" spc="150" kern="0" dirty="0">
                <a:solidFill>
                  <a:srgbClr val="8E44AD"/>
                </a:solidFill>
              </a:rPr>
              <a:t>HOW PROVISIONED</a:t>
            </a:r>
            <a:endParaRPr lang="en-US" sz="750" dirty="0"/>
          </a:p>
        </p:txBody>
      </p:sp>
      <p:sp>
        <p:nvSpPr>
          <p:cNvPr id="56" name="Text 54"/>
          <p:cNvSpPr/>
          <p:nvPr/>
        </p:nvSpPr>
        <p:spPr>
          <a:xfrm>
            <a:off x="5577840" y="4443984"/>
            <a:ext cx="3310128" cy="457200"/>
          </a:xfrm>
          <a:prstGeom prst="rect">
            <a:avLst/>
          </a:prstGeom>
          <a:noFill/>
          <a:ln/>
        </p:spPr>
        <p:txBody>
          <a:bodyPr wrap="square" lIns="0" tIns="0" rIns="0" bIns="0" rtlCol="0" anchor="ctr"/>
          <a:lstStyle/>
          <a:p>
            <a:pPr indent="0" marL="0">
              <a:lnSpc>
                <a:spcPct val="115000"/>
              </a:lnSpc>
              <a:buNone/>
            </a:pPr>
            <a:r>
              <a:rPr lang="en-US" sz="880" dirty="0">
                <a:solidFill>
                  <a:srgbClr val="FFFFFF"/>
                </a:solidFill>
              </a:rPr>
              <a:t>Bulk provisioning initially; future requests via Access Request Portal</a:t>
            </a:r>
            <a:endParaRPr lang="en-US" sz="88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6FB"/>
        </a:solidFill>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1E2761"/>
          </a:solidFill>
          <a:ln/>
        </p:spPr>
      </p:sp>
      <p:sp>
        <p:nvSpPr>
          <p:cNvPr id="3" name="Shape 1"/>
          <p:cNvSpPr/>
          <p:nvPr/>
        </p:nvSpPr>
        <p:spPr>
          <a:xfrm>
            <a:off x="0" y="0"/>
            <a:ext cx="201168" cy="960120"/>
          </a:xfrm>
          <a:prstGeom prst="rect">
            <a:avLst/>
          </a:prstGeom>
          <a:solidFill>
            <a:srgbClr val="E67E22"/>
          </a:solidFill>
          <a:ln/>
        </p:spPr>
      </p:sp>
      <p:sp>
        <p:nvSpPr>
          <p:cNvPr id="4" name="Shape 2"/>
          <p:cNvSpPr/>
          <p:nvPr/>
        </p:nvSpPr>
        <p:spPr>
          <a:xfrm>
            <a:off x="347472" y="155448"/>
            <a:ext cx="566928" cy="566928"/>
          </a:xfrm>
          <a:prstGeom prst="ellipse">
            <a:avLst/>
          </a:prstGeom>
          <a:solidFill>
            <a:srgbClr val="E67E22"/>
          </a:solidFill>
          <a:ln/>
          <a:effectLst>
            <a:outerShdw sx="100000" sy="100000" kx="0" ky="0" algn="bl" rotWithShape="0" blurRad="101600" dist="38100" dir="8100000">
              <a:srgbClr val="000000">
                <a:alpha val="12000"/>
              </a:srgbClr>
            </a:outerShdw>
          </a:effectLst>
        </p:spPr>
      </p:sp>
      <p:sp>
        <p:nvSpPr>
          <p:cNvPr id="5" name="Text 3"/>
          <p:cNvSpPr/>
          <p:nvPr/>
        </p:nvSpPr>
        <p:spPr>
          <a:xfrm>
            <a:off x="347472" y="155448"/>
            <a:ext cx="566928" cy="566928"/>
          </a:xfrm>
          <a:prstGeom prst="rect">
            <a:avLst/>
          </a:prstGeom>
          <a:noFill/>
          <a:ln/>
        </p:spPr>
        <p:txBody>
          <a:bodyPr wrap="square" lIns="0" tIns="0" rIns="0" bIns="0" rtlCol="0" anchor="ctr"/>
          <a:lstStyle/>
          <a:p>
            <a:pPr algn="ctr" indent="0" marL="0">
              <a:buNone/>
            </a:pPr>
            <a:r>
              <a:rPr lang="en-US" sz="1800" b="1" dirty="0">
                <a:solidFill>
                  <a:srgbClr val="FFFFFF"/>
                </a:solidFill>
              </a:rPr>
              <a:t>5</a:t>
            </a:r>
            <a:endParaRPr lang="en-US" sz="1800" dirty="0"/>
          </a:p>
        </p:txBody>
      </p:sp>
      <p:sp>
        <p:nvSpPr>
          <p:cNvPr id="6" name="Text 4"/>
          <p:cNvSpPr/>
          <p:nvPr/>
        </p:nvSpPr>
        <p:spPr>
          <a:xfrm>
            <a:off x="1051560" y="91440"/>
            <a:ext cx="5943600" cy="502920"/>
          </a:xfrm>
          <a:prstGeom prst="rect">
            <a:avLst/>
          </a:prstGeom>
          <a:noFill/>
          <a:ln/>
        </p:spPr>
        <p:txBody>
          <a:bodyPr wrap="square" lIns="0" tIns="0" rIns="0" bIns="0" rtlCol="0" anchor="ctr"/>
          <a:lstStyle/>
          <a:p>
            <a:pPr indent="0" marL="0">
              <a:buNone/>
            </a:pPr>
            <a:r>
              <a:rPr lang="en-US" sz="2000" b="1" dirty="0">
                <a:solidFill>
                  <a:srgbClr val="FFFFFF"/>
                </a:solidFill>
              </a:rPr>
              <a:t>Glint Advanced Analytics</a:t>
            </a:r>
            <a:endParaRPr lang="en-US" sz="2000" dirty="0"/>
          </a:p>
        </p:txBody>
      </p:sp>
      <p:sp>
        <p:nvSpPr>
          <p:cNvPr id="7" name="Text 5"/>
          <p:cNvSpPr/>
          <p:nvPr/>
        </p:nvSpPr>
        <p:spPr>
          <a:xfrm>
            <a:off x="1051560" y="594360"/>
            <a:ext cx="5943600" cy="274320"/>
          </a:xfrm>
          <a:prstGeom prst="rect">
            <a:avLst/>
          </a:prstGeom>
          <a:noFill/>
          <a:ln/>
        </p:spPr>
        <p:txBody>
          <a:bodyPr wrap="square" lIns="0" tIns="0" rIns="0" bIns="0" rtlCol="0" anchor="ctr"/>
          <a:lstStyle/>
          <a:p>
            <a:pPr indent="0" marL="0">
              <a:buNone/>
            </a:pPr>
            <a:r>
              <a:rPr lang="en-US" sz="900" dirty="0">
                <a:solidFill>
                  <a:srgbClr val="CADCFC"/>
                </a:solidFill>
              </a:rPr>
              <a:t>Role 5 of 7  |  Data &amp; OB Science Team — Dashboard Only</a:t>
            </a:r>
            <a:endParaRPr lang="en-US" sz="900" dirty="0"/>
          </a:p>
        </p:txBody>
      </p:sp>
      <p:sp>
        <p:nvSpPr>
          <p:cNvPr id="8" name="Shape 6"/>
          <p:cNvSpPr/>
          <p:nvPr/>
        </p:nvSpPr>
        <p:spPr>
          <a:xfrm>
            <a:off x="7863840" y="292608"/>
            <a:ext cx="1097280" cy="347472"/>
          </a:xfrm>
          <a:prstGeom prst="roundRect">
            <a:avLst>
              <a:gd name="adj" fmla="val 21053"/>
            </a:avLst>
          </a:prstGeom>
          <a:solidFill>
            <a:srgbClr val="F39C12"/>
          </a:solidFill>
          <a:ln/>
        </p:spPr>
      </p:sp>
      <p:sp>
        <p:nvSpPr>
          <p:cNvPr id="9" name="Text 7"/>
          <p:cNvSpPr/>
          <p:nvPr/>
        </p:nvSpPr>
        <p:spPr>
          <a:xfrm>
            <a:off x="7863840" y="292608"/>
            <a:ext cx="1097280" cy="347472"/>
          </a:xfrm>
          <a:prstGeom prst="rect">
            <a:avLst/>
          </a:prstGeom>
          <a:noFill/>
          <a:ln/>
        </p:spPr>
        <p:txBody>
          <a:bodyPr wrap="square" lIns="0" tIns="0" rIns="0" bIns="0" rtlCol="0" anchor="ctr"/>
          <a:lstStyle/>
          <a:p>
            <a:pPr algn="ctr" indent="0" marL="0">
              <a:buNone/>
            </a:pPr>
            <a:r>
              <a:rPr lang="en-US" sz="1000" b="1" dirty="0">
                <a:solidFill>
                  <a:srgbClr val="FFFFFF"/>
                </a:solidFill>
              </a:rPr>
              <a:t>Work in Progress</a:t>
            </a:r>
            <a:endParaRPr lang="en-US" sz="1000" dirty="0"/>
          </a:p>
        </p:txBody>
      </p:sp>
      <p:sp>
        <p:nvSpPr>
          <p:cNvPr id="10" name="Shape 8"/>
          <p:cNvSpPr/>
          <p:nvPr/>
        </p:nvSpPr>
        <p:spPr>
          <a:xfrm>
            <a:off x="201168" y="1051560"/>
            <a:ext cx="5074920" cy="3886200"/>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11" name="Shape 9"/>
          <p:cNvSpPr/>
          <p:nvPr/>
        </p:nvSpPr>
        <p:spPr>
          <a:xfrm>
            <a:off x="201168" y="1051560"/>
            <a:ext cx="5074920" cy="347472"/>
          </a:xfrm>
          <a:prstGeom prst="rect">
            <a:avLst/>
          </a:prstGeom>
          <a:solidFill>
            <a:srgbClr val="1A2340"/>
          </a:solidFill>
          <a:ln/>
        </p:spPr>
      </p:sp>
      <p:sp>
        <p:nvSpPr>
          <p:cNvPr id="12" name="Text 10"/>
          <p:cNvSpPr/>
          <p:nvPr/>
        </p:nvSpPr>
        <p:spPr>
          <a:xfrm>
            <a:off x="320040" y="1051560"/>
            <a:ext cx="4892040" cy="347472"/>
          </a:xfrm>
          <a:prstGeom prst="rect">
            <a:avLst/>
          </a:prstGeom>
          <a:noFill/>
          <a:ln/>
        </p:spPr>
        <p:txBody>
          <a:bodyPr wrap="square" lIns="0" tIns="0" rIns="0" bIns="0" rtlCol="0" anchor="ctr"/>
          <a:lstStyle/>
          <a:p>
            <a:pPr indent="0" marL="0">
              <a:buNone/>
            </a:pPr>
            <a:r>
              <a:rPr lang="en-US" sz="900" b="1" spc="200" kern="0" dirty="0">
                <a:solidFill>
                  <a:srgbClr val="F4A223"/>
                </a:solidFill>
              </a:rPr>
              <a:t>PERMISSIONS &amp; CAPABILITIES</a:t>
            </a:r>
            <a:endParaRPr lang="en-US" sz="900" dirty="0"/>
          </a:p>
        </p:txBody>
      </p:sp>
      <p:sp>
        <p:nvSpPr>
          <p:cNvPr id="13" name="Shape 11"/>
          <p:cNvSpPr/>
          <p:nvPr/>
        </p:nvSpPr>
        <p:spPr>
          <a:xfrm>
            <a:off x="320040" y="1591056"/>
            <a:ext cx="118872" cy="118872"/>
          </a:xfrm>
          <a:prstGeom prst="ellipse">
            <a:avLst/>
          </a:prstGeom>
          <a:solidFill>
            <a:srgbClr val="E67E22"/>
          </a:solidFill>
          <a:ln/>
        </p:spPr>
      </p:sp>
      <p:sp>
        <p:nvSpPr>
          <p:cNvPr id="14" name="Text 12"/>
          <p:cNvSpPr/>
          <p:nvPr/>
        </p:nvSpPr>
        <p:spPr>
          <a:xfrm>
            <a:off x="502920" y="1517904"/>
            <a:ext cx="2240280" cy="201168"/>
          </a:xfrm>
          <a:prstGeom prst="rect">
            <a:avLst/>
          </a:prstGeom>
          <a:noFill/>
          <a:ln/>
        </p:spPr>
        <p:txBody>
          <a:bodyPr wrap="square" lIns="0" tIns="0" rIns="0" bIns="0" rtlCol="0" anchor="ctr"/>
          <a:lstStyle/>
          <a:p>
            <a:pPr indent="0" marL="0">
              <a:buNone/>
            </a:pPr>
            <a:r>
              <a:rPr lang="en-US" sz="950" b="1" dirty="0">
                <a:solidFill>
                  <a:srgbClr val="1A2340"/>
                </a:solidFill>
              </a:rPr>
              <a:t>Dashboard Access (Read)</a:t>
            </a:r>
            <a:endParaRPr lang="en-US" sz="950" dirty="0"/>
          </a:p>
        </p:txBody>
      </p:sp>
      <p:sp>
        <p:nvSpPr>
          <p:cNvPr id="15" name="Text 13"/>
          <p:cNvSpPr/>
          <p:nvPr/>
        </p:nvSpPr>
        <p:spPr>
          <a:xfrm>
            <a:off x="502920" y="1719072"/>
            <a:ext cx="2240280" cy="256032"/>
          </a:xfrm>
          <a:prstGeom prst="rect">
            <a:avLst/>
          </a:prstGeom>
          <a:noFill/>
          <a:ln/>
        </p:spPr>
        <p:txBody>
          <a:bodyPr wrap="square" lIns="0" tIns="0" rIns="0" bIns="0" rtlCol="0" anchor="ctr"/>
          <a:lstStyle/>
          <a:p>
            <a:pPr indent="0" marL="0">
              <a:lnSpc>
                <a:spcPct val="110000"/>
              </a:lnSpc>
              <a:buNone/>
            </a:pPr>
            <a:r>
              <a:rPr lang="en-US" sz="800" dirty="0">
                <a:solidFill>
                  <a:srgbClr val="64748B"/>
                </a:solidFill>
              </a:rPr>
              <a:t>View all dashboards available within the platform</a:t>
            </a:r>
            <a:endParaRPr lang="en-US" sz="800" dirty="0"/>
          </a:p>
        </p:txBody>
      </p:sp>
      <p:sp>
        <p:nvSpPr>
          <p:cNvPr id="16" name="Shape 14"/>
          <p:cNvSpPr/>
          <p:nvPr/>
        </p:nvSpPr>
        <p:spPr>
          <a:xfrm>
            <a:off x="320040" y="2066544"/>
            <a:ext cx="118872" cy="118872"/>
          </a:xfrm>
          <a:prstGeom prst="ellipse">
            <a:avLst/>
          </a:prstGeom>
          <a:solidFill>
            <a:srgbClr val="E67E22"/>
          </a:solidFill>
          <a:ln/>
        </p:spPr>
      </p:sp>
      <p:sp>
        <p:nvSpPr>
          <p:cNvPr id="17" name="Text 15"/>
          <p:cNvSpPr/>
          <p:nvPr/>
        </p:nvSpPr>
        <p:spPr>
          <a:xfrm>
            <a:off x="502920" y="1993392"/>
            <a:ext cx="2240280" cy="201168"/>
          </a:xfrm>
          <a:prstGeom prst="rect">
            <a:avLst/>
          </a:prstGeom>
          <a:noFill/>
          <a:ln/>
        </p:spPr>
        <p:txBody>
          <a:bodyPr wrap="square" lIns="0" tIns="0" rIns="0" bIns="0" rtlCol="0" anchor="ctr"/>
          <a:lstStyle/>
          <a:p>
            <a:pPr indent="0" marL="0">
              <a:buNone/>
            </a:pPr>
            <a:r>
              <a:rPr lang="en-US" sz="950" b="1" dirty="0">
                <a:solidFill>
                  <a:srgbClr val="1A2340"/>
                </a:solidFill>
              </a:rPr>
              <a:t>Report Consumption</a:t>
            </a:r>
            <a:endParaRPr lang="en-US" sz="950" dirty="0"/>
          </a:p>
        </p:txBody>
      </p:sp>
      <p:sp>
        <p:nvSpPr>
          <p:cNvPr id="18" name="Text 16"/>
          <p:cNvSpPr/>
          <p:nvPr/>
        </p:nvSpPr>
        <p:spPr>
          <a:xfrm>
            <a:off x="502920" y="2194560"/>
            <a:ext cx="2240280" cy="256032"/>
          </a:xfrm>
          <a:prstGeom prst="rect">
            <a:avLst/>
          </a:prstGeom>
          <a:noFill/>
          <a:ln/>
        </p:spPr>
        <p:txBody>
          <a:bodyPr wrap="square" lIns="0" tIns="0" rIns="0" bIns="0" rtlCol="0" anchor="ctr"/>
          <a:lstStyle/>
          <a:p>
            <a:pPr indent="0" marL="0">
              <a:lnSpc>
                <a:spcPct val="110000"/>
              </a:lnSpc>
              <a:buNone/>
            </a:pPr>
            <a:r>
              <a:rPr lang="en-US" sz="800" dirty="0">
                <a:solidFill>
                  <a:srgbClr val="64748B"/>
                </a:solidFill>
              </a:rPr>
              <a:t>Consume shared reports and insights from survey results</a:t>
            </a:r>
            <a:endParaRPr lang="en-US" sz="800" dirty="0"/>
          </a:p>
        </p:txBody>
      </p:sp>
      <p:sp>
        <p:nvSpPr>
          <p:cNvPr id="19" name="Shape 17"/>
          <p:cNvSpPr/>
          <p:nvPr/>
        </p:nvSpPr>
        <p:spPr>
          <a:xfrm>
            <a:off x="320040" y="2542032"/>
            <a:ext cx="118872" cy="118872"/>
          </a:xfrm>
          <a:prstGeom prst="ellipse">
            <a:avLst/>
          </a:prstGeom>
          <a:solidFill>
            <a:srgbClr val="E67E22"/>
          </a:solidFill>
          <a:ln/>
        </p:spPr>
      </p:sp>
      <p:sp>
        <p:nvSpPr>
          <p:cNvPr id="20" name="Text 18"/>
          <p:cNvSpPr/>
          <p:nvPr/>
        </p:nvSpPr>
        <p:spPr>
          <a:xfrm>
            <a:off x="502920" y="2468880"/>
            <a:ext cx="2240280" cy="201168"/>
          </a:xfrm>
          <a:prstGeom prst="rect">
            <a:avLst/>
          </a:prstGeom>
          <a:noFill/>
          <a:ln/>
        </p:spPr>
        <p:txBody>
          <a:bodyPr wrap="square" lIns="0" tIns="0" rIns="0" bIns="0" rtlCol="0" anchor="ctr"/>
          <a:lstStyle/>
          <a:p>
            <a:pPr indent="0" marL="0">
              <a:buNone/>
            </a:pPr>
            <a:r>
              <a:rPr lang="en-US" sz="950" b="1" dirty="0">
                <a:solidFill>
                  <a:srgbClr val="1A2340"/>
                </a:solidFill>
              </a:rPr>
              <a:t>❌ No Survey Authoring</a:t>
            </a:r>
            <a:endParaRPr lang="en-US" sz="950" dirty="0"/>
          </a:p>
        </p:txBody>
      </p:sp>
      <p:sp>
        <p:nvSpPr>
          <p:cNvPr id="21" name="Text 19"/>
          <p:cNvSpPr/>
          <p:nvPr/>
        </p:nvSpPr>
        <p:spPr>
          <a:xfrm>
            <a:off x="502920" y="2670048"/>
            <a:ext cx="2240280" cy="256032"/>
          </a:xfrm>
          <a:prstGeom prst="rect">
            <a:avLst/>
          </a:prstGeom>
          <a:noFill/>
          <a:ln/>
        </p:spPr>
        <p:txBody>
          <a:bodyPr wrap="square" lIns="0" tIns="0" rIns="0" bIns="0" rtlCol="0" anchor="ctr"/>
          <a:lstStyle/>
          <a:p>
            <a:pPr indent="0" marL="0">
              <a:lnSpc>
                <a:spcPct val="110000"/>
              </a:lnSpc>
              <a:buNone/>
            </a:pPr>
            <a:r>
              <a:rPr lang="en-US" sz="800" dirty="0">
                <a:solidFill>
                  <a:srgbClr val="64748B"/>
                </a:solidFill>
              </a:rPr>
              <a:t>Cannot create, edit, or modify any survey programs</a:t>
            </a:r>
            <a:endParaRPr lang="en-US" sz="800" dirty="0"/>
          </a:p>
        </p:txBody>
      </p:sp>
      <p:sp>
        <p:nvSpPr>
          <p:cNvPr id="22" name="Shape 20"/>
          <p:cNvSpPr/>
          <p:nvPr/>
        </p:nvSpPr>
        <p:spPr>
          <a:xfrm>
            <a:off x="320040" y="3017520"/>
            <a:ext cx="118872" cy="118872"/>
          </a:xfrm>
          <a:prstGeom prst="ellipse">
            <a:avLst/>
          </a:prstGeom>
          <a:solidFill>
            <a:srgbClr val="E67E22"/>
          </a:solidFill>
          <a:ln/>
        </p:spPr>
      </p:sp>
      <p:sp>
        <p:nvSpPr>
          <p:cNvPr id="23" name="Text 21"/>
          <p:cNvSpPr/>
          <p:nvPr/>
        </p:nvSpPr>
        <p:spPr>
          <a:xfrm>
            <a:off x="502920" y="2944368"/>
            <a:ext cx="2240280" cy="201168"/>
          </a:xfrm>
          <a:prstGeom prst="rect">
            <a:avLst/>
          </a:prstGeom>
          <a:noFill/>
          <a:ln/>
        </p:spPr>
        <p:txBody>
          <a:bodyPr wrap="square" lIns="0" tIns="0" rIns="0" bIns="0" rtlCol="0" anchor="ctr"/>
          <a:lstStyle/>
          <a:p>
            <a:pPr indent="0" marL="0">
              <a:buNone/>
            </a:pPr>
            <a:r>
              <a:rPr lang="en-US" sz="950" b="1" dirty="0">
                <a:solidFill>
                  <a:srgbClr val="1A2340"/>
                </a:solidFill>
              </a:rPr>
              <a:t>❌ No Distribution</a:t>
            </a:r>
            <a:endParaRPr lang="en-US" sz="950" dirty="0"/>
          </a:p>
        </p:txBody>
      </p:sp>
      <p:sp>
        <p:nvSpPr>
          <p:cNvPr id="24" name="Text 22"/>
          <p:cNvSpPr/>
          <p:nvPr/>
        </p:nvSpPr>
        <p:spPr>
          <a:xfrm>
            <a:off x="502920" y="3145536"/>
            <a:ext cx="2240280" cy="256032"/>
          </a:xfrm>
          <a:prstGeom prst="rect">
            <a:avLst/>
          </a:prstGeom>
          <a:noFill/>
          <a:ln/>
        </p:spPr>
        <p:txBody>
          <a:bodyPr wrap="square" lIns="0" tIns="0" rIns="0" bIns="0" rtlCol="0" anchor="ctr"/>
          <a:lstStyle/>
          <a:p>
            <a:pPr indent="0" marL="0">
              <a:lnSpc>
                <a:spcPct val="110000"/>
              </a:lnSpc>
              <a:buNone/>
            </a:pPr>
            <a:r>
              <a:rPr lang="en-US" sz="800" dirty="0">
                <a:solidFill>
                  <a:srgbClr val="64748B"/>
                </a:solidFill>
              </a:rPr>
              <a:t>Cannot send or manage survey distributions</a:t>
            </a:r>
            <a:endParaRPr lang="en-US" sz="800" dirty="0"/>
          </a:p>
        </p:txBody>
      </p:sp>
      <p:sp>
        <p:nvSpPr>
          <p:cNvPr id="25" name="Shape 23"/>
          <p:cNvSpPr/>
          <p:nvPr/>
        </p:nvSpPr>
        <p:spPr>
          <a:xfrm>
            <a:off x="2862072" y="1591056"/>
            <a:ext cx="118872" cy="118872"/>
          </a:xfrm>
          <a:prstGeom prst="ellipse">
            <a:avLst/>
          </a:prstGeom>
          <a:solidFill>
            <a:srgbClr val="E67E22"/>
          </a:solidFill>
          <a:ln/>
        </p:spPr>
      </p:sp>
      <p:sp>
        <p:nvSpPr>
          <p:cNvPr id="26" name="Text 24"/>
          <p:cNvSpPr/>
          <p:nvPr/>
        </p:nvSpPr>
        <p:spPr>
          <a:xfrm>
            <a:off x="3044952" y="1517904"/>
            <a:ext cx="2240280" cy="201168"/>
          </a:xfrm>
          <a:prstGeom prst="rect">
            <a:avLst/>
          </a:prstGeom>
          <a:noFill/>
          <a:ln/>
        </p:spPr>
        <p:txBody>
          <a:bodyPr wrap="square" lIns="0" tIns="0" rIns="0" bIns="0" rtlCol="0" anchor="ctr"/>
          <a:lstStyle/>
          <a:p>
            <a:pPr indent="0" marL="0">
              <a:buNone/>
            </a:pPr>
            <a:r>
              <a:rPr lang="en-US" sz="950" b="1" dirty="0">
                <a:solidFill>
                  <a:srgbClr val="1A2340"/>
                </a:solidFill>
              </a:rPr>
              <a:t>❌ No Data Management</a:t>
            </a:r>
            <a:endParaRPr lang="en-US" sz="950" dirty="0"/>
          </a:p>
        </p:txBody>
      </p:sp>
      <p:sp>
        <p:nvSpPr>
          <p:cNvPr id="27" name="Text 25"/>
          <p:cNvSpPr/>
          <p:nvPr/>
        </p:nvSpPr>
        <p:spPr>
          <a:xfrm>
            <a:off x="3044952" y="1719072"/>
            <a:ext cx="2240280" cy="256032"/>
          </a:xfrm>
          <a:prstGeom prst="rect">
            <a:avLst/>
          </a:prstGeom>
          <a:noFill/>
          <a:ln/>
        </p:spPr>
        <p:txBody>
          <a:bodyPr wrap="square" lIns="0" tIns="0" rIns="0" bIns="0" rtlCol="0" anchor="ctr"/>
          <a:lstStyle/>
          <a:p>
            <a:pPr indent="0" marL="0">
              <a:lnSpc>
                <a:spcPct val="110000"/>
              </a:lnSpc>
              <a:buNone/>
            </a:pPr>
            <a:r>
              <a:rPr lang="en-US" sz="800" dirty="0">
                <a:solidFill>
                  <a:srgbClr val="64748B"/>
                </a:solidFill>
              </a:rPr>
              <a:t>No role management, proxy login, or attribute control</a:t>
            </a:r>
            <a:endParaRPr lang="en-US" sz="800" dirty="0"/>
          </a:p>
        </p:txBody>
      </p:sp>
      <p:sp>
        <p:nvSpPr>
          <p:cNvPr id="28" name="Shape 26"/>
          <p:cNvSpPr/>
          <p:nvPr/>
        </p:nvSpPr>
        <p:spPr>
          <a:xfrm>
            <a:off x="2862072" y="2066544"/>
            <a:ext cx="118872" cy="118872"/>
          </a:xfrm>
          <a:prstGeom prst="ellipse">
            <a:avLst/>
          </a:prstGeom>
          <a:solidFill>
            <a:srgbClr val="E67E22"/>
          </a:solidFill>
          <a:ln/>
        </p:spPr>
      </p:sp>
      <p:sp>
        <p:nvSpPr>
          <p:cNvPr id="29" name="Text 27"/>
          <p:cNvSpPr/>
          <p:nvPr/>
        </p:nvSpPr>
        <p:spPr>
          <a:xfrm>
            <a:off x="3044952" y="1993392"/>
            <a:ext cx="2240280" cy="201168"/>
          </a:xfrm>
          <a:prstGeom prst="rect">
            <a:avLst/>
          </a:prstGeom>
          <a:noFill/>
          <a:ln/>
        </p:spPr>
        <p:txBody>
          <a:bodyPr wrap="square" lIns="0" tIns="0" rIns="0" bIns="0" rtlCol="0" anchor="ctr"/>
          <a:lstStyle/>
          <a:p>
            <a:pPr indent="0" marL="0">
              <a:buNone/>
            </a:pPr>
            <a:r>
              <a:rPr lang="en-US" sz="950" b="1" dirty="0">
                <a:solidFill>
                  <a:srgbClr val="1A2340"/>
                </a:solidFill>
              </a:rPr>
              <a:t>❌ No Advanced Config</a:t>
            </a:r>
            <a:endParaRPr lang="en-US" sz="950" dirty="0"/>
          </a:p>
        </p:txBody>
      </p:sp>
      <p:sp>
        <p:nvSpPr>
          <p:cNvPr id="30" name="Text 28"/>
          <p:cNvSpPr/>
          <p:nvPr/>
        </p:nvSpPr>
        <p:spPr>
          <a:xfrm>
            <a:off x="3044952" y="2194560"/>
            <a:ext cx="2240280" cy="256032"/>
          </a:xfrm>
          <a:prstGeom prst="rect">
            <a:avLst/>
          </a:prstGeom>
          <a:noFill/>
          <a:ln/>
        </p:spPr>
        <p:txBody>
          <a:bodyPr wrap="square" lIns="0" tIns="0" rIns="0" bIns="0" rtlCol="0" anchor="ctr"/>
          <a:lstStyle/>
          <a:p>
            <a:pPr indent="0" marL="0">
              <a:lnSpc>
                <a:spcPct val="110000"/>
              </a:lnSpc>
              <a:buNone/>
            </a:pPr>
            <a:r>
              <a:rPr lang="en-US" sz="800" dirty="0">
                <a:solidFill>
                  <a:srgbClr val="64748B"/>
                </a:solidFill>
              </a:rPr>
              <a:t>No survey thresholds, integrations, or advanced settings</a:t>
            </a:r>
            <a:endParaRPr lang="en-US" sz="800" dirty="0"/>
          </a:p>
        </p:txBody>
      </p:sp>
      <p:sp>
        <p:nvSpPr>
          <p:cNvPr id="31" name="Shape 29"/>
          <p:cNvSpPr/>
          <p:nvPr/>
        </p:nvSpPr>
        <p:spPr>
          <a:xfrm>
            <a:off x="2862072" y="2542032"/>
            <a:ext cx="118872" cy="118872"/>
          </a:xfrm>
          <a:prstGeom prst="ellipse">
            <a:avLst/>
          </a:prstGeom>
          <a:solidFill>
            <a:srgbClr val="E67E22"/>
          </a:solidFill>
          <a:ln/>
        </p:spPr>
      </p:sp>
      <p:sp>
        <p:nvSpPr>
          <p:cNvPr id="32" name="Text 30"/>
          <p:cNvSpPr/>
          <p:nvPr/>
        </p:nvSpPr>
        <p:spPr>
          <a:xfrm>
            <a:off x="3044952" y="2468880"/>
            <a:ext cx="2240280" cy="201168"/>
          </a:xfrm>
          <a:prstGeom prst="rect">
            <a:avLst/>
          </a:prstGeom>
          <a:noFill/>
          <a:ln/>
        </p:spPr>
        <p:txBody>
          <a:bodyPr wrap="square" lIns="0" tIns="0" rIns="0" bIns="0" rtlCol="0" anchor="ctr"/>
          <a:lstStyle/>
          <a:p>
            <a:pPr indent="0" marL="0">
              <a:buNone/>
            </a:pPr>
            <a:r>
              <a:rPr lang="en-US" sz="950" b="1" dirty="0">
                <a:solidFill>
                  <a:srgbClr val="1A2340"/>
                </a:solidFill>
              </a:rPr>
              <a:t>⚠️ Platform Limitation</a:t>
            </a:r>
            <a:endParaRPr lang="en-US" sz="950" dirty="0"/>
          </a:p>
        </p:txBody>
      </p:sp>
      <p:sp>
        <p:nvSpPr>
          <p:cNvPr id="33" name="Text 31"/>
          <p:cNvSpPr/>
          <p:nvPr/>
        </p:nvSpPr>
        <p:spPr>
          <a:xfrm>
            <a:off x="3044952" y="2670048"/>
            <a:ext cx="2240280" cy="256032"/>
          </a:xfrm>
          <a:prstGeom prst="rect">
            <a:avLst/>
          </a:prstGeom>
          <a:noFill/>
          <a:ln/>
        </p:spPr>
        <p:txBody>
          <a:bodyPr wrap="square" lIns="0" tIns="0" rIns="0" bIns="0" rtlCol="0" anchor="ctr"/>
          <a:lstStyle/>
          <a:p>
            <a:pPr indent="0" marL="0">
              <a:lnSpc>
                <a:spcPct val="110000"/>
              </a:lnSpc>
              <a:buNone/>
            </a:pPr>
            <a:r>
              <a:rPr lang="en-US" sz="800" dirty="0">
                <a:solidFill>
                  <a:srgbClr val="64748B"/>
                </a:solidFill>
              </a:rPr>
              <a:t>Glint does not natively support advanced analytics — gap exists</a:t>
            </a:r>
            <a:endParaRPr lang="en-US" sz="800" dirty="0"/>
          </a:p>
        </p:txBody>
      </p:sp>
      <p:sp>
        <p:nvSpPr>
          <p:cNvPr id="34" name="Shape 32"/>
          <p:cNvSpPr/>
          <p:nvPr/>
        </p:nvSpPr>
        <p:spPr>
          <a:xfrm>
            <a:off x="2862072" y="3017520"/>
            <a:ext cx="118872" cy="118872"/>
          </a:xfrm>
          <a:prstGeom prst="ellipse">
            <a:avLst/>
          </a:prstGeom>
          <a:solidFill>
            <a:srgbClr val="E67E22"/>
          </a:solidFill>
          <a:ln/>
        </p:spPr>
      </p:sp>
      <p:sp>
        <p:nvSpPr>
          <p:cNvPr id="35" name="Text 33"/>
          <p:cNvSpPr/>
          <p:nvPr/>
        </p:nvSpPr>
        <p:spPr>
          <a:xfrm>
            <a:off x="3044952" y="2944368"/>
            <a:ext cx="2240280" cy="201168"/>
          </a:xfrm>
          <a:prstGeom prst="rect">
            <a:avLst/>
          </a:prstGeom>
          <a:noFill/>
          <a:ln/>
        </p:spPr>
        <p:txBody>
          <a:bodyPr wrap="square" lIns="0" tIns="0" rIns="0" bIns="0" rtlCol="0" anchor="ctr"/>
          <a:lstStyle/>
          <a:p>
            <a:pPr indent="0" marL="0">
              <a:buNone/>
            </a:pPr>
            <a:r>
              <a:rPr lang="en-US" sz="950" b="1" dirty="0">
                <a:solidFill>
                  <a:srgbClr val="1A2340"/>
                </a:solidFill>
              </a:rPr>
              <a:t>⚠️ Pending Solution</a:t>
            </a:r>
            <a:endParaRPr lang="en-US" sz="950" dirty="0"/>
          </a:p>
        </p:txBody>
      </p:sp>
      <p:sp>
        <p:nvSpPr>
          <p:cNvPr id="36" name="Text 34"/>
          <p:cNvSpPr/>
          <p:nvPr/>
        </p:nvSpPr>
        <p:spPr>
          <a:xfrm>
            <a:off x="3044952" y="3145536"/>
            <a:ext cx="2240280" cy="256032"/>
          </a:xfrm>
          <a:prstGeom prst="rect">
            <a:avLst/>
          </a:prstGeom>
          <a:noFill/>
          <a:ln/>
        </p:spPr>
        <p:txBody>
          <a:bodyPr wrap="square" lIns="0" tIns="0" rIns="0" bIns="0" rtlCol="0" anchor="ctr"/>
          <a:lstStyle/>
          <a:p>
            <a:pPr indent="0" marL="0">
              <a:lnSpc>
                <a:spcPct val="110000"/>
              </a:lnSpc>
              <a:buNone/>
            </a:pPr>
            <a:r>
              <a:rPr lang="en-US" sz="800" dirty="0">
                <a:solidFill>
                  <a:srgbClr val="64748B"/>
                </a:solidFill>
              </a:rPr>
              <a:t>Architecture decision required to enable analytics use case</a:t>
            </a:r>
            <a:endParaRPr lang="en-US" sz="800" dirty="0"/>
          </a:p>
        </p:txBody>
      </p:sp>
      <p:sp>
        <p:nvSpPr>
          <p:cNvPr id="37" name="Shape 35"/>
          <p:cNvSpPr/>
          <p:nvPr/>
        </p:nvSpPr>
        <p:spPr>
          <a:xfrm>
            <a:off x="5468112" y="1051560"/>
            <a:ext cx="3474720" cy="749808"/>
          </a:xfrm>
          <a:prstGeom prst="rect">
            <a:avLst/>
          </a:prstGeom>
          <a:solidFill>
            <a:srgbClr val="1E2761"/>
          </a:solidFill>
          <a:ln/>
          <a:effectLst>
            <a:outerShdw sx="100000" sy="100000" kx="0" ky="0" algn="bl" rotWithShape="0" blurRad="101600" dist="38100" dir="8100000">
              <a:srgbClr val="000000">
                <a:alpha val="12000"/>
              </a:srgbClr>
            </a:outerShdw>
          </a:effectLst>
        </p:spPr>
      </p:sp>
      <p:sp>
        <p:nvSpPr>
          <p:cNvPr id="38" name="Shape 36"/>
          <p:cNvSpPr/>
          <p:nvPr/>
        </p:nvSpPr>
        <p:spPr>
          <a:xfrm>
            <a:off x="5468112" y="1051560"/>
            <a:ext cx="54864" cy="749808"/>
          </a:xfrm>
          <a:prstGeom prst="rect">
            <a:avLst/>
          </a:prstGeom>
          <a:solidFill>
            <a:srgbClr val="E67E22"/>
          </a:solidFill>
          <a:ln/>
        </p:spPr>
      </p:sp>
      <p:sp>
        <p:nvSpPr>
          <p:cNvPr id="39" name="Text 37"/>
          <p:cNvSpPr/>
          <p:nvPr/>
        </p:nvSpPr>
        <p:spPr>
          <a:xfrm>
            <a:off x="5577840" y="1088136"/>
            <a:ext cx="3310128" cy="201168"/>
          </a:xfrm>
          <a:prstGeom prst="rect">
            <a:avLst/>
          </a:prstGeom>
          <a:noFill/>
          <a:ln/>
        </p:spPr>
        <p:txBody>
          <a:bodyPr wrap="square" lIns="0" tIns="0" rIns="0" bIns="0" rtlCol="0" anchor="ctr"/>
          <a:lstStyle/>
          <a:p>
            <a:pPr indent="0" marL="0">
              <a:buNone/>
            </a:pPr>
            <a:r>
              <a:rPr lang="en-US" sz="750" b="1" spc="150" kern="0" dirty="0">
                <a:solidFill>
                  <a:srgbClr val="E67E22"/>
                </a:solidFill>
              </a:rPr>
              <a:t>DATA ACCESSIBLE</a:t>
            </a:r>
            <a:endParaRPr lang="en-US" sz="750" dirty="0"/>
          </a:p>
        </p:txBody>
      </p:sp>
      <p:sp>
        <p:nvSpPr>
          <p:cNvPr id="40" name="Text 38"/>
          <p:cNvSpPr/>
          <p:nvPr/>
        </p:nvSpPr>
        <p:spPr>
          <a:xfrm>
            <a:off x="5577840" y="1298448"/>
            <a:ext cx="3310128" cy="457200"/>
          </a:xfrm>
          <a:prstGeom prst="rect">
            <a:avLst/>
          </a:prstGeom>
          <a:noFill/>
          <a:ln/>
        </p:spPr>
        <p:txBody>
          <a:bodyPr wrap="square" lIns="0" tIns="0" rIns="0" bIns="0" rtlCol="0" anchor="ctr"/>
          <a:lstStyle/>
          <a:p>
            <a:pPr indent="0" marL="0">
              <a:lnSpc>
                <a:spcPct val="115000"/>
              </a:lnSpc>
              <a:buNone/>
            </a:pPr>
            <a:r>
              <a:rPr lang="en-US" sz="880" dirty="0">
                <a:solidFill>
                  <a:srgbClr val="FFFFFF"/>
                </a:solidFill>
              </a:rPr>
              <a:t>Dashboard data only — no raw survey or population data access</a:t>
            </a:r>
            <a:endParaRPr lang="en-US" sz="880" dirty="0"/>
          </a:p>
        </p:txBody>
      </p:sp>
      <p:sp>
        <p:nvSpPr>
          <p:cNvPr id="41" name="Shape 39"/>
          <p:cNvSpPr/>
          <p:nvPr/>
        </p:nvSpPr>
        <p:spPr>
          <a:xfrm>
            <a:off x="5468112" y="1837944"/>
            <a:ext cx="3474720" cy="749808"/>
          </a:xfrm>
          <a:prstGeom prst="rect">
            <a:avLst/>
          </a:prstGeom>
          <a:solidFill>
            <a:srgbClr val="1B5E7B"/>
          </a:solidFill>
          <a:ln/>
          <a:effectLst>
            <a:outerShdw sx="100000" sy="100000" kx="0" ky="0" algn="bl" rotWithShape="0" blurRad="101600" dist="38100" dir="8100000">
              <a:srgbClr val="000000">
                <a:alpha val="12000"/>
              </a:srgbClr>
            </a:outerShdw>
          </a:effectLst>
        </p:spPr>
      </p:sp>
      <p:sp>
        <p:nvSpPr>
          <p:cNvPr id="42" name="Shape 40"/>
          <p:cNvSpPr/>
          <p:nvPr/>
        </p:nvSpPr>
        <p:spPr>
          <a:xfrm>
            <a:off x="5468112" y="1837944"/>
            <a:ext cx="54864" cy="749808"/>
          </a:xfrm>
          <a:prstGeom prst="rect">
            <a:avLst/>
          </a:prstGeom>
          <a:solidFill>
            <a:srgbClr val="E67E22"/>
          </a:solidFill>
          <a:ln/>
        </p:spPr>
      </p:sp>
      <p:sp>
        <p:nvSpPr>
          <p:cNvPr id="43" name="Text 41"/>
          <p:cNvSpPr/>
          <p:nvPr/>
        </p:nvSpPr>
        <p:spPr>
          <a:xfrm>
            <a:off x="5577840" y="1874520"/>
            <a:ext cx="3310128" cy="201168"/>
          </a:xfrm>
          <a:prstGeom prst="rect">
            <a:avLst/>
          </a:prstGeom>
          <a:noFill/>
          <a:ln/>
        </p:spPr>
        <p:txBody>
          <a:bodyPr wrap="square" lIns="0" tIns="0" rIns="0" bIns="0" rtlCol="0" anchor="ctr"/>
          <a:lstStyle/>
          <a:p>
            <a:pPr indent="0" marL="0">
              <a:buNone/>
            </a:pPr>
            <a:r>
              <a:rPr lang="en-US" sz="750" b="1" spc="150" kern="0" dirty="0">
                <a:solidFill>
                  <a:srgbClr val="E67E22"/>
                </a:solidFill>
              </a:rPr>
              <a:t>POPULATION COVERED</a:t>
            </a:r>
            <a:endParaRPr lang="en-US" sz="750" dirty="0"/>
          </a:p>
        </p:txBody>
      </p:sp>
      <p:sp>
        <p:nvSpPr>
          <p:cNvPr id="44" name="Text 42"/>
          <p:cNvSpPr/>
          <p:nvPr/>
        </p:nvSpPr>
        <p:spPr>
          <a:xfrm>
            <a:off x="5577840" y="2084832"/>
            <a:ext cx="3310128" cy="457200"/>
          </a:xfrm>
          <a:prstGeom prst="rect">
            <a:avLst/>
          </a:prstGeom>
          <a:noFill/>
          <a:ln/>
        </p:spPr>
        <p:txBody>
          <a:bodyPr wrap="square" lIns="0" tIns="0" rIns="0" bIns="0" rtlCol="0" anchor="ctr"/>
          <a:lstStyle/>
          <a:p>
            <a:pPr indent="0" marL="0">
              <a:lnSpc>
                <a:spcPct val="115000"/>
              </a:lnSpc>
              <a:buNone/>
            </a:pPr>
            <a:r>
              <a:rPr lang="en-US" sz="880" dirty="0">
                <a:solidFill>
                  <a:srgbClr val="FFFFFF"/>
                </a:solidFill>
              </a:rPr>
              <a:t>India &amp; UK — Data Science &amp; OB Science Teams</a:t>
            </a:r>
            <a:endParaRPr lang="en-US" sz="880" dirty="0"/>
          </a:p>
        </p:txBody>
      </p:sp>
      <p:sp>
        <p:nvSpPr>
          <p:cNvPr id="45" name="Shape 43"/>
          <p:cNvSpPr/>
          <p:nvPr/>
        </p:nvSpPr>
        <p:spPr>
          <a:xfrm>
            <a:off x="5468112" y="2624328"/>
            <a:ext cx="3474720" cy="749808"/>
          </a:xfrm>
          <a:prstGeom prst="rect">
            <a:avLst/>
          </a:prstGeom>
          <a:solidFill>
            <a:srgbClr val="1A4A6E"/>
          </a:solidFill>
          <a:ln/>
          <a:effectLst>
            <a:outerShdw sx="100000" sy="100000" kx="0" ky="0" algn="bl" rotWithShape="0" blurRad="101600" dist="38100" dir="8100000">
              <a:srgbClr val="000000">
                <a:alpha val="12000"/>
              </a:srgbClr>
            </a:outerShdw>
          </a:effectLst>
        </p:spPr>
      </p:sp>
      <p:sp>
        <p:nvSpPr>
          <p:cNvPr id="46" name="Shape 44"/>
          <p:cNvSpPr/>
          <p:nvPr/>
        </p:nvSpPr>
        <p:spPr>
          <a:xfrm>
            <a:off x="5468112" y="2624328"/>
            <a:ext cx="54864" cy="749808"/>
          </a:xfrm>
          <a:prstGeom prst="rect">
            <a:avLst/>
          </a:prstGeom>
          <a:solidFill>
            <a:srgbClr val="E67E22"/>
          </a:solidFill>
          <a:ln/>
        </p:spPr>
      </p:sp>
      <p:sp>
        <p:nvSpPr>
          <p:cNvPr id="47" name="Text 45"/>
          <p:cNvSpPr/>
          <p:nvPr/>
        </p:nvSpPr>
        <p:spPr>
          <a:xfrm>
            <a:off x="5577840" y="2660904"/>
            <a:ext cx="3310128" cy="201168"/>
          </a:xfrm>
          <a:prstGeom prst="rect">
            <a:avLst/>
          </a:prstGeom>
          <a:noFill/>
          <a:ln/>
        </p:spPr>
        <p:txBody>
          <a:bodyPr wrap="square" lIns="0" tIns="0" rIns="0" bIns="0" rtlCol="0" anchor="ctr"/>
          <a:lstStyle/>
          <a:p>
            <a:pPr indent="0" marL="0">
              <a:buNone/>
            </a:pPr>
            <a:r>
              <a:rPr lang="en-US" sz="750" b="1" spc="150" kern="0" dirty="0">
                <a:solidFill>
                  <a:srgbClr val="E67E22"/>
                </a:solidFill>
              </a:rPr>
              <a:t>WHO RECEIVES ACCESS</a:t>
            </a:r>
            <a:endParaRPr lang="en-US" sz="750" dirty="0"/>
          </a:p>
        </p:txBody>
      </p:sp>
      <p:sp>
        <p:nvSpPr>
          <p:cNvPr id="48" name="Text 46"/>
          <p:cNvSpPr/>
          <p:nvPr/>
        </p:nvSpPr>
        <p:spPr>
          <a:xfrm>
            <a:off x="5577840" y="2871216"/>
            <a:ext cx="3310128" cy="457200"/>
          </a:xfrm>
          <a:prstGeom prst="rect">
            <a:avLst/>
          </a:prstGeom>
          <a:noFill/>
          <a:ln/>
        </p:spPr>
        <p:txBody>
          <a:bodyPr wrap="square" lIns="0" tIns="0" rIns="0" bIns="0" rtlCol="0" anchor="ctr"/>
          <a:lstStyle/>
          <a:p>
            <a:pPr indent="0" marL="0">
              <a:lnSpc>
                <a:spcPct val="115000"/>
              </a:lnSpc>
              <a:buNone/>
            </a:pPr>
            <a:r>
              <a:rPr lang="en-US" sz="880" dirty="0">
                <a:solidFill>
                  <a:srgbClr val="FFFFFF"/>
                </a:solidFill>
              </a:rPr>
              <a:t>Data Scientists and Organisational Behaviour Scientists</a:t>
            </a:r>
            <a:endParaRPr lang="en-US" sz="880" dirty="0"/>
          </a:p>
        </p:txBody>
      </p:sp>
      <p:sp>
        <p:nvSpPr>
          <p:cNvPr id="49" name="Shape 47"/>
          <p:cNvSpPr/>
          <p:nvPr/>
        </p:nvSpPr>
        <p:spPr>
          <a:xfrm>
            <a:off x="5468112" y="3410712"/>
            <a:ext cx="3474720" cy="749808"/>
          </a:xfrm>
          <a:prstGeom prst="rect">
            <a:avLst/>
          </a:prstGeom>
          <a:solidFill>
            <a:srgbClr val="16395A"/>
          </a:solidFill>
          <a:ln/>
          <a:effectLst>
            <a:outerShdw sx="100000" sy="100000" kx="0" ky="0" algn="bl" rotWithShape="0" blurRad="101600" dist="38100" dir="8100000">
              <a:srgbClr val="000000">
                <a:alpha val="12000"/>
              </a:srgbClr>
            </a:outerShdw>
          </a:effectLst>
        </p:spPr>
      </p:sp>
      <p:sp>
        <p:nvSpPr>
          <p:cNvPr id="50" name="Shape 48"/>
          <p:cNvSpPr/>
          <p:nvPr/>
        </p:nvSpPr>
        <p:spPr>
          <a:xfrm>
            <a:off x="5468112" y="3410712"/>
            <a:ext cx="54864" cy="749808"/>
          </a:xfrm>
          <a:prstGeom prst="rect">
            <a:avLst/>
          </a:prstGeom>
          <a:solidFill>
            <a:srgbClr val="E67E22"/>
          </a:solidFill>
          <a:ln/>
        </p:spPr>
      </p:sp>
      <p:sp>
        <p:nvSpPr>
          <p:cNvPr id="51" name="Text 49"/>
          <p:cNvSpPr/>
          <p:nvPr/>
        </p:nvSpPr>
        <p:spPr>
          <a:xfrm>
            <a:off x="5577840" y="3447288"/>
            <a:ext cx="3310128" cy="201168"/>
          </a:xfrm>
          <a:prstGeom prst="rect">
            <a:avLst/>
          </a:prstGeom>
          <a:noFill/>
          <a:ln/>
        </p:spPr>
        <p:txBody>
          <a:bodyPr wrap="square" lIns="0" tIns="0" rIns="0" bIns="0" rtlCol="0" anchor="ctr"/>
          <a:lstStyle/>
          <a:p>
            <a:pPr indent="0" marL="0">
              <a:buNone/>
            </a:pPr>
            <a:r>
              <a:rPr lang="en-US" sz="750" b="1" spc="150" kern="0" dirty="0">
                <a:solidFill>
                  <a:srgbClr val="E67E22"/>
                </a:solidFill>
              </a:rPr>
              <a:t>WHY THEY NEED IT</a:t>
            </a:r>
            <a:endParaRPr lang="en-US" sz="750" dirty="0"/>
          </a:p>
        </p:txBody>
      </p:sp>
      <p:sp>
        <p:nvSpPr>
          <p:cNvPr id="52" name="Text 50"/>
          <p:cNvSpPr/>
          <p:nvPr/>
        </p:nvSpPr>
        <p:spPr>
          <a:xfrm>
            <a:off x="5577840" y="3657600"/>
            <a:ext cx="3310128" cy="457200"/>
          </a:xfrm>
          <a:prstGeom prst="rect">
            <a:avLst/>
          </a:prstGeom>
          <a:noFill/>
          <a:ln/>
        </p:spPr>
        <p:txBody>
          <a:bodyPr wrap="square" lIns="0" tIns="0" rIns="0" bIns="0" rtlCol="0" anchor="ctr"/>
          <a:lstStyle/>
          <a:p>
            <a:pPr indent="0" marL="0">
              <a:lnSpc>
                <a:spcPct val="115000"/>
              </a:lnSpc>
              <a:buNone/>
            </a:pPr>
            <a:r>
              <a:rPr lang="en-US" sz="880" dirty="0">
                <a:solidFill>
                  <a:srgbClr val="FFFFFF"/>
                </a:solidFill>
              </a:rPr>
              <a:t>Consume aggregated insights for research and analysis without authoring rights</a:t>
            </a:r>
            <a:endParaRPr lang="en-US" sz="880" dirty="0"/>
          </a:p>
        </p:txBody>
      </p:sp>
      <p:sp>
        <p:nvSpPr>
          <p:cNvPr id="53" name="Shape 51"/>
          <p:cNvSpPr/>
          <p:nvPr/>
        </p:nvSpPr>
        <p:spPr>
          <a:xfrm>
            <a:off x="5468112" y="4197096"/>
            <a:ext cx="3474720" cy="749808"/>
          </a:xfrm>
          <a:prstGeom prst="rect">
            <a:avLst/>
          </a:prstGeom>
          <a:solidFill>
            <a:srgbClr val="0F2640"/>
          </a:solidFill>
          <a:ln/>
          <a:effectLst>
            <a:outerShdw sx="100000" sy="100000" kx="0" ky="0" algn="bl" rotWithShape="0" blurRad="101600" dist="38100" dir="8100000">
              <a:srgbClr val="000000">
                <a:alpha val="12000"/>
              </a:srgbClr>
            </a:outerShdw>
          </a:effectLst>
        </p:spPr>
      </p:sp>
      <p:sp>
        <p:nvSpPr>
          <p:cNvPr id="54" name="Shape 52"/>
          <p:cNvSpPr/>
          <p:nvPr/>
        </p:nvSpPr>
        <p:spPr>
          <a:xfrm>
            <a:off x="5468112" y="4197096"/>
            <a:ext cx="54864" cy="749808"/>
          </a:xfrm>
          <a:prstGeom prst="rect">
            <a:avLst/>
          </a:prstGeom>
          <a:solidFill>
            <a:srgbClr val="E67E22"/>
          </a:solidFill>
          <a:ln/>
        </p:spPr>
      </p:sp>
      <p:sp>
        <p:nvSpPr>
          <p:cNvPr id="55" name="Text 53"/>
          <p:cNvSpPr/>
          <p:nvPr/>
        </p:nvSpPr>
        <p:spPr>
          <a:xfrm>
            <a:off x="5577840" y="4233672"/>
            <a:ext cx="3310128" cy="201168"/>
          </a:xfrm>
          <a:prstGeom prst="rect">
            <a:avLst/>
          </a:prstGeom>
          <a:noFill/>
          <a:ln/>
        </p:spPr>
        <p:txBody>
          <a:bodyPr wrap="square" lIns="0" tIns="0" rIns="0" bIns="0" rtlCol="0" anchor="ctr"/>
          <a:lstStyle/>
          <a:p>
            <a:pPr indent="0" marL="0">
              <a:buNone/>
            </a:pPr>
            <a:r>
              <a:rPr lang="en-US" sz="750" b="1" spc="150" kern="0" dirty="0">
                <a:solidFill>
                  <a:srgbClr val="E67E22"/>
                </a:solidFill>
              </a:rPr>
              <a:t>HOW PROVISIONED</a:t>
            </a:r>
            <a:endParaRPr lang="en-US" sz="750" dirty="0"/>
          </a:p>
        </p:txBody>
      </p:sp>
      <p:sp>
        <p:nvSpPr>
          <p:cNvPr id="56" name="Text 54"/>
          <p:cNvSpPr/>
          <p:nvPr/>
        </p:nvSpPr>
        <p:spPr>
          <a:xfrm>
            <a:off x="5577840" y="4443984"/>
            <a:ext cx="3310128" cy="457200"/>
          </a:xfrm>
          <a:prstGeom prst="rect">
            <a:avLst/>
          </a:prstGeom>
          <a:noFill/>
          <a:ln/>
        </p:spPr>
        <p:txBody>
          <a:bodyPr wrap="square" lIns="0" tIns="0" rIns="0" bIns="0" rtlCol="0" anchor="ctr"/>
          <a:lstStyle/>
          <a:p>
            <a:pPr indent="0" marL="0">
              <a:lnSpc>
                <a:spcPct val="115000"/>
              </a:lnSpc>
              <a:buNone/>
            </a:pPr>
            <a:r>
              <a:rPr lang="en-US" sz="880" dirty="0">
                <a:solidFill>
                  <a:srgbClr val="FFFFFF"/>
                </a:solidFill>
              </a:rPr>
              <a:t>⚠️ Solution not yet defined — Glint native advanced analytics not available. Pending platform evaluation.</a:t>
            </a:r>
            <a:endParaRPr lang="en-US" sz="88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6FB"/>
        </a:solidFill>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1E2761"/>
          </a:solidFill>
          <a:ln/>
        </p:spPr>
      </p:sp>
      <p:sp>
        <p:nvSpPr>
          <p:cNvPr id="3" name="Shape 1"/>
          <p:cNvSpPr/>
          <p:nvPr/>
        </p:nvSpPr>
        <p:spPr>
          <a:xfrm>
            <a:off x="0" y="0"/>
            <a:ext cx="201168" cy="960120"/>
          </a:xfrm>
          <a:prstGeom prst="rect">
            <a:avLst/>
          </a:prstGeom>
          <a:solidFill>
            <a:srgbClr val="C0392B"/>
          </a:solidFill>
          <a:ln/>
        </p:spPr>
      </p:sp>
      <p:sp>
        <p:nvSpPr>
          <p:cNvPr id="4" name="Shape 2"/>
          <p:cNvSpPr/>
          <p:nvPr/>
        </p:nvSpPr>
        <p:spPr>
          <a:xfrm>
            <a:off x="347472" y="155448"/>
            <a:ext cx="566928" cy="566928"/>
          </a:xfrm>
          <a:prstGeom prst="ellipse">
            <a:avLst/>
          </a:prstGeom>
          <a:solidFill>
            <a:srgbClr val="C0392B"/>
          </a:solidFill>
          <a:ln/>
          <a:effectLst>
            <a:outerShdw sx="100000" sy="100000" kx="0" ky="0" algn="bl" rotWithShape="0" blurRad="101600" dist="38100" dir="8100000">
              <a:srgbClr val="000000">
                <a:alpha val="12000"/>
              </a:srgbClr>
            </a:outerShdw>
          </a:effectLst>
        </p:spPr>
      </p:sp>
      <p:sp>
        <p:nvSpPr>
          <p:cNvPr id="5" name="Text 3"/>
          <p:cNvSpPr/>
          <p:nvPr/>
        </p:nvSpPr>
        <p:spPr>
          <a:xfrm>
            <a:off x="347472" y="155448"/>
            <a:ext cx="566928" cy="566928"/>
          </a:xfrm>
          <a:prstGeom prst="rect">
            <a:avLst/>
          </a:prstGeom>
          <a:noFill/>
          <a:ln/>
        </p:spPr>
        <p:txBody>
          <a:bodyPr wrap="square" lIns="0" tIns="0" rIns="0" bIns="0" rtlCol="0" anchor="ctr"/>
          <a:lstStyle/>
          <a:p>
            <a:pPr algn="ctr" indent="0" marL="0">
              <a:buNone/>
            </a:pPr>
            <a:r>
              <a:rPr lang="en-US" sz="1800" b="1" dirty="0">
                <a:solidFill>
                  <a:srgbClr val="FFFFFF"/>
                </a:solidFill>
              </a:rPr>
              <a:t>6</a:t>
            </a:r>
            <a:endParaRPr lang="en-US" sz="1800" dirty="0"/>
          </a:p>
        </p:txBody>
      </p:sp>
      <p:sp>
        <p:nvSpPr>
          <p:cNvPr id="6" name="Text 4"/>
          <p:cNvSpPr/>
          <p:nvPr/>
        </p:nvSpPr>
        <p:spPr>
          <a:xfrm>
            <a:off x="1051560" y="91440"/>
            <a:ext cx="5943600" cy="502920"/>
          </a:xfrm>
          <a:prstGeom prst="rect">
            <a:avLst/>
          </a:prstGeom>
          <a:noFill/>
          <a:ln/>
        </p:spPr>
        <p:txBody>
          <a:bodyPr wrap="square" lIns="0" tIns="0" rIns="0" bIns="0" rtlCol="0" anchor="ctr"/>
          <a:lstStyle/>
          <a:p>
            <a:pPr indent="0" marL="0">
              <a:buNone/>
            </a:pPr>
            <a:r>
              <a:rPr lang="en-US" sz="2000" b="1" dirty="0">
                <a:solidFill>
                  <a:srgbClr val="FFFFFF"/>
                </a:solidFill>
              </a:rPr>
              <a:t>Glint Survey Approver</a:t>
            </a:r>
            <a:endParaRPr lang="en-US" sz="2000" dirty="0"/>
          </a:p>
        </p:txBody>
      </p:sp>
      <p:sp>
        <p:nvSpPr>
          <p:cNvPr id="7" name="Text 5"/>
          <p:cNvSpPr/>
          <p:nvPr/>
        </p:nvSpPr>
        <p:spPr>
          <a:xfrm>
            <a:off x="1051560" y="594360"/>
            <a:ext cx="5943600" cy="274320"/>
          </a:xfrm>
          <a:prstGeom prst="rect">
            <a:avLst/>
          </a:prstGeom>
          <a:noFill/>
          <a:ln/>
        </p:spPr>
        <p:txBody>
          <a:bodyPr wrap="square" lIns="0" tIns="0" rIns="0" bIns="0" rtlCol="0" anchor="ctr"/>
          <a:lstStyle/>
          <a:p>
            <a:pPr indent="0" marL="0">
              <a:buNone/>
            </a:pPr>
            <a:r>
              <a:rPr lang="en-US" sz="900" dirty="0">
                <a:solidFill>
                  <a:srgbClr val="CADCFC"/>
                </a:solidFill>
              </a:rPr>
              <a:t>Role 6 of 7  |  Corporate Comms — Approval Workflow</a:t>
            </a:r>
            <a:endParaRPr lang="en-US" sz="900" dirty="0"/>
          </a:p>
        </p:txBody>
      </p:sp>
      <p:sp>
        <p:nvSpPr>
          <p:cNvPr id="8" name="Shape 6"/>
          <p:cNvSpPr/>
          <p:nvPr/>
        </p:nvSpPr>
        <p:spPr>
          <a:xfrm>
            <a:off x="7863840" y="292608"/>
            <a:ext cx="1097280" cy="347472"/>
          </a:xfrm>
          <a:prstGeom prst="roundRect">
            <a:avLst>
              <a:gd name="adj" fmla="val 21053"/>
            </a:avLst>
          </a:prstGeom>
          <a:solidFill>
            <a:srgbClr val="F39C12"/>
          </a:solidFill>
          <a:ln/>
        </p:spPr>
      </p:sp>
      <p:sp>
        <p:nvSpPr>
          <p:cNvPr id="9" name="Text 7"/>
          <p:cNvSpPr/>
          <p:nvPr/>
        </p:nvSpPr>
        <p:spPr>
          <a:xfrm>
            <a:off x="7863840" y="292608"/>
            <a:ext cx="1097280" cy="347472"/>
          </a:xfrm>
          <a:prstGeom prst="rect">
            <a:avLst/>
          </a:prstGeom>
          <a:noFill/>
          <a:ln/>
        </p:spPr>
        <p:txBody>
          <a:bodyPr wrap="square" lIns="0" tIns="0" rIns="0" bIns="0" rtlCol="0" anchor="ctr"/>
          <a:lstStyle/>
          <a:p>
            <a:pPr algn="ctr" indent="0" marL="0">
              <a:buNone/>
            </a:pPr>
            <a:r>
              <a:rPr lang="en-US" sz="1000" b="1" dirty="0">
                <a:solidFill>
                  <a:srgbClr val="FFFFFF"/>
                </a:solidFill>
              </a:rPr>
              <a:t>Work in Progress</a:t>
            </a:r>
            <a:endParaRPr lang="en-US" sz="1000" dirty="0"/>
          </a:p>
        </p:txBody>
      </p:sp>
      <p:sp>
        <p:nvSpPr>
          <p:cNvPr id="10" name="Shape 8"/>
          <p:cNvSpPr/>
          <p:nvPr/>
        </p:nvSpPr>
        <p:spPr>
          <a:xfrm>
            <a:off x="201168" y="1051560"/>
            <a:ext cx="5074920" cy="3886200"/>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11" name="Shape 9"/>
          <p:cNvSpPr/>
          <p:nvPr/>
        </p:nvSpPr>
        <p:spPr>
          <a:xfrm>
            <a:off x="201168" y="1051560"/>
            <a:ext cx="5074920" cy="347472"/>
          </a:xfrm>
          <a:prstGeom prst="rect">
            <a:avLst/>
          </a:prstGeom>
          <a:solidFill>
            <a:srgbClr val="1A2340"/>
          </a:solidFill>
          <a:ln/>
        </p:spPr>
      </p:sp>
      <p:sp>
        <p:nvSpPr>
          <p:cNvPr id="12" name="Text 10"/>
          <p:cNvSpPr/>
          <p:nvPr/>
        </p:nvSpPr>
        <p:spPr>
          <a:xfrm>
            <a:off x="320040" y="1051560"/>
            <a:ext cx="4892040" cy="347472"/>
          </a:xfrm>
          <a:prstGeom prst="rect">
            <a:avLst/>
          </a:prstGeom>
          <a:noFill/>
          <a:ln/>
        </p:spPr>
        <p:txBody>
          <a:bodyPr wrap="square" lIns="0" tIns="0" rIns="0" bIns="0" rtlCol="0" anchor="ctr"/>
          <a:lstStyle/>
          <a:p>
            <a:pPr indent="0" marL="0">
              <a:buNone/>
            </a:pPr>
            <a:r>
              <a:rPr lang="en-US" sz="900" b="1" spc="200" kern="0" dirty="0">
                <a:solidFill>
                  <a:srgbClr val="F4A223"/>
                </a:solidFill>
              </a:rPr>
              <a:t>PERMISSIONS &amp; CAPABILITIES</a:t>
            </a:r>
            <a:endParaRPr lang="en-US" sz="900" dirty="0"/>
          </a:p>
        </p:txBody>
      </p:sp>
      <p:sp>
        <p:nvSpPr>
          <p:cNvPr id="13" name="Shape 11"/>
          <p:cNvSpPr/>
          <p:nvPr/>
        </p:nvSpPr>
        <p:spPr>
          <a:xfrm>
            <a:off x="320040" y="1591056"/>
            <a:ext cx="118872" cy="118872"/>
          </a:xfrm>
          <a:prstGeom prst="ellipse">
            <a:avLst/>
          </a:prstGeom>
          <a:solidFill>
            <a:srgbClr val="C0392B"/>
          </a:solidFill>
          <a:ln/>
        </p:spPr>
      </p:sp>
      <p:sp>
        <p:nvSpPr>
          <p:cNvPr id="14" name="Text 12"/>
          <p:cNvSpPr/>
          <p:nvPr/>
        </p:nvSpPr>
        <p:spPr>
          <a:xfrm>
            <a:off x="502920" y="1517904"/>
            <a:ext cx="2240280" cy="201168"/>
          </a:xfrm>
          <a:prstGeom prst="rect">
            <a:avLst/>
          </a:prstGeom>
          <a:noFill/>
          <a:ln/>
        </p:spPr>
        <p:txBody>
          <a:bodyPr wrap="square" lIns="0" tIns="0" rIns="0" bIns="0" rtlCol="0" anchor="ctr"/>
          <a:lstStyle/>
          <a:p>
            <a:pPr indent="0" marL="0">
              <a:buNone/>
            </a:pPr>
            <a:r>
              <a:rPr lang="en-US" sz="950" b="1" dirty="0">
                <a:solidFill>
                  <a:srgbClr val="1A2340"/>
                </a:solidFill>
              </a:rPr>
              <a:t>Survey Approval (Proposed)</a:t>
            </a:r>
            <a:endParaRPr lang="en-US" sz="950" dirty="0"/>
          </a:p>
        </p:txBody>
      </p:sp>
      <p:sp>
        <p:nvSpPr>
          <p:cNvPr id="15" name="Text 13"/>
          <p:cNvSpPr/>
          <p:nvPr/>
        </p:nvSpPr>
        <p:spPr>
          <a:xfrm>
            <a:off x="502920" y="1719072"/>
            <a:ext cx="2240280" cy="256032"/>
          </a:xfrm>
          <a:prstGeom prst="rect">
            <a:avLst/>
          </a:prstGeom>
          <a:noFill/>
          <a:ln/>
        </p:spPr>
        <p:txBody>
          <a:bodyPr wrap="square" lIns="0" tIns="0" rIns="0" bIns="0" rtlCol="0" anchor="ctr"/>
          <a:lstStyle/>
          <a:p>
            <a:pPr indent="0" marL="0">
              <a:lnSpc>
                <a:spcPct val="110000"/>
              </a:lnSpc>
              <a:buNone/>
            </a:pPr>
            <a:r>
              <a:rPr lang="en-US" sz="800" dirty="0">
                <a:solidFill>
                  <a:srgbClr val="64748B"/>
                </a:solidFill>
              </a:rPr>
              <a:t>Review and approve surveys before they go live</a:t>
            </a:r>
            <a:endParaRPr lang="en-US" sz="800" dirty="0"/>
          </a:p>
        </p:txBody>
      </p:sp>
      <p:sp>
        <p:nvSpPr>
          <p:cNvPr id="16" name="Shape 14"/>
          <p:cNvSpPr/>
          <p:nvPr/>
        </p:nvSpPr>
        <p:spPr>
          <a:xfrm>
            <a:off x="320040" y="2066544"/>
            <a:ext cx="118872" cy="118872"/>
          </a:xfrm>
          <a:prstGeom prst="ellipse">
            <a:avLst/>
          </a:prstGeom>
          <a:solidFill>
            <a:srgbClr val="C0392B"/>
          </a:solidFill>
          <a:ln/>
        </p:spPr>
      </p:sp>
      <p:sp>
        <p:nvSpPr>
          <p:cNvPr id="17" name="Text 15"/>
          <p:cNvSpPr/>
          <p:nvPr/>
        </p:nvSpPr>
        <p:spPr>
          <a:xfrm>
            <a:off x="502920" y="1993392"/>
            <a:ext cx="2240280" cy="201168"/>
          </a:xfrm>
          <a:prstGeom prst="rect">
            <a:avLst/>
          </a:prstGeom>
          <a:noFill/>
          <a:ln/>
        </p:spPr>
        <p:txBody>
          <a:bodyPr wrap="square" lIns="0" tIns="0" rIns="0" bIns="0" rtlCol="0" anchor="ctr"/>
          <a:lstStyle/>
          <a:p>
            <a:pPr indent="0" marL="0">
              <a:buNone/>
            </a:pPr>
            <a:r>
              <a:rPr lang="en-US" sz="950" b="1" dirty="0">
                <a:solidFill>
                  <a:srgbClr val="1A2340"/>
                </a:solidFill>
              </a:rPr>
              <a:t>Distribution Approval (Proposed)</a:t>
            </a:r>
            <a:endParaRPr lang="en-US" sz="950" dirty="0"/>
          </a:p>
        </p:txBody>
      </p:sp>
      <p:sp>
        <p:nvSpPr>
          <p:cNvPr id="18" name="Text 16"/>
          <p:cNvSpPr/>
          <p:nvPr/>
        </p:nvSpPr>
        <p:spPr>
          <a:xfrm>
            <a:off x="502920" y="2194560"/>
            <a:ext cx="2240280" cy="256032"/>
          </a:xfrm>
          <a:prstGeom prst="rect">
            <a:avLst/>
          </a:prstGeom>
          <a:noFill/>
          <a:ln/>
        </p:spPr>
        <p:txBody>
          <a:bodyPr wrap="square" lIns="0" tIns="0" rIns="0" bIns="0" rtlCol="0" anchor="ctr"/>
          <a:lstStyle/>
          <a:p>
            <a:pPr indent="0" marL="0">
              <a:lnSpc>
                <a:spcPct val="110000"/>
              </a:lnSpc>
              <a:buNone/>
            </a:pPr>
            <a:r>
              <a:rPr lang="en-US" sz="800" dirty="0">
                <a:solidFill>
                  <a:srgbClr val="64748B"/>
                </a:solidFill>
              </a:rPr>
              <a:t>Approve survey distribution plans created by external teams</a:t>
            </a:r>
            <a:endParaRPr lang="en-US" sz="800" dirty="0"/>
          </a:p>
        </p:txBody>
      </p:sp>
      <p:sp>
        <p:nvSpPr>
          <p:cNvPr id="19" name="Shape 17"/>
          <p:cNvSpPr/>
          <p:nvPr/>
        </p:nvSpPr>
        <p:spPr>
          <a:xfrm>
            <a:off x="320040" y="2542032"/>
            <a:ext cx="118872" cy="118872"/>
          </a:xfrm>
          <a:prstGeom prst="ellipse">
            <a:avLst/>
          </a:prstGeom>
          <a:solidFill>
            <a:srgbClr val="C0392B"/>
          </a:solidFill>
          <a:ln/>
        </p:spPr>
      </p:sp>
      <p:sp>
        <p:nvSpPr>
          <p:cNvPr id="20" name="Text 18"/>
          <p:cNvSpPr/>
          <p:nvPr/>
        </p:nvSpPr>
        <p:spPr>
          <a:xfrm>
            <a:off x="502920" y="2468880"/>
            <a:ext cx="2240280" cy="201168"/>
          </a:xfrm>
          <a:prstGeom prst="rect">
            <a:avLst/>
          </a:prstGeom>
          <a:noFill/>
          <a:ln/>
        </p:spPr>
        <p:txBody>
          <a:bodyPr wrap="square" lIns="0" tIns="0" rIns="0" bIns="0" rtlCol="0" anchor="ctr"/>
          <a:lstStyle/>
          <a:p>
            <a:pPr indent="0" marL="0">
              <a:buNone/>
            </a:pPr>
            <a:r>
              <a:rPr lang="en-US" sz="950" b="1" dirty="0">
                <a:solidFill>
                  <a:srgbClr val="1A2340"/>
                </a:solidFill>
              </a:rPr>
              <a:t>❌ No Third-Party Access</a:t>
            </a:r>
            <a:endParaRPr lang="en-US" sz="950" dirty="0"/>
          </a:p>
        </p:txBody>
      </p:sp>
      <p:sp>
        <p:nvSpPr>
          <p:cNvPr id="21" name="Text 19"/>
          <p:cNvSpPr/>
          <p:nvPr/>
        </p:nvSpPr>
        <p:spPr>
          <a:xfrm>
            <a:off x="502920" y="2670048"/>
            <a:ext cx="2240280" cy="256032"/>
          </a:xfrm>
          <a:prstGeom prst="rect">
            <a:avLst/>
          </a:prstGeom>
          <a:noFill/>
          <a:ln/>
        </p:spPr>
        <p:txBody>
          <a:bodyPr wrap="square" lIns="0" tIns="0" rIns="0" bIns="0" rtlCol="0" anchor="ctr"/>
          <a:lstStyle/>
          <a:p>
            <a:pPr indent="0" marL="0">
              <a:lnSpc>
                <a:spcPct val="110000"/>
              </a:lnSpc>
              <a:buNone/>
            </a:pPr>
            <a:r>
              <a:rPr lang="en-US" sz="800" dirty="0">
                <a:solidFill>
                  <a:srgbClr val="64748B"/>
                </a:solidFill>
              </a:rPr>
              <a:t>External consultants (e.g. Karian &amp; Box) cannot access Glint</a:t>
            </a:r>
            <a:endParaRPr lang="en-US" sz="800" dirty="0"/>
          </a:p>
        </p:txBody>
      </p:sp>
      <p:sp>
        <p:nvSpPr>
          <p:cNvPr id="22" name="Shape 20"/>
          <p:cNvSpPr/>
          <p:nvPr/>
        </p:nvSpPr>
        <p:spPr>
          <a:xfrm>
            <a:off x="320040" y="3017520"/>
            <a:ext cx="118872" cy="118872"/>
          </a:xfrm>
          <a:prstGeom prst="ellipse">
            <a:avLst/>
          </a:prstGeom>
          <a:solidFill>
            <a:srgbClr val="C0392B"/>
          </a:solidFill>
          <a:ln/>
        </p:spPr>
      </p:sp>
      <p:sp>
        <p:nvSpPr>
          <p:cNvPr id="23" name="Text 21"/>
          <p:cNvSpPr/>
          <p:nvPr/>
        </p:nvSpPr>
        <p:spPr>
          <a:xfrm>
            <a:off x="502920" y="2944368"/>
            <a:ext cx="2240280" cy="201168"/>
          </a:xfrm>
          <a:prstGeom prst="rect">
            <a:avLst/>
          </a:prstGeom>
          <a:noFill/>
          <a:ln/>
        </p:spPr>
        <p:txBody>
          <a:bodyPr wrap="square" lIns="0" tIns="0" rIns="0" bIns="0" rtlCol="0" anchor="ctr"/>
          <a:lstStyle/>
          <a:p>
            <a:pPr indent="0" marL="0">
              <a:buNone/>
            </a:pPr>
            <a:r>
              <a:rPr lang="en-US" sz="950" b="1" dirty="0">
                <a:solidFill>
                  <a:srgbClr val="1A2340"/>
                </a:solidFill>
              </a:rPr>
              <a:t>❌ No Approver Role in Glint</a:t>
            </a:r>
            <a:endParaRPr lang="en-US" sz="950" dirty="0"/>
          </a:p>
        </p:txBody>
      </p:sp>
      <p:sp>
        <p:nvSpPr>
          <p:cNvPr id="24" name="Text 22"/>
          <p:cNvSpPr/>
          <p:nvPr/>
        </p:nvSpPr>
        <p:spPr>
          <a:xfrm>
            <a:off x="502920" y="3145536"/>
            <a:ext cx="2240280" cy="256032"/>
          </a:xfrm>
          <a:prstGeom prst="rect">
            <a:avLst/>
          </a:prstGeom>
          <a:noFill/>
          <a:ln/>
        </p:spPr>
        <p:txBody>
          <a:bodyPr wrap="square" lIns="0" tIns="0" rIns="0" bIns="0" rtlCol="0" anchor="ctr"/>
          <a:lstStyle/>
          <a:p>
            <a:pPr indent="0" marL="0">
              <a:lnSpc>
                <a:spcPct val="110000"/>
              </a:lnSpc>
              <a:buNone/>
            </a:pPr>
            <a:r>
              <a:rPr lang="en-US" sz="800" dirty="0">
                <a:solidFill>
                  <a:srgbClr val="64748B"/>
                </a:solidFill>
              </a:rPr>
              <a:t>Glint does not natively support a survey approver permission tier</a:t>
            </a:r>
            <a:endParaRPr lang="en-US" sz="800" dirty="0"/>
          </a:p>
        </p:txBody>
      </p:sp>
      <p:sp>
        <p:nvSpPr>
          <p:cNvPr id="25" name="Shape 23"/>
          <p:cNvSpPr/>
          <p:nvPr/>
        </p:nvSpPr>
        <p:spPr>
          <a:xfrm>
            <a:off x="2862072" y="1591056"/>
            <a:ext cx="118872" cy="118872"/>
          </a:xfrm>
          <a:prstGeom prst="ellipse">
            <a:avLst/>
          </a:prstGeom>
          <a:solidFill>
            <a:srgbClr val="C0392B"/>
          </a:solidFill>
          <a:ln/>
        </p:spPr>
      </p:sp>
      <p:sp>
        <p:nvSpPr>
          <p:cNvPr id="26" name="Text 24"/>
          <p:cNvSpPr/>
          <p:nvPr/>
        </p:nvSpPr>
        <p:spPr>
          <a:xfrm>
            <a:off x="3044952" y="1517904"/>
            <a:ext cx="2240280" cy="201168"/>
          </a:xfrm>
          <a:prstGeom prst="rect">
            <a:avLst/>
          </a:prstGeom>
          <a:noFill/>
          <a:ln/>
        </p:spPr>
        <p:txBody>
          <a:bodyPr wrap="square" lIns="0" tIns="0" rIns="0" bIns="0" rtlCol="0" anchor="ctr"/>
          <a:lstStyle/>
          <a:p>
            <a:pPr indent="0" marL="0">
              <a:buNone/>
            </a:pPr>
            <a:r>
              <a:rPr lang="en-US" sz="950" b="1" dirty="0">
                <a:solidFill>
                  <a:srgbClr val="1A2340"/>
                </a:solidFill>
              </a:rPr>
              <a:t>⚠️ Platform Limitation</a:t>
            </a:r>
            <a:endParaRPr lang="en-US" sz="950" dirty="0"/>
          </a:p>
        </p:txBody>
      </p:sp>
      <p:sp>
        <p:nvSpPr>
          <p:cNvPr id="27" name="Text 25"/>
          <p:cNvSpPr/>
          <p:nvPr/>
        </p:nvSpPr>
        <p:spPr>
          <a:xfrm>
            <a:off x="3044952" y="1719072"/>
            <a:ext cx="2240280" cy="256032"/>
          </a:xfrm>
          <a:prstGeom prst="rect">
            <a:avLst/>
          </a:prstGeom>
          <a:noFill/>
          <a:ln/>
        </p:spPr>
        <p:txBody>
          <a:bodyPr wrap="square" lIns="0" tIns="0" rIns="0" bIns="0" rtlCol="0" anchor="ctr"/>
          <a:lstStyle/>
          <a:p>
            <a:pPr indent="0" marL="0">
              <a:lnSpc>
                <a:spcPct val="110000"/>
              </a:lnSpc>
              <a:buNone/>
            </a:pPr>
            <a:r>
              <a:rPr lang="en-US" sz="800" dirty="0">
                <a:solidFill>
                  <a:srgbClr val="64748B"/>
                </a:solidFill>
              </a:rPr>
              <a:t>Approval-only role cannot be implemented with current Glint permissions</a:t>
            </a:r>
            <a:endParaRPr lang="en-US" sz="800" dirty="0"/>
          </a:p>
        </p:txBody>
      </p:sp>
      <p:sp>
        <p:nvSpPr>
          <p:cNvPr id="28" name="Shape 26"/>
          <p:cNvSpPr/>
          <p:nvPr/>
        </p:nvSpPr>
        <p:spPr>
          <a:xfrm>
            <a:off x="2862072" y="2066544"/>
            <a:ext cx="118872" cy="118872"/>
          </a:xfrm>
          <a:prstGeom prst="ellipse">
            <a:avLst/>
          </a:prstGeom>
          <a:solidFill>
            <a:srgbClr val="C0392B"/>
          </a:solidFill>
          <a:ln/>
        </p:spPr>
      </p:sp>
      <p:sp>
        <p:nvSpPr>
          <p:cNvPr id="29" name="Text 27"/>
          <p:cNvSpPr/>
          <p:nvPr/>
        </p:nvSpPr>
        <p:spPr>
          <a:xfrm>
            <a:off x="3044952" y="1993392"/>
            <a:ext cx="2240280" cy="201168"/>
          </a:xfrm>
          <a:prstGeom prst="rect">
            <a:avLst/>
          </a:prstGeom>
          <a:noFill/>
          <a:ln/>
        </p:spPr>
        <p:txBody>
          <a:bodyPr wrap="square" lIns="0" tIns="0" rIns="0" bIns="0" rtlCol="0" anchor="ctr"/>
          <a:lstStyle/>
          <a:p>
            <a:pPr indent="0" marL="0">
              <a:buNone/>
            </a:pPr>
            <a:r>
              <a:rPr lang="en-US" sz="950" b="1" dirty="0">
                <a:solidFill>
                  <a:srgbClr val="1A2340"/>
                </a:solidFill>
              </a:rPr>
              <a:t>⚠️ Pending Solution</a:t>
            </a:r>
            <a:endParaRPr lang="en-US" sz="950" dirty="0"/>
          </a:p>
        </p:txBody>
      </p:sp>
      <p:sp>
        <p:nvSpPr>
          <p:cNvPr id="30" name="Text 28"/>
          <p:cNvSpPr/>
          <p:nvPr/>
        </p:nvSpPr>
        <p:spPr>
          <a:xfrm>
            <a:off x="3044952" y="2194560"/>
            <a:ext cx="2240280" cy="256032"/>
          </a:xfrm>
          <a:prstGeom prst="rect">
            <a:avLst/>
          </a:prstGeom>
          <a:noFill/>
          <a:ln/>
        </p:spPr>
        <p:txBody>
          <a:bodyPr wrap="square" lIns="0" tIns="0" rIns="0" bIns="0" rtlCol="0" anchor="ctr"/>
          <a:lstStyle/>
          <a:p>
            <a:pPr indent="0" marL="0">
              <a:lnSpc>
                <a:spcPct val="110000"/>
              </a:lnSpc>
              <a:buNone/>
            </a:pPr>
            <a:r>
              <a:rPr lang="en-US" sz="800" dirty="0">
                <a:solidFill>
                  <a:srgbClr val="64748B"/>
                </a:solidFill>
              </a:rPr>
              <a:t>Workflow must be redesigned or managed outside Glint</a:t>
            </a:r>
            <a:endParaRPr lang="en-US" sz="800" dirty="0"/>
          </a:p>
        </p:txBody>
      </p:sp>
      <p:sp>
        <p:nvSpPr>
          <p:cNvPr id="31" name="Shape 29"/>
          <p:cNvSpPr/>
          <p:nvPr/>
        </p:nvSpPr>
        <p:spPr>
          <a:xfrm>
            <a:off x="2862072" y="2542032"/>
            <a:ext cx="118872" cy="118872"/>
          </a:xfrm>
          <a:prstGeom prst="ellipse">
            <a:avLst/>
          </a:prstGeom>
          <a:solidFill>
            <a:srgbClr val="C0392B"/>
          </a:solidFill>
          <a:ln/>
        </p:spPr>
      </p:sp>
      <p:sp>
        <p:nvSpPr>
          <p:cNvPr id="32" name="Text 30"/>
          <p:cNvSpPr/>
          <p:nvPr/>
        </p:nvSpPr>
        <p:spPr>
          <a:xfrm>
            <a:off x="3044952" y="2468880"/>
            <a:ext cx="2240280" cy="201168"/>
          </a:xfrm>
          <a:prstGeom prst="rect">
            <a:avLst/>
          </a:prstGeom>
          <a:noFill/>
          <a:ln/>
        </p:spPr>
        <p:txBody>
          <a:bodyPr wrap="square" lIns="0" tIns="0" rIns="0" bIns="0" rtlCol="0" anchor="ctr"/>
          <a:lstStyle/>
          <a:p>
            <a:pPr indent="0" marL="0">
              <a:buNone/>
            </a:pPr>
            <a:r>
              <a:rPr lang="en-US" sz="950" b="1" dirty="0">
                <a:solidFill>
                  <a:srgbClr val="1A2340"/>
                </a:solidFill>
              </a:rPr>
              <a:t>🔍 Under Review</a:t>
            </a:r>
            <a:endParaRPr lang="en-US" sz="950" dirty="0"/>
          </a:p>
        </p:txBody>
      </p:sp>
      <p:sp>
        <p:nvSpPr>
          <p:cNvPr id="33" name="Text 31"/>
          <p:cNvSpPr/>
          <p:nvPr/>
        </p:nvSpPr>
        <p:spPr>
          <a:xfrm>
            <a:off x="3044952" y="2670048"/>
            <a:ext cx="2240280" cy="256032"/>
          </a:xfrm>
          <a:prstGeom prst="rect">
            <a:avLst/>
          </a:prstGeom>
          <a:noFill/>
          <a:ln/>
        </p:spPr>
        <p:txBody>
          <a:bodyPr wrap="square" lIns="0" tIns="0" rIns="0" bIns="0" rtlCol="0" anchor="ctr"/>
          <a:lstStyle/>
          <a:p>
            <a:pPr indent="0" marL="0">
              <a:lnSpc>
                <a:spcPct val="110000"/>
              </a:lnSpc>
              <a:buNone/>
            </a:pPr>
            <a:r>
              <a:rPr lang="en-US" sz="800" dirty="0">
                <a:solidFill>
                  <a:srgbClr val="64748B"/>
                </a:solidFill>
              </a:rPr>
              <a:t>Corporate Comms oversight model to be re-architected</a:t>
            </a:r>
            <a:endParaRPr lang="en-US" sz="800" dirty="0"/>
          </a:p>
        </p:txBody>
      </p:sp>
      <p:sp>
        <p:nvSpPr>
          <p:cNvPr id="34" name="Shape 32"/>
          <p:cNvSpPr/>
          <p:nvPr/>
        </p:nvSpPr>
        <p:spPr>
          <a:xfrm>
            <a:off x="2862072" y="3017520"/>
            <a:ext cx="118872" cy="118872"/>
          </a:xfrm>
          <a:prstGeom prst="ellipse">
            <a:avLst/>
          </a:prstGeom>
          <a:solidFill>
            <a:srgbClr val="C0392B"/>
          </a:solidFill>
          <a:ln/>
        </p:spPr>
      </p:sp>
      <p:sp>
        <p:nvSpPr>
          <p:cNvPr id="35" name="Text 33"/>
          <p:cNvSpPr/>
          <p:nvPr/>
        </p:nvSpPr>
        <p:spPr>
          <a:xfrm>
            <a:off x="3044952" y="2944368"/>
            <a:ext cx="2240280" cy="201168"/>
          </a:xfrm>
          <a:prstGeom prst="rect">
            <a:avLst/>
          </a:prstGeom>
          <a:noFill/>
          <a:ln/>
        </p:spPr>
        <p:txBody>
          <a:bodyPr wrap="square" lIns="0" tIns="0" rIns="0" bIns="0" rtlCol="0" anchor="ctr"/>
          <a:lstStyle/>
          <a:p>
            <a:pPr indent="0" marL="0">
              <a:buNone/>
            </a:pPr>
            <a:r>
              <a:rPr lang="en-US" sz="950" b="1" dirty="0">
                <a:solidFill>
                  <a:srgbClr val="1A2340"/>
                </a:solidFill>
              </a:rPr>
              <a:t>🔍 Stakeholder Input Needed</a:t>
            </a:r>
            <a:endParaRPr lang="en-US" sz="950" dirty="0"/>
          </a:p>
        </p:txBody>
      </p:sp>
      <p:sp>
        <p:nvSpPr>
          <p:cNvPr id="36" name="Text 34"/>
          <p:cNvSpPr/>
          <p:nvPr/>
        </p:nvSpPr>
        <p:spPr>
          <a:xfrm>
            <a:off x="3044952" y="3145536"/>
            <a:ext cx="2240280" cy="256032"/>
          </a:xfrm>
          <a:prstGeom prst="rect">
            <a:avLst/>
          </a:prstGeom>
          <a:noFill/>
          <a:ln/>
        </p:spPr>
        <p:txBody>
          <a:bodyPr wrap="square" lIns="0" tIns="0" rIns="0" bIns="0" rtlCol="0" anchor="ctr"/>
          <a:lstStyle/>
          <a:p>
            <a:pPr indent="0" marL="0">
              <a:lnSpc>
                <a:spcPct val="110000"/>
              </a:lnSpc>
              <a:buNone/>
            </a:pPr>
            <a:r>
              <a:rPr lang="en-US" sz="800" dirty="0">
                <a:solidFill>
                  <a:srgbClr val="64748B"/>
                </a:solidFill>
              </a:rPr>
              <a:t>CDO &amp; Corporate Comms alignment required to define interim process</a:t>
            </a:r>
            <a:endParaRPr lang="en-US" sz="800" dirty="0"/>
          </a:p>
        </p:txBody>
      </p:sp>
      <p:sp>
        <p:nvSpPr>
          <p:cNvPr id="37" name="Shape 35"/>
          <p:cNvSpPr/>
          <p:nvPr/>
        </p:nvSpPr>
        <p:spPr>
          <a:xfrm>
            <a:off x="5468112" y="1051560"/>
            <a:ext cx="3474720" cy="749808"/>
          </a:xfrm>
          <a:prstGeom prst="rect">
            <a:avLst/>
          </a:prstGeom>
          <a:solidFill>
            <a:srgbClr val="1E2761"/>
          </a:solidFill>
          <a:ln/>
          <a:effectLst>
            <a:outerShdw sx="100000" sy="100000" kx="0" ky="0" algn="bl" rotWithShape="0" blurRad="101600" dist="38100" dir="8100000">
              <a:srgbClr val="000000">
                <a:alpha val="12000"/>
              </a:srgbClr>
            </a:outerShdw>
          </a:effectLst>
        </p:spPr>
      </p:sp>
      <p:sp>
        <p:nvSpPr>
          <p:cNvPr id="38" name="Shape 36"/>
          <p:cNvSpPr/>
          <p:nvPr/>
        </p:nvSpPr>
        <p:spPr>
          <a:xfrm>
            <a:off x="5468112" y="1051560"/>
            <a:ext cx="54864" cy="749808"/>
          </a:xfrm>
          <a:prstGeom prst="rect">
            <a:avLst/>
          </a:prstGeom>
          <a:solidFill>
            <a:srgbClr val="C0392B"/>
          </a:solidFill>
          <a:ln/>
        </p:spPr>
      </p:sp>
      <p:sp>
        <p:nvSpPr>
          <p:cNvPr id="39" name="Text 37"/>
          <p:cNvSpPr/>
          <p:nvPr/>
        </p:nvSpPr>
        <p:spPr>
          <a:xfrm>
            <a:off x="5577840" y="1088136"/>
            <a:ext cx="3310128" cy="201168"/>
          </a:xfrm>
          <a:prstGeom prst="rect">
            <a:avLst/>
          </a:prstGeom>
          <a:noFill/>
          <a:ln/>
        </p:spPr>
        <p:txBody>
          <a:bodyPr wrap="square" lIns="0" tIns="0" rIns="0" bIns="0" rtlCol="0" anchor="ctr"/>
          <a:lstStyle/>
          <a:p>
            <a:pPr indent="0" marL="0">
              <a:buNone/>
            </a:pPr>
            <a:r>
              <a:rPr lang="en-US" sz="750" b="1" spc="150" kern="0" dirty="0">
                <a:solidFill>
                  <a:srgbClr val="C0392B"/>
                </a:solidFill>
              </a:rPr>
              <a:t>DATA ACCESSIBLE</a:t>
            </a:r>
            <a:endParaRPr lang="en-US" sz="750" dirty="0"/>
          </a:p>
        </p:txBody>
      </p:sp>
      <p:sp>
        <p:nvSpPr>
          <p:cNvPr id="40" name="Text 38"/>
          <p:cNvSpPr/>
          <p:nvPr/>
        </p:nvSpPr>
        <p:spPr>
          <a:xfrm>
            <a:off x="5577840" y="1298448"/>
            <a:ext cx="3310128" cy="457200"/>
          </a:xfrm>
          <a:prstGeom prst="rect">
            <a:avLst/>
          </a:prstGeom>
          <a:noFill/>
          <a:ln/>
        </p:spPr>
        <p:txBody>
          <a:bodyPr wrap="square" lIns="0" tIns="0" rIns="0" bIns="0" rtlCol="0" anchor="ctr"/>
          <a:lstStyle/>
          <a:p>
            <a:pPr indent="0" marL="0">
              <a:lnSpc>
                <a:spcPct val="115000"/>
              </a:lnSpc>
              <a:buNone/>
            </a:pPr>
            <a:r>
              <a:rPr lang="en-US" sz="880" dirty="0">
                <a:solidFill>
                  <a:srgbClr val="FFFFFF"/>
                </a:solidFill>
              </a:rPr>
              <a:t>Intended: Survey content &amp; distribution plans only — no population data</a:t>
            </a:r>
            <a:endParaRPr lang="en-US" sz="880" dirty="0"/>
          </a:p>
        </p:txBody>
      </p:sp>
      <p:sp>
        <p:nvSpPr>
          <p:cNvPr id="41" name="Shape 39"/>
          <p:cNvSpPr/>
          <p:nvPr/>
        </p:nvSpPr>
        <p:spPr>
          <a:xfrm>
            <a:off x="5468112" y="1837944"/>
            <a:ext cx="3474720" cy="749808"/>
          </a:xfrm>
          <a:prstGeom prst="rect">
            <a:avLst/>
          </a:prstGeom>
          <a:solidFill>
            <a:srgbClr val="1B5E7B"/>
          </a:solidFill>
          <a:ln/>
          <a:effectLst>
            <a:outerShdw sx="100000" sy="100000" kx="0" ky="0" algn="bl" rotWithShape="0" blurRad="101600" dist="38100" dir="8100000">
              <a:srgbClr val="000000">
                <a:alpha val="12000"/>
              </a:srgbClr>
            </a:outerShdw>
          </a:effectLst>
        </p:spPr>
      </p:sp>
      <p:sp>
        <p:nvSpPr>
          <p:cNvPr id="42" name="Shape 40"/>
          <p:cNvSpPr/>
          <p:nvPr/>
        </p:nvSpPr>
        <p:spPr>
          <a:xfrm>
            <a:off x="5468112" y="1837944"/>
            <a:ext cx="54864" cy="749808"/>
          </a:xfrm>
          <a:prstGeom prst="rect">
            <a:avLst/>
          </a:prstGeom>
          <a:solidFill>
            <a:srgbClr val="C0392B"/>
          </a:solidFill>
          <a:ln/>
        </p:spPr>
      </p:sp>
      <p:sp>
        <p:nvSpPr>
          <p:cNvPr id="43" name="Text 41"/>
          <p:cNvSpPr/>
          <p:nvPr/>
        </p:nvSpPr>
        <p:spPr>
          <a:xfrm>
            <a:off x="5577840" y="1874520"/>
            <a:ext cx="3310128" cy="201168"/>
          </a:xfrm>
          <a:prstGeom prst="rect">
            <a:avLst/>
          </a:prstGeom>
          <a:noFill/>
          <a:ln/>
        </p:spPr>
        <p:txBody>
          <a:bodyPr wrap="square" lIns="0" tIns="0" rIns="0" bIns="0" rtlCol="0" anchor="ctr"/>
          <a:lstStyle/>
          <a:p>
            <a:pPr indent="0" marL="0">
              <a:buNone/>
            </a:pPr>
            <a:r>
              <a:rPr lang="en-US" sz="750" b="1" spc="150" kern="0" dirty="0">
                <a:solidFill>
                  <a:srgbClr val="C0392B"/>
                </a:solidFill>
              </a:rPr>
              <a:t>POPULATION COVERED</a:t>
            </a:r>
            <a:endParaRPr lang="en-US" sz="750" dirty="0"/>
          </a:p>
        </p:txBody>
      </p:sp>
      <p:sp>
        <p:nvSpPr>
          <p:cNvPr id="44" name="Text 42"/>
          <p:cNvSpPr/>
          <p:nvPr/>
        </p:nvSpPr>
        <p:spPr>
          <a:xfrm>
            <a:off x="5577840" y="2084832"/>
            <a:ext cx="3310128" cy="457200"/>
          </a:xfrm>
          <a:prstGeom prst="rect">
            <a:avLst/>
          </a:prstGeom>
          <a:noFill/>
          <a:ln/>
        </p:spPr>
        <p:txBody>
          <a:bodyPr wrap="square" lIns="0" tIns="0" rIns="0" bIns="0" rtlCol="0" anchor="ctr"/>
          <a:lstStyle/>
          <a:p>
            <a:pPr indent="0" marL="0">
              <a:lnSpc>
                <a:spcPct val="115000"/>
              </a:lnSpc>
              <a:buNone/>
            </a:pPr>
            <a:r>
              <a:rPr lang="en-US" sz="880" dirty="0">
                <a:solidFill>
                  <a:srgbClr val="FFFFFF"/>
                </a:solidFill>
              </a:rPr>
              <a:t>India &amp; UK — Corporate Communications Team</a:t>
            </a:r>
            <a:endParaRPr lang="en-US" sz="880" dirty="0"/>
          </a:p>
        </p:txBody>
      </p:sp>
      <p:sp>
        <p:nvSpPr>
          <p:cNvPr id="45" name="Shape 43"/>
          <p:cNvSpPr/>
          <p:nvPr/>
        </p:nvSpPr>
        <p:spPr>
          <a:xfrm>
            <a:off x="5468112" y="2624328"/>
            <a:ext cx="3474720" cy="749808"/>
          </a:xfrm>
          <a:prstGeom prst="rect">
            <a:avLst/>
          </a:prstGeom>
          <a:solidFill>
            <a:srgbClr val="1A4A6E"/>
          </a:solidFill>
          <a:ln/>
          <a:effectLst>
            <a:outerShdw sx="100000" sy="100000" kx="0" ky="0" algn="bl" rotWithShape="0" blurRad="101600" dist="38100" dir="8100000">
              <a:srgbClr val="000000">
                <a:alpha val="12000"/>
              </a:srgbClr>
            </a:outerShdw>
          </a:effectLst>
        </p:spPr>
      </p:sp>
      <p:sp>
        <p:nvSpPr>
          <p:cNvPr id="46" name="Shape 44"/>
          <p:cNvSpPr/>
          <p:nvPr/>
        </p:nvSpPr>
        <p:spPr>
          <a:xfrm>
            <a:off x="5468112" y="2624328"/>
            <a:ext cx="54864" cy="749808"/>
          </a:xfrm>
          <a:prstGeom prst="rect">
            <a:avLst/>
          </a:prstGeom>
          <a:solidFill>
            <a:srgbClr val="C0392B"/>
          </a:solidFill>
          <a:ln/>
        </p:spPr>
      </p:sp>
      <p:sp>
        <p:nvSpPr>
          <p:cNvPr id="47" name="Text 45"/>
          <p:cNvSpPr/>
          <p:nvPr/>
        </p:nvSpPr>
        <p:spPr>
          <a:xfrm>
            <a:off x="5577840" y="2660904"/>
            <a:ext cx="3310128" cy="201168"/>
          </a:xfrm>
          <a:prstGeom prst="rect">
            <a:avLst/>
          </a:prstGeom>
          <a:noFill/>
          <a:ln/>
        </p:spPr>
        <p:txBody>
          <a:bodyPr wrap="square" lIns="0" tIns="0" rIns="0" bIns="0" rtlCol="0" anchor="ctr"/>
          <a:lstStyle/>
          <a:p>
            <a:pPr indent="0" marL="0">
              <a:buNone/>
            </a:pPr>
            <a:r>
              <a:rPr lang="en-US" sz="750" b="1" spc="150" kern="0" dirty="0">
                <a:solidFill>
                  <a:srgbClr val="C0392B"/>
                </a:solidFill>
              </a:rPr>
              <a:t>WHO RECEIVES ACCESS</a:t>
            </a:r>
            <a:endParaRPr lang="en-US" sz="750" dirty="0"/>
          </a:p>
        </p:txBody>
      </p:sp>
      <p:sp>
        <p:nvSpPr>
          <p:cNvPr id="48" name="Text 46"/>
          <p:cNvSpPr/>
          <p:nvPr/>
        </p:nvSpPr>
        <p:spPr>
          <a:xfrm>
            <a:off x="5577840" y="2871216"/>
            <a:ext cx="3310128" cy="457200"/>
          </a:xfrm>
          <a:prstGeom prst="rect">
            <a:avLst/>
          </a:prstGeom>
          <a:noFill/>
          <a:ln/>
        </p:spPr>
        <p:txBody>
          <a:bodyPr wrap="square" lIns="0" tIns="0" rIns="0" bIns="0" rtlCol="0" anchor="ctr"/>
          <a:lstStyle/>
          <a:p>
            <a:pPr indent="0" marL="0">
              <a:lnSpc>
                <a:spcPct val="115000"/>
              </a:lnSpc>
              <a:buNone/>
            </a:pPr>
            <a:r>
              <a:rPr lang="en-US" sz="880" dirty="0">
                <a:solidFill>
                  <a:srgbClr val="FFFFFF"/>
                </a:solidFill>
              </a:rPr>
              <a:t>Corporate Comms team responsible for approving externally-authored surveys</a:t>
            </a:r>
            <a:endParaRPr lang="en-US" sz="880" dirty="0"/>
          </a:p>
        </p:txBody>
      </p:sp>
      <p:sp>
        <p:nvSpPr>
          <p:cNvPr id="49" name="Shape 47"/>
          <p:cNvSpPr/>
          <p:nvPr/>
        </p:nvSpPr>
        <p:spPr>
          <a:xfrm>
            <a:off x="5468112" y="3410712"/>
            <a:ext cx="3474720" cy="749808"/>
          </a:xfrm>
          <a:prstGeom prst="rect">
            <a:avLst/>
          </a:prstGeom>
          <a:solidFill>
            <a:srgbClr val="16395A"/>
          </a:solidFill>
          <a:ln/>
          <a:effectLst>
            <a:outerShdw sx="100000" sy="100000" kx="0" ky="0" algn="bl" rotWithShape="0" blurRad="101600" dist="38100" dir="8100000">
              <a:srgbClr val="000000">
                <a:alpha val="12000"/>
              </a:srgbClr>
            </a:outerShdw>
          </a:effectLst>
        </p:spPr>
      </p:sp>
      <p:sp>
        <p:nvSpPr>
          <p:cNvPr id="50" name="Shape 48"/>
          <p:cNvSpPr/>
          <p:nvPr/>
        </p:nvSpPr>
        <p:spPr>
          <a:xfrm>
            <a:off x="5468112" y="3410712"/>
            <a:ext cx="54864" cy="749808"/>
          </a:xfrm>
          <a:prstGeom prst="rect">
            <a:avLst/>
          </a:prstGeom>
          <a:solidFill>
            <a:srgbClr val="C0392B"/>
          </a:solidFill>
          <a:ln/>
        </p:spPr>
      </p:sp>
      <p:sp>
        <p:nvSpPr>
          <p:cNvPr id="51" name="Text 49"/>
          <p:cNvSpPr/>
          <p:nvPr/>
        </p:nvSpPr>
        <p:spPr>
          <a:xfrm>
            <a:off x="5577840" y="3447288"/>
            <a:ext cx="3310128" cy="201168"/>
          </a:xfrm>
          <a:prstGeom prst="rect">
            <a:avLst/>
          </a:prstGeom>
          <a:noFill/>
          <a:ln/>
        </p:spPr>
        <p:txBody>
          <a:bodyPr wrap="square" lIns="0" tIns="0" rIns="0" bIns="0" rtlCol="0" anchor="ctr"/>
          <a:lstStyle/>
          <a:p>
            <a:pPr indent="0" marL="0">
              <a:buNone/>
            </a:pPr>
            <a:r>
              <a:rPr lang="en-US" sz="750" b="1" spc="150" kern="0" dirty="0">
                <a:solidFill>
                  <a:srgbClr val="C0392B"/>
                </a:solidFill>
              </a:rPr>
              <a:t>WHY THEY NEED IT</a:t>
            </a:r>
            <a:endParaRPr lang="en-US" sz="750" dirty="0"/>
          </a:p>
        </p:txBody>
      </p:sp>
      <p:sp>
        <p:nvSpPr>
          <p:cNvPr id="52" name="Text 50"/>
          <p:cNvSpPr/>
          <p:nvPr/>
        </p:nvSpPr>
        <p:spPr>
          <a:xfrm>
            <a:off x="5577840" y="3657600"/>
            <a:ext cx="3310128" cy="457200"/>
          </a:xfrm>
          <a:prstGeom prst="rect">
            <a:avLst/>
          </a:prstGeom>
          <a:noFill/>
          <a:ln/>
        </p:spPr>
        <p:txBody>
          <a:bodyPr wrap="square" lIns="0" tIns="0" rIns="0" bIns="0" rtlCol="0" anchor="ctr"/>
          <a:lstStyle/>
          <a:p>
            <a:pPr indent="0" marL="0">
              <a:lnSpc>
                <a:spcPct val="115000"/>
              </a:lnSpc>
              <a:buNone/>
            </a:pPr>
            <a:r>
              <a:rPr lang="en-US" sz="880" dirty="0">
                <a:solidFill>
                  <a:srgbClr val="FFFFFF"/>
                </a:solidFill>
              </a:rPr>
              <a:t>Oversight of surveys authored by 3rd parties (Karian &amp; Box) before distribution</a:t>
            </a:r>
            <a:endParaRPr lang="en-US" sz="880" dirty="0"/>
          </a:p>
        </p:txBody>
      </p:sp>
      <p:sp>
        <p:nvSpPr>
          <p:cNvPr id="53" name="Shape 51"/>
          <p:cNvSpPr/>
          <p:nvPr/>
        </p:nvSpPr>
        <p:spPr>
          <a:xfrm>
            <a:off x="5468112" y="4197096"/>
            <a:ext cx="3474720" cy="749808"/>
          </a:xfrm>
          <a:prstGeom prst="rect">
            <a:avLst/>
          </a:prstGeom>
          <a:solidFill>
            <a:srgbClr val="0F2640"/>
          </a:solidFill>
          <a:ln/>
          <a:effectLst>
            <a:outerShdw sx="100000" sy="100000" kx="0" ky="0" algn="bl" rotWithShape="0" blurRad="101600" dist="38100" dir="8100000">
              <a:srgbClr val="000000">
                <a:alpha val="12000"/>
              </a:srgbClr>
            </a:outerShdw>
          </a:effectLst>
        </p:spPr>
      </p:sp>
      <p:sp>
        <p:nvSpPr>
          <p:cNvPr id="54" name="Shape 52"/>
          <p:cNvSpPr/>
          <p:nvPr/>
        </p:nvSpPr>
        <p:spPr>
          <a:xfrm>
            <a:off x="5468112" y="4197096"/>
            <a:ext cx="54864" cy="749808"/>
          </a:xfrm>
          <a:prstGeom prst="rect">
            <a:avLst/>
          </a:prstGeom>
          <a:solidFill>
            <a:srgbClr val="C0392B"/>
          </a:solidFill>
          <a:ln/>
        </p:spPr>
      </p:sp>
      <p:sp>
        <p:nvSpPr>
          <p:cNvPr id="55" name="Text 53"/>
          <p:cNvSpPr/>
          <p:nvPr/>
        </p:nvSpPr>
        <p:spPr>
          <a:xfrm>
            <a:off x="5577840" y="4233672"/>
            <a:ext cx="3310128" cy="201168"/>
          </a:xfrm>
          <a:prstGeom prst="rect">
            <a:avLst/>
          </a:prstGeom>
          <a:noFill/>
          <a:ln/>
        </p:spPr>
        <p:txBody>
          <a:bodyPr wrap="square" lIns="0" tIns="0" rIns="0" bIns="0" rtlCol="0" anchor="ctr"/>
          <a:lstStyle/>
          <a:p>
            <a:pPr indent="0" marL="0">
              <a:buNone/>
            </a:pPr>
            <a:r>
              <a:rPr lang="en-US" sz="750" b="1" spc="150" kern="0" dirty="0">
                <a:solidFill>
                  <a:srgbClr val="C0392B"/>
                </a:solidFill>
              </a:rPr>
              <a:t>HOW PROVISIONED</a:t>
            </a:r>
            <a:endParaRPr lang="en-US" sz="750" dirty="0"/>
          </a:p>
        </p:txBody>
      </p:sp>
      <p:sp>
        <p:nvSpPr>
          <p:cNvPr id="56" name="Text 54"/>
          <p:cNvSpPr/>
          <p:nvPr/>
        </p:nvSpPr>
        <p:spPr>
          <a:xfrm>
            <a:off x="5577840" y="4443984"/>
            <a:ext cx="3310128" cy="457200"/>
          </a:xfrm>
          <a:prstGeom prst="rect">
            <a:avLst/>
          </a:prstGeom>
          <a:noFill/>
          <a:ln/>
        </p:spPr>
        <p:txBody>
          <a:bodyPr wrap="square" lIns="0" tIns="0" rIns="0" bIns="0" rtlCol="0" anchor="ctr"/>
          <a:lstStyle/>
          <a:p>
            <a:pPr indent="0" marL="0">
              <a:lnSpc>
                <a:spcPct val="115000"/>
              </a:lnSpc>
              <a:buNone/>
            </a:pPr>
            <a:r>
              <a:rPr lang="en-US" sz="880" dirty="0">
                <a:solidFill>
                  <a:srgbClr val="FFFFFF"/>
                </a:solidFill>
              </a:rPr>
              <a:t>⚠️ Solution not yet defined — role not achievable in current Glint. Interim manual process needed.</a:t>
            </a:r>
            <a:endParaRPr lang="en-US" sz="88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6FB"/>
        </a:solidFill>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1E2761"/>
          </a:solidFill>
          <a:ln/>
        </p:spPr>
      </p:sp>
      <p:sp>
        <p:nvSpPr>
          <p:cNvPr id="3" name="Shape 1"/>
          <p:cNvSpPr/>
          <p:nvPr/>
        </p:nvSpPr>
        <p:spPr>
          <a:xfrm>
            <a:off x="0" y="0"/>
            <a:ext cx="201168" cy="960120"/>
          </a:xfrm>
          <a:prstGeom prst="rect">
            <a:avLst/>
          </a:prstGeom>
          <a:solidFill>
            <a:srgbClr val="6C3483"/>
          </a:solidFill>
          <a:ln/>
        </p:spPr>
      </p:sp>
      <p:sp>
        <p:nvSpPr>
          <p:cNvPr id="4" name="Shape 2"/>
          <p:cNvSpPr/>
          <p:nvPr/>
        </p:nvSpPr>
        <p:spPr>
          <a:xfrm>
            <a:off x="347472" y="155448"/>
            <a:ext cx="566928" cy="566928"/>
          </a:xfrm>
          <a:prstGeom prst="ellipse">
            <a:avLst/>
          </a:prstGeom>
          <a:solidFill>
            <a:srgbClr val="6C3483"/>
          </a:solidFill>
          <a:ln/>
          <a:effectLst>
            <a:outerShdw sx="100000" sy="100000" kx="0" ky="0" algn="bl" rotWithShape="0" blurRad="101600" dist="38100" dir="8100000">
              <a:srgbClr val="000000">
                <a:alpha val="12000"/>
              </a:srgbClr>
            </a:outerShdw>
          </a:effectLst>
        </p:spPr>
      </p:sp>
      <p:sp>
        <p:nvSpPr>
          <p:cNvPr id="5" name="Text 3"/>
          <p:cNvSpPr/>
          <p:nvPr/>
        </p:nvSpPr>
        <p:spPr>
          <a:xfrm>
            <a:off x="347472" y="155448"/>
            <a:ext cx="566928" cy="566928"/>
          </a:xfrm>
          <a:prstGeom prst="rect">
            <a:avLst/>
          </a:prstGeom>
          <a:noFill/>
          <a:ln/>
        </p:spPr>
        <p:txBody>
          <a:bodyPr wrap="square" lIns="0" tIns="0" rIns="0" bIns="0" rtlCol="0" anchor="ctr"/>
          <a:lstStyle/>
          <a:p>
            <a:pPr algn="ctr" indent="0" marL="0">
              <a:buNone/>
            </a:pPr>
            <a:r>
              <a:rPr lang="en-US" sz="1800" b="1" dirty="0">
                <a:solidFill>
                  <a:srgbClr val="FFFFFF"/>
                </a:solidFill>
              </a:rPr>
              <a:t>7</a:t>
            </a:r>
            <a:endParaRPr lang="en-US" sz="1800" dirty="0"/>
          </a:p>
        </p:txBody>
      </p:sp>
      <p:sp>
        <p:nvSpPr>
          <p:cNvPr id="6" name="Text 4"/>
          <p:cNvSpPr/>
          <p:nvPr/>
        </p:nvSpPr>
        <p:spPr>
          <a:xfrm>
            <a:off x="1051560" y="91440"/>
            <a:ext cx="5943600" cy="502920"/>
          </a:xfrm>
          <a:prstGeom prst="rect">
            <a:avLst/>
          </a:prstGeom>
          <a:noFill/>
          <a:ln/>
        </p:spPr>
        <p:txBody>
          <a:bodyPr wrap="square" lIns="0" tIns="0" rIns="0" bIns="0" rtlCol="0" anchor="ctr"/>
          <a:lstStyle/>
          <a:p>
            <a:pPr indent="0" marL="0">
              <a:buNone/>
            </a:pPr>
            <a:r>
              <a:rPr lang="en-US" sz="2000" b="1" dirty="0">
                <a:solidFill>
                  <a:srgbClr val="FFFFFF"/>
                </a:solidFill>
              </a:rPr>
              <a:t>Restricted External Role</a:t>
            </a:r>
            <a:endParaRPr lang="en-US" sz="2000" dirty="0"/>
          </a:p>
        </p:txBody>
      </p:sp>
      <p:sp>
        <p:nvSpPr>
          <p:cNvPr id="7" name="Text 5"/>
          <p:cNvSpPr/>
          <p:nvPr/>
        </p:nvSpPr>
        <p:spPr>
          <a:xfrm>
            <a:off x="1051560" y="594360"/>
            <a:ext cx="5943600" cy="274320"/>
          </a:xfrm>
          <a:prstGeom prst="rect">
            <a:avLst/>
          </a:prstGeom>
          <a:noFill/>
          <a:ln/>
        </p:spPr>
        <p:txBody>
          <a:bodyPr wrap="square" lIns="0" tIns="0" rIns="0" bIns="0" rtlCol="0" anchor="ctr"/>
          <a:lstStyle/>
          <a:p>
            <a:pPr indent="0" marL="0">
              <a:buNone/>
            </a:pPr>
            <a:r>
              <a:rPr lang="en-US" sz="900" dirty="0">
                <a:solidFill>
                  <a:srgbClr val="CADCFC"/>
                </a:solidFill>
              </a:rPr>
              <a:t>Role 7 of 7  |  External Consultant (Karian &amp; Box) — Linked to Role 6</a:t>
            </a:r>
            <a:endParaRPr lang="en-US" sz="900" dirty="0"/>
          </a:p>
        </p:txBody>
      </p:sp>
      <p:sp>
        <p:nvSpPr>
          <p:cNvPr id="8" name="Shape 6"/>
          <p:cNvSpPr/>
          <p:nvPr/>
        </p:nvSpPr>
        <p:spPr>
          <a:xfrm>
            <a:off x="7863840" y="292608"/>
            <a:ext cx="1097280" cy="347472"/>
          </a:xfrm>
          <a:prstGeom prst="roundRect">
            <a:avLst>
              <a:gd name="adj" fmla="val 21053"/>
            </a:avLst>
          </a:prstGeom>
          <a:solidFill>
            <a:srgbClr val="F39C12"/>
          </a:solidFill>
          <a:ln/>
        </p:spPr>
      </p:sp>
      <p:sp>
        <p:nvSpPr>
          <p:cNvPr id="9" name="Text 7"/>
          <p:cNvSpPr/>
          <p:nvPr/>
        </p:nvSpPr>
        <p:spPr>
          <a:xfrm>
            <a:off x="7863840" y="292608"/>
            <a:ext cx="1097280" cy="347472"/>
          </a:xfrm>
          <a:prstGeom prst="rect">
            <a:avLst/>
          </a:prstGeom>
          <a:noFill/>
          <a:ln/>
        </p:spPr>
        <p:txBody>
          <a:bodyPr wrap="square" lIns="0" tIns="0" rIns="0" bIns="0" rtlCol="0" anchor="ctr"/>
          <a:lstStyle/>
          <a:p>
            <a:pPr algn="ctr" indent="0" marL="0">
              <a:buNone/>
            </a:pPr>
            <a:r>
              <a:rPr lang="en-US" sz="1000" b="1" dirty="0">
                <a:solidFill>
                  <a:srgbClr val="FFFFFF"/>
                </a:solidFill>
              </a:rPr>
              <a:t>Work in Progress</a:t>
            </a:r>
            <a:endParaRPr lang="en-US" sz="1000" dirty="0"/>
          </a:p>
        </p:txBody>
      </p:sp>
      <p:sp>
        <p:nvSpPr>
          <p:cNvPr id="10" name="Shape 8"/>
          <p:cNvSpPr/>
          <p:nvPr/>
        </p:nvSpPr>
        <p:spPr>
          <a:xfrm>
            <a:off x="201168" y="1051560"/>
            <a:ext cx="5074920" cy="3886200"/>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11" name="Shape 9"/>
          <p:cNvSpPr/>
          <p:nvPr/>
        </p:nvSpPr>
        <p:spPr>
          <a:xfrm>
            <a:off x="201168" y="1051560"/>
            <a:ext cx="5074920" cy="347472"/>
          </a:xfrm>
          <a:prstGeom prst="rect">
            <a:avLst/>
          </a:prstGeom>
          <a:solidFill>
            <a:srgbClr val="1A2340"/>
          </a:solidFill>
          <a:ln/>
        </p:spPr>
      </p:sp>
      <p:sp>
        <p:nvSpPr>
          <p:cNvPr id="12" name="Text 10"/>
          <p:cNvSpPr/>
          <p:nvPr/>
        </p:nvSpPr>
        <p:spPr>
          <a:xfrm>
            <a:off x="320040" y="1051560"/>
            <a:ext cx="4892040" cy="347472"/>
          </a:xfrm>
          <a:prstGeom prst="rect">
            <a:avLst/>
          </a:prstGeom>
          <a:noFill/>
          <a:ln/>
        </p:spPr>
        <p:txBody>
          <a:bodyPr wrap="square" lIns="0" tIns="0" rIns="0" bIns="0" rtlCol="0" anchor="ctr"/>
          <a:lstStyle/>
          <a:p>
            <a:pPr indent="0" marL="0">
              <a:buNone/>
            </a:pPr>
            <a:r>
              <a:rPr lang="en-US" sz="900" b="1" spc="200" kern="0" dirty="0">
                <a:solidFill>
                  <a:srgbClr val="F4A223"/>
                </a:solidFill>
              </a:rPr>
              <a:t>PERMISSIONS &amp; CAPABILITIES</a:t>
            </a:r>
            <a:endParaRPr lang="en-US" sz="900" dirty="0"/>
          </a:p>
        </p:txBody>
      </p:sp>
      <p:sp>
        <p:nvSpPr>
          <p:cNvPr id="13" name="Shape 11"/>
          <p:cNvSpPr/>
          <p:nvPr/>
        </p:nvSpPr>
        <p:spPr>
          <a:xfrm>
            <a:off x="320040" y="1591056"/>
            <a:ext cx="118872" cy="118872"/>
          </a:xfrm>
          <a:prstGeom prst="ellipse">
            <a:avLst/>
          </a:prstGeom>
          <a:solidFill>
            <a:srgbClr val="6C3483"/>
          </a:solidFill>
          <a:ln/>
        </p:spPr>
      </p:sp>
      <p:sp>
        <p:nvSpPr>
          <p:cNvPr id="14" name="Text 12"/>
          <p:cNvSpPr/>
          <p:nvPr/>
        </p:nvSpPr>
        <p:spPr>
          <a:xfrm>
            <a:off x="502920" y="1517904"/>
            <a:ext cx="2240280" cy="201168"/>
          </a:xfrm>
          <a:prstGeom prst="rect">
            <a:avLst/>
          </a:prstGeom>
          <a:noFill/>
          <a:ln/>
        </p:spPr>
        <p:txBody>
          <a:bodyPr wrap="square" lIns="0" tIns="0" rIns="0" bIns="0" rtlCol="0" anchor="ctr"/>
          <a:lstStyle/>
          <a:p>
            <a:pPr indent="0" marL="0">
              <a:buNone/>
            </a:pPr>
            <a:r>
              <a:rPr lang="en-US" sz="950" b="1" dirty="0">
                <a:solidFill>
                  <a:srgbClr val="1A2340"/>
                </a:solidFill>
              </a:rPr>
              <a:t>Survey Creation (Proposed)</a:t>
            </a:r>
            <a:endParaRPr lang="en-US" sz="950" dirty="0"/>
          </a:p>
        </p:txBody>
      </p:sp>
      <p:sp>
        <p:nvSpPr>
          <p:cNvPr id="15" name="Text 13"/>
          <p:cNvSpPr/>
          <p:nvPr/>
        </p:nvSpPr>
        <p:spPr>
          <a:xfrm>
            <a:off x="502920" y="1719072"/>
            <a:ext cx="2240280" cy="256032"/>
          </a:xfrm>
          <a:prstGeom prst="rect">
            <a:avLst/>
          </a:prstGeom>
          <a:noFill/>
          <a:ln/>
        </p:spPr>
        <p:txBody>
          <a:bodyPr wrap="square" lIns="0" tIns="0" rIns="0" bIns="0" rtlCol="0" anchor="ctr"/>
          <a:lstStyle/>
          <a:p>
            <a:pPr indent="0" marL="0">
              <a:lnSpc>
                <a:spcPct val="110000"/>
              </a:lnSpc>
              <a:buNone/>
            </a:pPr>
            <a:r>
              <a:rPr lang="en-US" sz="800" dirty="0">
                <a:solidFill>
                  <a:srgbClr val="64748B"/>
                </a:solidFill>
              </a:rPr>
              <a:t>Create new surveys on behalf of Corporate Comms — cannot launch without Role 6 approval</a:t>
            </a:r>
            <a:endParaRPr lang="en-US" sz="800" dirty="0"/>
          </a:p>
        </p:txBody>
      </p:sp>
      <p:sp>
        <p:nvSpPr>
          <p:cNvPr id="16" name="Shape 14"/>
          <p:cNvSpPr/>
          <p:nvPr/>
        </p:nvSpPr>
        <p:spPr>
          <a:xfrm>
            <a:off x="320040" y="2066544"/>
            <a:ext cx="118872" cy="118872"/>
          </a:xfrm>
          <a:prstGeom prst="ellipse">
            <a:avLst/>
          </a:prstGeom>
          <a:solidFill>
            <a:srgbClr val="6C3483"/>
          </a:solidFill>
          <a:ln/>
        </p:spPr>
      </p:sp>
      <p:sp>
        <p:nvSpPr>
          <p:cNvPr id="17" name="Text 15"/>
          <p:cNvSpPr/>
          <p:nvPr/>
        </p:nvSpPr>
        <p:spPr>
          <a:xfrm>
            <a:off x="502920" y="1993392"/>
            <a:ext cx="2240280" cy="201168"/>
          </a:xfrm>
          <a:prstGeom prst="rect">
            <a:avLst/>
          </a:prstGeom>
          <a:noFill/>
          <a:ln/>
        </p:spPr>
        <p:txBody>
          <a:bodyPr wrap="square" lIns="0" tIns="0" rIns="0" bIns="0" rtlCol="0" anchor="ctr"/>
          <a:lstStyle/>
          <a:p>
            <a:pPr indent="0" marL="0">
              <a:buNone/>
            </a:pPr>
            <a:r>
              <a:rPr lang="en-US" sz="950" b="1" dirty="0">
                <a:solidFill>
                  <a:srgbClr val="1A2340"/>
                </a:solidFill>
              </a:rPr>
              <a:t>Survey Distribution (Proposed)</a:t>
            </a:r>
            <a:endParaRPr lang="en-US" sz="950" dirty="0"/>
          </a:p>
        </p:txBody>
      </p:sp>
      <p:sp>
        <p:nvSpPr>
          <p:cNvPr id="18" name="Text 16"/>
          <p:cNvSpPr/>
          <p:nvPr/>
        </p:nvSpPr>
        <p:spPr>
          <a:xfrm>
            <a:off x="502920" y="2194560"/>
            <a:ext cx="2240280" cy="256032"/>
          </a:xfrm>
          <a:prstGeom prst="rect">
            <a:avLst/>
          </a:prstGeom>
          <a:noFill/>
          <a:ln/>
        </p:spPr>
        <p:txBody>
          <a:bodyPr wrap="square" lIns="0" tIns="0" rIns="0" bIns="0" rtlCol="0" anchor="ctr"/>
          <a:lstStyle/>
          <a:p>
            <a:pPr indent="0" marL="0">
              <a:lnSpc>
                <a:spcPct val="110000"/>
              </a:lnSpc>
              <a:buNone/>
            </a:pPr>
            <a:r>
              <a:rPr lang="en-US" sz="800" dirty="0">
                <a:solidFill>
                  <a:srgbClr val="64748B"/>
                </a:solidFill>
              </a:rPr>
              <a:t>Distribute via mailing list — requires Corporate Comms approval before send</a:t>
            </a:r>
            <a:endParaRPr lang="en-US" sz="800" dirty="0"/>
          </a:p>
        </p:txBody>
      </p:sp>
      <p:sp>
        <p:nvSpPr>
          <p:cNvPr id="19" name="Shape 17"/>
          <p:cNvSpPr/>
          <p:nvPr/>
        </p:nvSpPr>
        <p:spPr>
          <a:xfrm>
            <a:off x="320040" y="2542032"/>
            <a:ext cx="118872" cy="118872"/>
          </a:xfrm>
          <a:prstGeom prst="ellipse">
            <a:avLst/>
          </a:prstGeom>
          <a:solidFill>
            <a:srgbClr val="6C3483"/>
          </a:solidFill>
          <a:ln/>
        </p:spPr>
      </p:sp>
      <p:sp>
        <p:nvSpPr>
          <p:cNvPr id="20" name="Text 18"/>
          <p:cNvSpPr/>
          <p:nvPr/>
        </p:nvSpPr>
        <p:spPr>
          <a:xfrm>
            <a:off x="502920" y="2468880"/>
            <a:ext cx="2240280" cy="201168"/>
          </a:xfrm>
          <a:prstGeom prst="rect">
            <a:avLst/>
          </a:prstGeom>
          <a:noFill/>
          <a:ln/>
        </p:spPr>
        <p:txBody>
          <a:bodyPr wrap="square" lIns="0" tIns="0" rIns="0" bIns="0" rtlCol="0" anchor="ctr"/>
          <a:lstStyle/>
          <a:p>
            <a:pPr indent="0" marL="0">
              <a:buNone/>
            </a:pPr>
            <a:r>
              <a:rPr lang="en-US" sz="950" b="1" dirty="0">
                <a:solidFill>
                  <a:srgbClr val="1A2340"/>
                </a:solidFill>
              </a:rPr>
              <a:t>Analysis &amp; Reporting (Proposed)</a:t>
            </a:r>
            <a:endParaRPr lang="en-US" sz="950" dirty="0"/>
          </a:p>
        </p:txBody>
      </p:sp>
      <p:sp>
        <p:nvSpPr>
          <p:cNvPr id="21" name="Text 19"/>
          <p:cNvSpPr/>
          <p:nvPr/>
        </p:nvSpPr>
        <p:spPr>
          <a:xfrm>
            <a:off x="502920" y="2670048"/>
            <a:ext cx="2240280" cy="256032"/>
          </a:xfrm>
          <a:prstGeom prst="rect">
            <a:avLst/>
          </a:prstGeom>
          <a:noFill/>
          <a:ln/>
        </p:spPr>
        <p:txBody>
          <a:bodyPr wrap="square" lIns="0" tIns="0" rIns="0" bIns="0" rtlCol="0" anchor="ctr"/>
          <a:lstStyle/>
          <a:p>
            <a:pPr indent="0" marL="0">
              <a:lnSpc>
                <a:spcPct val="110000"/>
              </a:lnSpc>
              <a:buNone/>
            </a:pPr>
            <a:r>
              <a:rPr lang="en-US" sz="800" dirty="0">
                <a:solidFill>
                  <a:srgbClr val="64748B"/>
                </a:solidFill>
              </a:rPr>
              <a:t>View results and perform analysis on their distributed surveys</a:t>
            </a:r>
            <a:endParaRPr lang="en-US" sz="800" dirty="0"/>
          </a:p>
        </p:txBody>
      </p:sp>
      <p:sp>
        <p:nvSpPr>
          <p:cNvPr id="22" name="Shape 20"/>
          <p:cNvSpPr/>
          <p:nvPr/>
        </p:nvSpPr>
        <p:spPr>
          <a:xfrm>
            <a:off x="320040" y="3017520"/>
            <a:ext cx="118872" cy="118872"/>
          </a:xfrm>
          <a:prstGeom prst="ellipse">
            <a:avLst/>
          </a:prstGeom>
          <a:solidFill>
            <a:srgbClr val="6C3483"/>
          </a:solidFill>
          <a:ln/>
        </p:spPr>
      </p:sp>
      <p:sp>
        <p:nvSpPr>
          <p:cNvPr id="23" name="Text 21"/>
          <p:cNvSpPr/>
          <p:nvPr/>
        </p:nvSpPr>
        <p:spPr>
          <a:xfrm>
            <a:off x="502920" y="2944368"/>
            <a:ext cx="2240280" cy="201168"/>
          </a:xfrm>
          <a:prstGeom prst="rect">
            <a:avLst/>
          </a:prstGeom>
          <a:noFill/>
          <a:ln/>
        </p:spPr>
        <p:txBody>
          <a:bodyPr wrap="square" lIns="0" tIns="0" rIns="0" bIns="0" rtlCol="0" anchor="ctr"/>
          <a:lstStyle/>
          <a:p>
            <a:pPr indent="0" marL="0">
              <a:buNone/>
            </a:pPr>
            <a:r>
              <a:rPr lang="en-US" sz="950" b="1" dirty="0">
                <a:solidFill>
                  <a:srgbClr val="1A2340"/>
                </a:solidFill>
              </a:rPr>
              <a:t>⚠️ Approval Gate 1 — Launch</a:t>
            </a:r>
            <a:endParaRPr lang="en-US" sz="950" dirty="0"/>
          </a:p>
        </p:txBody>
      </p:sp>
      <p:sp>
        <p:nvSpPr>
          <p:cNvPr id="24" name="Text 22"/>
          <p:cNvSpPr/>
          <p:nvPr/>
        </p:nvSpPr>
        <p:spPr>
          <a:xfrm>
            <a:off x="502920" y="3145536"/>
            <a:ext cx="2240280" cy="256032"/>
          </a:xfrm>
          <a:prstGeom prst="rect">
            <a:avLst/>
          </a:prstGeom>
          <a:noFill/>
          <a:ln/>
        </p:spPr>
        <p:txBody>
          <a:bodyPr wrap="square" lIns="0" tIns="0" rIns="0" bIns="0" rtlCol="0" anchor="ctr"/>
          <a:lstStyle/>
          <a:p>
            <a:pPr indent="0" marL="0">
              <a:lnSpc>
                <a:spcPct val="110000"/>
              </a:lnSpc>
              <a:buNone/>
            </a:pPr>
            <a:r>
              <a:rPr lang="en-US" sz="800" dirty="0">
                <a:solidFill>
                  <a:srgbClr val="64748B"/>
                </a:solidFill>
              </a:rPr>
              <a:t>Survey launch must be approved by Corporate Comms (Role 6) before going live</a:t>
            </a:r>
            <a:endParaRPr lang="en-US" sz="800" dirty="0"/>
          </a:p>
        </p:txBody>
      </p:sp>
      <p:sp>
        <p:nvSpPr>
          <p:cNvPr id="25" name="Shape 23"/>
          <p:cNvSpPr/>
          <p:nvPr/>
        </p:nvSpPr>
        <p:spPr>
          <a:xfrm>
            <a:off x="2862072" y="1591056"/>
            <a:ext cx="118872" cy="118872"/>
          </a:xfrm>
          <a:prstGeom prst="ellipse">
            <a:avLst/>
          </a:prstGeom>
          <a:solidFill>
            <a:srgbClr val="6C3483"/>
          </a:solidFill>
          <a:ln/>
        </p:spPr>
      </p:sp>
      <p:sp>
        <p:nvSpPr>
          <p:cNvPr id="26" name="Text 24"/>
          <p:cNvSpPr/>
          <p:nvPr/>
        </p:nvSpPr>
        <p:spPr>
          <a:xfrm>
            <a:off x="3044952" y="1517904"/>
            <a:ext cx="2240280" cy="201168"/>
          </a:xfrm>
          <a:prstGeom prst="rect">
            <a:avLst/>
          </a:prstGeom>
          <a:noFill/>
          <a:ln/>
        </p:spPr>
        <p:txBody>
          <a:bodyPr wrap="square" lIns="0" tIns="0" rIns="0" bIns="0" rtlCol="0" anchor="ctr"/>
          <a:lstStyle/>
          <a:p>
            <a:pPr indent="0" marL="0">
              <a:buNone/>
            </a:pPr>
            <a:r>
              <a:rPr lang="en-US" sz="950" b="1" dirty="0">
                <a:solidFill>
                  <a:srgbClr val="1A2340"/>
                </a:solidFill>
              </a:rPr>
              <a:t>⚠️ Approval Gate 2 — Distribution</a:t>
            </a:r>
            <a:endParaRPr lang="en-US" sz="950" dirty="0"/>
          </a:p>
        </p:txBody>
      </p:sp>
      <p:sp>
        <p:nvSpPr>
          <p:cNvPr id="27" name="Text 25"/>
          <p:cNvSpPr/>
          <p:nvPr/>
        </p:nvSpPr>
        <p:spPr>
          <a:xfrm>
            <a:off x="3044952" y="1719072"/>
            <a:ext cx="2240280" cy="256032"/>
          </a:xfrm>
          <a:prstGeom prst="rect">
            <a:avLst/>
          </a:prstGeom>
          <a:noFill/>
          <a:ln/>
        </p:spPr>
        <p:txBody>
          <a:bodyPr wrap="square" lIns="0" tIns="0" rIns="0" bIns="0" rtlCol="0" anchor="ctr"/>
          <a:lstStyle/>
          <a:p>
            <a:pPr indent="0" marL="0">
              <a:lnSpc>
                <a:spcPct val="110000"/>
              </a:lnSpc>
              <a:buNone/>
            </a:pPr>
            <a:r>
              <a:rPr lang="en-US" sz="800" dirty="0">
                <a:solidFill>
                  <a:srgbClr val="64748B"/>
                </a:solidFill>
              </a:rPr>
              <a:t>Mailing list distribution must be approved by Corporate Comms (Role 6)</a:t>
            </a:r>
            <a:endParaRPr lang="en-US" sz="800" dirty="0"/>
          </a:p>
        </p:txBody>
      </p:sp>
      <p:sp>
        <p:nvSpPr>
          <p:cNvPr id="28" name="Shape 26"/>
          <p:cNvSpPr/>
          <p:nvPr/>
        </p:nvSpPr>
        <p:spPr>
          <a:xfrm>
            <a:off x="2862072" y="2066544"/>
            <a:ext cx="118872" cy="118872"/>
          </a:xfrm>
          <a:prstGeom prst="ellipse">
            <a:avLst/>
          </a:prstGeom>
          <a:solidFill>
            <a:srgbClr val="6C3483"/>
          </a:solidFill>
          <a:ln/>
        </p:spPr>
      </p:sp>
      <p:sp>
        <p:nvSpPr>
          <p:cNvPr id="29" name="Text 27"/>
          <p:cNvSpPr/>
          <p:nvPr/>
        </p:nvSpPr>
        <p:spPr>
          <a:xfrm>
            <a:off x="3044952" y="1993392"/>
            <a:ext cx="2240280" cy="201168"/>
          </a:xfrm>
          <a:prstGeom prst="rect">
            <a:avLst/>
          </a:prstGeom>
          <a:noFill/>
          <a:ln/>
        </p:spPr>
        <p:txBody>
          <a:bodyPr wrap="square" lIns="0" tIns="0" rIns="0" bIns="0" rtlCol="0" anchor="ctr"/>
          <a:lstStyle/>
          <a:p>
            <a:pPr indent="0" marL="0">
              <a:buNone/>
            </a:pPr>
            <a:r>
              <a:rPr lang="en-US" sz="950" b="1" dirty="0">
                <a:solidFill>
                  <a:srgbClr val="1A2340"/>
                </a:solidFill>
              </a:rPr>
              <a:t>❌ No Platform Access Currently</a:t>
            </a:r>
            <a:endParaRPr lang="en-US" sz="950" dirty="0"/>
          </a:p>
        </p:txBody>
      </p:sp>
      <p:sp>
        <p:nvSpPr>
          <p:cNvPr id="30" name="Text 28"/>
          <p:cNvSpPr/>
          <p:nvPr/>
        </p:nvSpPr>
        <p:spPr>
          <a:xfrm>
            <a:off x="3044952" y="2194560"/>
            <a:ext cx="2240280" cy="256032"/>
          </a:xfrm>
          <a:prstGeom prst="rect">
            <a:avLst/>
          </a:prstGeom>
          <a:noFill/>
          <a:ln/>
        </p:spPr>
        <p:txBody>
          <a:bodyPr wrap="square" lIns="0" tIns="0" rIns="0" bIns="0" rtlCol="0" anchor="ctr"/>
          <a:lstStyle/>
          <a:p>
            <a:pPr indent="0" marL="0">
              <a:lnSpc>
                <a:spcPct val="110000"/>
              </a:lnSpc>
              <a:buNone/>
            </a:pPr>
            <a:r>
              <a:rPr lang="en-US" sz="800" dirty="0">
                <a:solidFill>
                  <a:srgbClr val="64748B"/>
                </a:solidFill>
              </a:rPr>
              <a:t>Glint does not support granting access to external/third-party users</a:t>
            </a:r>
            <a:endParaRPr lang="en-US" sz="800" dirty="0"/>
          </a:p>
        </p:txBody>
      </p:sp>
      <p:sp>
        <p:nvSpPr>
          <p:cNvPr id="31" name="Shape 29"/>
          <p:cNvSpPr/>
          <p:nvPr/>
        </p:nvSpPr>
        <p:spPr>
          <a:xfrm>
            <a:off x="2862072" y="2542032"/>
            <a:ext cx="118872" cy="118872"/>
          </a:xfrm>
          <a:prstGeom prst="ellipse">
            <a:avLst/>
          </a:prstGeom>
          <a:solidFill>
            <a:srgbClr val="6C3483"/>
          </a:solidFill>
          <a:ln/>
        </p:spPr>
      </p:sp>
      <p:sp>
        <p:nvSpPr>
          <p:cNvPr id="32" name="Text 30"/>
          <p:cNvSpPr/>
          <p:nvPr/>
        </p:nvSpPr>
        <p:spPr>
          <a:xfrm>
            <a:off x="3044952" y="2468880"/>
            <a:ext cx="2240280" cy="201168"/>
          </a:xfrm>
          <a:prstGeom prst="rect">
            <a:avLst/>
          </a:prstGeom>
          <a:noFill/>
          <a:ln/>
        </p:spPr>
        <p:txBody>
          <a:bodyPr wrap="square" lIns="0" tIns="0" rIns="0" bIns="0" rtlCol="0" anchor="ctr"/>
          <a:lstStyle/>
          <a:p>
            <a:pPr indent="0" marL="0">
              <a:buNone/>
            </a:pPr>
            <a:r>
              <a:rPr lang="en-US" sz="950" b="1" dirty="0">
                <a:solidFill>
                  <a:srgbClr val="1A2340"/>
                </a:solidFill>
              </a:rPr>
              <a:t>❌ No Native Approval Workflow</a:t>
            </a:r>
            <a:endParaRPr lang="en-US" sz="950" dirty="0"/>
          </a:p>
        </p:txBody>
      </p:sp>
      <p:sp>
        <p:nvSpPr>
          <p:cNvPr id="33" name="Text 31"/>
          <p:cNvSpPr/>
          <p:nvPr/>
        </p:nvSpPr>
        <p:spPr>
          <a:xfrm>
            <a:off x="3044952" y="2670048"/>
            <a:ext cx="2240280" cy="256032"/>
          </a:xfrm>
          <a:prstGeom prst="rect">
            <a:avLst/>
          </a:prstGeom>
          <a:noFill/>
          <a:ln/>
        </p:spPr>
        <p:txBody>
          <a:bodyPr wrap="square" lIns="0" tIns="0" rIns="0" bIns="0" rtlCol="0" anchor="ctr"/>
          <a:lstStyle/>
          <a:p>
            <a:pPr indent="0" marL="0">
              <a:lnSpc>
                <a:spcPct val="110000"/>
              </a:lnSpc>
              <a:buNone/>
            </a:pPr>
            <a:r>
              <a:rPr lang="en-US" sz="800" dirty="0">
                <a:solidFill>
                  <a:srgbClr val="64748B"/>
                </a:solidFill>
              </a:rPr>
              <a:t>Glint has no mechanism for an internal approver to gate external user actions</a:t>
            </a:r>
            <a:endParaRPr lang="en-US" sz="800" dirty="0"/>
          </a:p>
        </p:txBody>
      </p:sp>
      <p:sp>
        <p:nvSpPr>
          <p:cNvPr id="34" name="Shape 32"/>
          <p:cNvSpPr/>
          <p:nvPr/>
        </p:nvSpPr>
        <p:spPr>
          <a:xfrm>
            <a:off x="2862072" y="3017520"/>
            <a:ext cx="118872" cy="118872"/>
          </a:xfrm>
          <a:prstGeom prst="ellipse">
            <a:avLst/>
          </a:prstGeom>
          <a:solidFill>
            <a:srgbClr val="6C3483"/>
          </a:solidFill>
          <a:ln/>
        </p:spPr>
      </p:sp>
      <p:sp>
        <p:nvSpPr>
          <p:cNvPr id="35" name="Text 33"/>
          <p:cNvSpPr/>
          <p:nvPr/>
        </p:nvSpPr>
        <p:spPr>
          <a:xfrm>
            <a:off x="3044952" y="2944368"/>
            <a:ext cx="2240280" cy="201168"/>
          </a:xfrm>
          <a:prstGeom prst="rect">
            <a:avLst/>
          </a:prstGeom>
          <a:noFill/>
          <a:ln/>
        </p:spPr>
        <p:txBody>
          <a:bodyPr wrap="square" lIns="0" tIns="0" rIns="0" bIns="0" rtlCol="0" anchor="ctr"/>
          <a:lstStyle/>
          <a:p>
            <a:pPr indent="0" marL="0">
              <a:buNone/>
            </a:pPr>
            <a:r>
              <a:rPr lang="en-US" sz="950" b="1" dirty="0">
                <a:solidFill>
                  <a:srgbClr val="1A2340"/>
                </a:solidFill>
              </a:rPr>
              <a:t>🔍 Gap from Qualtrics Migration</a:t>
            </a:r>
            <a:endParaRPr lang="en-US" sz="950" dirty="0"/>
          </a:p>
        </p:txBody>
      </p:sp>
      <p:sp>
        <p:nvSpPr>
          <p:cNvPr id="36" name="Text 34"/>
          <p:cNvSpPr/>
          <p:nvPr/>
        </p:nvSpPr>
        <p:spPr>
          <a:xfrm>
            <a:off x="3044952" y="3145536"/>
            <a:ext cx="2240280" cy="256032"/>
          </a:xfrm>
          <a:prstGeom prst="rect">
            <a:avLst/>
          </a:prstGeom>
          <a:noFill/>
          <a:ln/>
        </p:spPr>
        <p:txBody>
          <a:bodyPr wrap="square" lIns="0" tIns="0" rIns="0" bIns="0" rtlCol="0" anchor="ctr"/>
          <a:lstStyle/>
          <a:p>
            <a:pPr indent="0" marL="0">
              <a:lnSpc>
                <a:spcPct val="110000"/>
              </a:lnSpc>
              <a:buNone/>
            </a:pPr>
            <a:r>
              <a:rPr lang="en-US" sz="800" dirty="0">
                <a:solidFill>
                  <a:srgbClr val="64748B"/>
                </a:solidFill>
              </a:rPr>
              <a:t>This workflow existed in Qualtrics; no equivalent yet available in Glint</a:t>
            </a:r>
            <a:endParaRPr lang="en-US" sz="800" dirty="0"/>
          </a:p>
        </p:txBody>
      </p:sp>
      <p:sp>
        <p:nvSpPr>
          <p:cNvPr id="37" name="Shape 35"/>
          <p:cNvSpPr/>
          <p:nvPr/>
        </p:nvSpPr>
        <p:spPr>
          <a:xfrm>
            <a:off x="5468112" y="1051560"/>
            <a:ext cx="3474720" cy="749808"/>
          </a:xfrm>
          <a:prstGeom prst="rect">
            <a:avLst/>
          </a:prstGeom>
          <a:solidFill>
            <a:srgbClr val="1E2761"/>
          </a:solidFill>
          <a:ln/>
          <a:effectLst>
            <a:outerShdw sx="100000" sy="100000" kx="0" ky="0" algn="bl" rotWithShape="0" blurRad="101600" dist="38100" dir="8100000">
              <a:srgbClr val="000000">
                <a:alpha val="12000"/>
              </a:srgbClr>
            </a:outerShdw>
          </a:effectLst>
        </p:spPr>
      </p:sp>
      <p:sp>
        <p:nvSpPr>
          <p:cNvPr id="38" name="Shape 36"/>
          <p:cNvSpPr/>
          <p:nvPr/>
        </p:nvSpPr>
        <p:spPr>
          <a:xfrm>
            <a:off x="5468112" y="1051560"/>
            <a:ext cx="54864" cy="749808"/>
          </a:xfrm>
          <a:prstGeom prst="rect">
            <a:avLst/>
          </a:prstGeom>
          <a:solidFill>
            <a:srgbClr val="6C3483"/>
          </a:solidFill>
          <a:ln/>
        </p:spPr>
      </p:sp>
      <p:sp>
        <p:nvSpPr>
          <p:cNvPr id="39" name="Text 37"/>
          <p:cNvSpPr/>
          <p:nvPr/>
        </p:nvSpPr>
        <p:spPr>
          <a:xfrm>
            <a:off x="5577840" y="1088136"/>
            <a:ext cx="3310128" cy="201168"/>
          </a:xfrm>
          <a:prstGeom prst="rect">
            <a:avLst/>
          </a:prstGeom>
          <a:noFill/>
          <a:ln/>
        </p:spPr>
        <p:txBody>
          <a:bodyPr wrap="square" lIns="0" tIns="0" rIns="0" bIns="0" rtlCol="0" anchor="ctr"/>
          <a:lstStyle/>
          <a:p>
            <a:pPr indent="0" marL="0">
              <a:buNone/>
            </a:pPr>
            <a:r>
              <a:rPr lang="en-US" sz="750" b="1" spc="150" kern="0" dirty="0">
                <a:solidFill>
                  <a:srgbClr val="6C3483"/>
                </a:solidFill>
              </a:rPr>
              <a:t>DATA ACCESSIBLE</a:t>
            </a:r>
            <a:endParaRPr lang="en-US" sz="750" dirty="0"/>
          </a:p>
        </p:txBody>
      </p:sp>
      <p:sp>
        <p:nvSpPr>
          <p:cNvPr id="40" name="Text 38"/>
          <p:cNvSpPr/>
          <p:nvPr/>
        </p:nvSpPr>
        <p:spPr>
          <a:xfrm>
            <a:off x="5577840" y="1298448"/>
            <a:ext cx="3310128" cy="457200"/>
          </a:xfrm>
          <a:prstGeom prst="rect">
            <a:avLst/>
          </a:prstGeom>
          <a:noFill/>
          <a:ln/>
        </p:spPr>
        <p:txBody>
          <a:bodyPr wrap="square" lIns="0" tIns="0" rIns="0" bIns="0" rtlCol="0" anchor="ctr"/>
          <a:lstStyle/>
          <a:p>
            <a:pPr indent="0" marL="0">
              <a:lnSpc>
                <a:spcPct val="115000"/>
              </a:lnSpc>
              <a:buNone/>
            </a:pPr>
            <a:r>
              <a:rPr lang="en-US" sz="880" dirty="0">
                <a:solidFill>
                  <a:srgbClr val="FFFFFF"/>
                </a:solidFill>
              </a:rPr>
              <a:t>Intended: Only surveys created by them &amp; associated response data — no other Barclays data</a:t>
            </a:r>
            <a:endParaRPr lang="en-US" sz="880" dirty="0"/>
          </a:p>
        </p:txBody>
      </p:sp>
      <p:sp>
        <p:nvSpPr>
          <p:cNvPr id="41" name="Shape 39"/>
          <p:cNvSpPr/>
          <p:nvPr/>
        </p:nvSpPr>
        <p:spPr>
          <a:xfrm>
            <a:off x="5468112" y="1837944"/>
            <a:ext cx="3474720" cy="749808"/>
          </a:xfrm>
          <a:prstGeom prst="rect">
            <a:avLst/>
          </a:prstGeom>
          <a:solidFill>
            <a:srgbClr val="1B5E7B"/>
          </a:solidFill>
          <a:ln/>
          <a:effectLst>
            <a:outerShdw sx="100000" sy="100000" kx="0" ky="0" algn="bl" rotWithShape="0" blurRad="101600" dist="38100" dir="8100000">
              <a:srgbClr val="000000">
                <a:alpha val="12000"/>
              </a:srgbClr>
            </a:outerShdw>
          </a:effectLst>
        </p:spPr>
      </p:sp>
      <p:sp>
        <p:nvSpPr>
          <p:cNvPr id="42" name="Shape 40"/>
          <p:cNvSpPr/>
          <p:nvPr/>
        </p:nvSpPr>
        <p:spPr>
          <a:xfrm>
            <a:off x="5468112" y="1837944"/>
            <a:ext cx="54864" cy="749808"/>
          </a:xfrm>
          <a:prstGeom prst="rect">
            <a:avLst/>
          </a:prstGeom>
          <a:solidFill>
            <a:srgbClr val="6C3483"/>
          </a:solidFill>
          <a:ln/>
        </p:spPr>
      </p:sp>
      <p:sp>
        <p:nvSpPr>
          <p:cNvPr id="43" name="Text 41"/>
          <p:cNvSpPr/>
          <p:nvPr/>
        </p:nvSpPr>
        <p:spPr>
          <a:xfrm>
            <a:off x="5577840" y="1874520"/>
            <a:ext cx="3310128" cy="201168"/>
          </a:xfrm>
          <a:prstGeom prst="rect">
            <a:avLst/>
          </a:prstGeom>
          <a:noFill/>
          <a:ln/>
        </p:spPr>
        <p:txBody>
          <a:bodyPr wrap="square" lIns="0" tIns="0" rIns="0" bIns="0" rtlCol="0" anchor="ctr"/>
          <a:lstStyle/>
          <a:p>
            <a:pPr indent="0" marL="0">
              <a:buNone/>
            </a:pPr>
            <a:r>
              <a:rPr lang="en-US" sz="750" b="1" spc="150" kern="0" dirty="0">
                <a:solidFill>
                  <a:srgbClr val="6C3483"/>
                </a:solidFill>
              </a:rPr>
              <a:t>POPULATION COVERED</a:t>
            </a:r>
            <a:endParaRPr lang="en-US" sz="750" dirty="0"/>
          </a:p>
        </p:txBody>
      </p:sp>
      <p:sp>
        <p:nvSpPr>
          <p:cNvPr id="44" name="Text 42"/>
          <p:cNvSpPr/>
          <p:nvPr/>
        </p:nvSpPr>
        <p:spPr>
          <a:xfrm>
            <a:off x="5577840" y="2084832"/>
            <a:ext cx="3310128" cy="457200"/>
          </a:xfrm>
          <a:prstGeom prst="rect">
            <a:avLst/>
          </a:prstGeom>
          <a:noFill/>
          <a:ln/>
        </p:spPr>
        <p:txBody>
          <a:bodyPr wrap="square" lIns="0" tIns="0" rIns="0" bIns="0" rtlCol="0" anchor="ctr"/>
          <a:lstStyle/>
          <a:p>
            <a:pPr indent="0" marL="0">
              <a:lnSpc>
                <a:spcPct val="115000"/>
              </a:lnSpc>
              <a:buNone/>
            </a:pPr>
            <a:r>
              <a:rPr lang="en-US" sz="880" dirty="0">
                <a:solidFill>
                  <a:srgbClr val="FFFFFF"/>
                </a:solidFill>
              </a:rPr>
              <a:t>External — Karian &amp; Box consultants acting on behalf of Corporate Comms</a:t>
            </a:r>
            <a:endParaRPr lang="en-US" sz="880" dirty="0"/>
          </a:p>
        </p:txBody>
      </p:sp>
      <p:sp>
        <p:nvSpPr>
          <p:cNvPr id="45" name="Shape 43"/>
          <p:cNvSpPr/>
          <p:nvPr/>
        </p:nvSpPr>
        <p:spPr>
          <a:xfrm>
            <a:off x="5468112" y="2624328"/>
            <a:ext cx="3474720" cy="749808"/>
          </a:xfrm>
          <a:prstGeom prst="rect">
            <a:avLst/>
          </a:prstGeom>
          <a:solidFill>
            <a:srgbClr val="1A4A6E"/>
          </a:solidFill>
          <a:ln/>
          <a:effectLst>
            <a:outerShdw sx="100000" sy="100000" kx="0" ky="0" algn="bl" rotWithShape="0" blurRad="101600" dist="38100" dir="8100000">
              <a:srgbClr val="000000">
                <a:alpha val="12000"/>
              </a:srgbClr>
            </a:outerShdw>
          </a:effectLst>
        </p:spPr>
      </p:sp>
      <p:sp>
        <p:nvSpPr>
          <p:cNvPr id="46" name="Shape 44"/>
          <p:cNvSpPr/>
          <p:nvPr/>
        </p:nvSpPr>
        <p:spPr>
          <a:xfrm>
            <a:off x="5468112" y="2624328"/>
            <a:ext cx="54864" cy="749808"/>
          </a:xfrm>
          <a:prstGeom prst="rect">
            <a:avLst/>
          </a:prstGeom>
          <a:solidFill>
            <a:srgbClr val="6C3483"/>
          </a:solidFill>
          <a:ln/>
        </p:spPr>
      </p:sp>
      <p:sp>
        <p:nvSpPr>
          <p:cNvPr id="47" name="Text 45"/>
          <p:cNvSpPr/>
          <p:nvPr/>
        </p:nvSpPr>
        <p:spPr>
          <a:xfrm>
            <a:off x="5577840" y="2660904"/>
            <a:ext cx="3310128" cy="201168"/>
          </a:xfrm>
          <a:prstGeom prst="rect">
            <a:avLst/>
          </a:prstGeom>
          <a:noFill/>
          <a:ln/>
        </p:spPr>
        <p:txBody>
          <a:bodyPr wrap="square" lIns="0" tIns="0" rIns="0" bIns="0" rtlCol="0" anchor="ctr"/>
          <a:lstStyle/>
          <a:p>
            <a:pPr indent="0" marL="0">
              <a:buNone/>
            </a:pPr>
            <a:r>
              <a:rPr lang="en-US" sz="750" b="1" spc="150" kern="0" dirty="0">
                <a:solidFill>
                  <a:srgbClr val="6C3483"/>
                </a:solidFill>
              </a:rPr>
              <a:t>WHO RECEIVES ACCESS</a:t>
            </a:r>
            <a:endParaRPr lang="en-US" sz="750" dirty="0"/>
          </a:p>
        </p:txBody>
      </p:sp>
      <p:sp>
        <p:nvSpPr>
          <p:cNvPr id="48" name="Text 46"/>
          <p:cNvSpPr/>
          <p:nvPr/>
        </p:nvSpPr>
        <p:spPr>
          <a:xfrm>
            <a:off x="5577840" y="2871216"/>
            <a:ext cx="3310128" cy="457200"/>
          </a:xfrm>
          <a:prstGeom prst="rect">
            <a:avLst/>
          </a:prstGeom>
          <a:noFill/>
          <a:ln/>
        </p:spPr>
        <p:txBody>
          <a:bodyPr wrap="square" lIns="0" tIns="0" rIns="0" bIns="0" rtlCol="0" anchor="ctr"/>
          <a:lstStyle/>
          <a:p>
            <a:pPr indent="0" marL="0">
              <a:lnSpc>
                <a:spcPct val="115000"/>
              </a:lnSpc>
              <a:buNone/>
            </a:pPr>
            <a:r>
              <a:rPr lang="en-US" sz="880" dirty="0">
                <a:solidFill>
                  <a:srgbClr val="FFFFFF"/>
                </a:solidFill>
              </a:rPr>
              <a:t>Karian &amp; Box external consultant team</a:t>
            </a:r>
            <a:endParaRPr lang="en-US" sz="880" dirty="0"/>
          </a:p>
        </p:txBody>
      </p:sp>
      <p:sp>
        <p:nvSpPr>
          <p:cNvPr id="49" name="Shape 47"/>
          <p:cNvSpPr/>
          <p:nvPr/>
        </p:nvSpPr>
        <p:spPr>
          <a:xfrm>
            <a:off x="5468112" y="3410712"/>
            <a:ext cx="3474720" cy="749808"/>
          </a:xfrm>
          <a:prstGeom prst="rect">
            <a:avLst/>
          </a:prstGeom>
          <a:solidFill>
            <a:srgbClr val="16395A"/>
          </a:solidFill>
          <a:ln/>
          <a:effectLst>
            <a:outerShdw sx="100000" sy="100000" kx="0" ky="0" algn="bl" rotWithShape="0" blurRad="101600" dist="38100" dir="8100000">
              <a:srgbClr val="000000">
                <a:alpha val="12000"/>
              </a:srgbClr>
            </a:outerShdw>
          </a:effectLst>
        </p:spPr>
      </p:sp>
      <p:sp>
        <p:nvSpPr>
          <p:cNvPr id="50" name="Shape 48"/>
          <p:cNvSpPr/>
          <p:nvPr/>
        </p:nvSpPr>
        <p:spPr>
          <a:xfrm>
            <a:off x="5468112" y="3410712"/>
            <a:ext cx="54864" cy="749808"/>
          </a:xfrm>
          <a:prstGeom prst="rect">
            <a:avLst/>
          </a:prstGeom>
          <a:solidFill>
            <a:srgbClr val="6C3483"/>
          </a:solidFill>
          <a:ln/>
        </p:spPr>
      </p:sp>
      <p:sp>
        <p:nvSpPr>
          <p:cNvPr id="51" name="Text 49"/>
          <p:cNvSpPr/>
          <p:nvPr/>
        </p:nvSpPr>
        <p:spPr>
          <a:xfrm>
            <a:off x="5577840" y="3447288"/>
            <a:ext cx="3310128" cy="201168"/>
          </a:xfrm>
          <a:prstGeom prst="rect">
            <a:avLst/>
          </a:prstGeom>
          <a:noFill/>
          <a:ln/>
        </p:spPr>
        <p:txBody>
          <a:bodyPr wrap="square" lIns="0" tIns="0" rIns="0" bIns="0" rtlCol="0" anchor="ctr"/>
          <a:lstStyle/>
          <a:p>
            <a:pPr indent="0" marL="0">
              <a:buNone/>
            </a:pPr>
            <a:r>
              <a:rPr lang="en-US" sz="750" b="1" spc="150" kern="0" dirty="0">
                <a:solidFill>
                  <a:srgbClr val="6C3483"/>
                </a:solidFill>
              </a:rPr>
              <a:t>WHY THEY NEED IT</a:t>
            </a:r>
            <a:endParaRPr lang="en-US" sz="750" dirty="0"/>
          </a:p>
        </p:txBody>
      </p:sp>
      <p:sp>
        <p:nvSpPr>
          <p:cNvPr id="52" name="Text 50"/>
          <p:cNvSpPr/>
          <p:nvPr/>
        </p:nvSpPr>
        <p:spPr>
          <a:xfrm>
            <a:off x="5577840" y="3657600"/>
            <a:ext cx="3310128" cy="457200"/>
          </a:xfrm>
          <a:prstGeom prst="rect">
            <a:avLst/>
          </a:prstGeom>
          <a:noFill/>
          <a:ln/>
        </p:spPr>
        <p:txBody>
          <a:bodyPr wrap="square" lIns="0" tIns="0" rIns="0" bIns="0" rtlCol="0" anchor="ctr"/>
          <a:lstStyle/>
          <a:p>
            <a:pPr indent="0" marL="0">
              <a:lnSpc>
                <a:spcPct val="115000"/>
              </a:lnSpc>
              <a:buNone/>
            </a:pPr>
            <a:r>
              <a:rPr lang="en-US" sz="880" dirty="0">
                <a:solidFill>
                  <a:srgbClr val="FFFFFF"/>
                </a:solidFill>
              </a:rPr>
              <a:t>Corporate Comms outsources survey creation, distribution &amp; analysis to Karian &amp; Box; oversight maintained via two internal approval gates</a:t>
            </a:r>
            <a:endParaRPr lang="en-US" sz="880" dirty="0"/>
          </a:p>
        </p:txBody>
      </p:sp>
      <p:sp>
        <p:nvSpPr>
          <p:cNvPr id="53" name="Shape 51"/>
          <p:cNvSpPr/>
          <p:nvPr/>
        </p:nvSpPr>
        <p:spPr>
          <a:xfrm>
            <a:off x="5468112" y="4197096"/>
            <a:ext cx="3474720" cy="749808"/>
          </a:xfrm>
          <a:prstGeom prst="rect">
            <a:avLst/>
          </a:prstGeom>
          <a:solidFill>
            <a:srgbClr val="0F2640"/>
          </a:solidFill>
          <a:ln/>
          <a:effectLst>
            <a:outerShdw sx="100000" sy="100000" kx="0" ky="0" algn="bl" rotWithShape="0" blurRad="101600" dist="38100" dir="8100000">
              <a:srgbClr val="000000">
                <a:alpha val="12000"/>
              </a:srgbClr>
            </a:outerShdw>
          </a:effectLst>
        </p:spPr>
      </p:sp>
      <p:sp>
        <p:nvSpPr>
          <p:cNvPr id="54" name="Shape 52"/>
          <p:cNvSpPr/>
          <p:nvPr/>
        </p:nvSpPr>
        <p:spPr>
          <a:xfrm>
            <a:off x="5468112" y="4197096"/>
            <a:ext cx="54864" cy="749808"/>
          </a:xfrm>
          <a:prstGeom prst="rect">
            <a:avLst/>
          </a:prstGeom>
          <a:solidFill>
            <a:srgbClr val="6C3483"/>
          </a:solidFill>
          <a:ln/>
        </p:spPr>
      </p:sp>
      <p:sp>
        <p:nvSpPr>
          <p:cNvPr id="55" name="Text 53"/>
          <p:cNvSpPr/>
          <p:nvPr/>
        </p:nvSpPr>
        <p:spPr>
          <a:xfrm>
            <a:off x="5577840" y="4233672"/>
            <a:ext cx="3310128" cy="201168"/>
          </a:xfrm>
          <a:prstGeom prst="rect">
            <a:avLst/>
          </a:prstGeom>
          <a:noFill/>
          <a:ln/>
        </p:spPr>
        <p:txBody>
          <a:bodyPr wrap="square" lIns="0" tIns="0" rIns="0" bIns="0" rtlCol="0" anchor="ctr"/>
          <a:lstStyle/>
          <a:p>
            <a:pPr indent="0" marL="0">
              <a:buNone/>
            </a:pPr>
            <a:r>
              <a:rPr lang="en-US" sz="750" b="1" spc="150" kern="0" dirty="0">
                <a:solidFill>
                  <a:srgbClr val="6C3483"/>
                </a:solidFill>
              </a:rPr>
              <a:t>HOW PROVISIONED</a:t>
            </a:r>
            <a:endParaRPr lang="en-US" sz="750" dirty="0"/>
          </a:p>
        </p:txBody>
      </p:sp>
      <p:sp>
        <p:nvSpPr>
          <p:cNvPr id="56" name="Text 54"/>
          <p:cNvSpPr/>
          <p:nvPr/>
        </p:nvSpPr>
        <p:spPr>
          <a:xfrm>
            <a:off x="5577840" y="4443984"/>
            <a:ext cx="3310128" cy="457200"/>
          </a:xfrm>
          <a:prstGeom prst="rect">
            <a:avLst/>
          </a:prstGeom>
          <a:noFill/>
          <a:ln/>
        </p:spPr>
        <p:txBody>
          <a:bodyPr wrap="square" lIns="0" tIns="0" rIns="0" bIns="0" rtlCol="0" anchor="ctr"/>
          <a:lstStyle/>
          <a:p>
            <a:pPr indent="0" marL="0">
              <a:lnSpc>
                <a:spcPct val="115000"/>
              </a:lnSpc>
              <a:buNone/>
            </a:pPr>
            <a:r>
              <a:rPr lang="en-US" sz="880" dirty="0">
                <a:solidFill>
                  <a:srgbClr val="FFFFFF"/>
                </a:solidFill>
              </a:rPr>
              <a:t>⚠️ Solution not yet defined — external access + approval workflow not achievable in current Glint. Pending CDO guidance.</a:t>
            </a:r>
            <a:endParaRPr lang="en-US" sz="88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6FB"/>
        </a:solidFill>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1E2761"/>
          </a:solidFill>
          <a:ln/>
        </p:spPr>
      </p:sp>
      <p:sp>
        <p:nvSpPr>
          <p:cNvPr id="3" name="Shape 1"/>
          <p:cNvSpPr/>
          <p:nvPr/>
        </p:nvSpPr>
        <p:spPr>
          <a:xfrm>
            <a:off x="0" y="0"/>
            <a:ext cx="201168" cy="960120"/>
          </a:xfrm>
          <a:prstGeom prst="rect">
            <a:avLst/>
          </a:prstGeom>
          <a:solidFill>
            <a:srgbClr val="6C3483"/>
          </a:solidFill>
          <a:ln/>
        </p:spPr>
      </p:sp>
      <p:sp>
        <p:nvSpPr>
          <p:cNvPr id="4" name="Text 2"/>
          <p:cNvSpPr/>
          <p:nvPr/>
        </p:nvSpPr>
        <p:spPr>
          <a:xfrm>
            <a:off x="411480" y="137160"/>
            <a:ext cx="8046720" cy="411480"/>
          </a:xfrm>
          <a:prstGeom prst="rect">
            <a:avLst/>
          </a:prstGeom>
          <a:noFill/>
          <a:ln/>
        </p:spPr>
        <p:txBody>
          <a:bodyPr wrap="square" lIns="0" tIns="0" rIns="0" bIns="0" rtlCol="0" anchor="ctr"/>
          <a:lstStyle/>
          <a:p>
            <a:pPr indent="0" marL="0">
              <a:buNone/>
            </a:pPr>
            <a:r>
              <a:rPr lang="en-US" sz="1700" b="1" dirty="0">
                <a:solidFill>
                  <a:srgbClr val="FFFFFF"/>
                </a:solidFill>
              </a:rPr>
              <a:t>Roles 6 &amp; 7: Interconnected WIP — Approval Workflow Gap</a:t>
            </a:r>
            <a:endParaRPr lang="en-US" sz="1700" dirty="0"/>
          </a:p>
        </p:txBody>
      </p:sp>
      <p:sp>
        <p:nvSpPr>
          <p:cNvPr id="5" name="Text 3"/>
          <p:cNvSpPr/>
          <p:nvPr/>
        </p:nvSpPr>
        <p:spPr>
          <a:xfrm>
            <a:off x="411480" y="594360"/>
            <a:ext cx="8229600" cy="274320"/>
          </a:xfrm>
          <a:prstGeom prst="rect">
            <a:avLst/>
          </a:prstGeom>
          <a:noFill/>
          <a:ln/>
        </p:spPr>
        <p:txBody>
          <a:bodyPr wrap="square" lIns="0" tIns="0" rIns="0" bIns="0" rtlCol="0" anchor="ctr"/>
          <a:lstStyle/>
          <a:p>
            <a:pPr indent="0" marL="0">
              <a:buNone/>
            </a:pPr>
            <a:r>
              <a:rPr lang="en-US" sz="950" dirty="0">
                <a:solidFill>
                  <a:srgbClr val="CADCFC"/>
                </a:solidFill>
              </a:rPr>
              <a:t>Corporate Comms (Approver)  ↔  Karian &amp; Box (External Creator) — No native solution in Glint</a:t>
            </a:r>
            <a:endParaRPr lang="en-US" sz="950" dirty="0"/>
          </a:p>
        </p:txBody>
      </p:sp>
      <p:sp>
        <p:nvSpPr>
          <p:cNvPr id="6" name="Shape 4"/>
          <p:cNvSpPr/>
          <p:nvPr/>
        </p:nvSpPr>
        <p:spPr>
          <a:xfrm>
            <a:off x="228600" y="1097280"/>
            <a:ext cx="3566160" cy="3794760"/>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7" name="Shape 5"/>
          <p:cNvSpPr/>
          <p:nvPr/>
        </p:nvSpPr>
        <p:spPr>
          <a:xfrm>
            <a:off x="228600" y="1097280"/>
            <a:ext cx="3566160" cy="384048"/>
          </a:xfrm>
          <a:prstGeom prst="rect">
            <a:avLst/>
          </a:prstGeom>
          <a:solidFill>
            <a:srgbClr val="C0392B"/>
          </a:solidFill>
          <a:ln/>
        </p:spPr>
      </p:sp>
      <p:sp>
        <p:nvSpPr>
          <p:cNvPr id="8" name="Text 6"/>
          <p:cNvSpPr/>
          <p:nvPr/>
        </p:nvSpPr>
        <p:spPr>
          <a:xfrm>
            <a:off x="320040" y="1097280"/>
            <a:ext cx="3383280" cy="384048"/>
          </a:xfrm>
          <a:prstGeom prst="rect">
            <a:avLst/>
          </a:prstGeom>
          <a:noFill/>
          <a:ln/>
        </p:spPr>
        <p:txBody>
          <a:bodyPr wrap="square" lIns="0" tIns="0" rIns="0" bIns="0" rtlCol="0" anchor="ctr"/>
          <a:lstStyle/>
          <a:p>
            <a:pPr indent="0" marL="0">
              <a:buNone/>
            </a:pPr>
            <a:r>
              <a:rPr lang="en-US" sz="1000" b="1" dirty="0">
                <a:solidFill>
                  <a:srgbClr val="FFFFFF"/>
                </a:solidFill>
              </a:rPr>
              <a:t>ROLE 6 — Survey Approver</a:t>
            </a:r>
            <a:endParaRPr lang="en-US" sz="1000" dirty="0"/>
          </a:p>
        </p:txBody>
      </p:sp>
      <p:sp>
        <p:nvSpPr>
          <p:cNvPr id="9" name="Text 7"/>
          <p:cNvSpPr/>
          <p:nvPr/>
        </p:nvSpPr>
        <p:spPr>
          <a:xfrm>
            <a:off x="320040" y="1572768"/>
            <a:ext cx="3383280" cy="256032"/>
          </a:xfrm>
          <a:prstGeom prst="rect">
            <a:avLst/>
          </a:prstGeom>
          <a:noFill/>
          <a:ln/>
        </p:spPr>
        <p:txBody>
          <a:bodyPr wrap="square" lIns="0" tIns="0" rIns="0" bIns="0" rtlCol="0" anchor="ctr"/>
          <a:lstStyle/>
          <a:p>
            <a:pPr indent="0" marL="0">
              <a:buNone/>
            </a:pPr>
            <a:r>
              <a:rPr lang="en-US" sz="850" i="1" dirty="0">
                <a:solidFill>
                  <a:srgbClr val="64748B"/>
                </a:solidFill>
              </a:rPr>
              <a:t>Corporate Comms Team (Internal Barclays)</a:t>
            </a:r>
            <a:endParaRPr lang="en-US" sz="850" dirty="0"/>
          </a:p>
        </p:txBody>
      </p:sp>
      <p:sp>
        <p:nvSpPr>
          <p:cNvPr id="10" name="Shape 8"/>
          <p:cNvSpPr/>
          <p:nvPr/>
        </p:nvSpPr>
        <p:spPr>
          <a:xfrm>
            <a:off x="320040" y="2029968"/>
            <a:ext cx="109728" cy="109728"/>
          </a:xfrm>
          <a:prstGeom prst="ellipse">
            <a:avLst/>
          </a:prstGeom>
          <a:solidFill>
            <a:srgbClr val="C0392B"/>
          </a:solidFill>
          <a:ln/>
        </p:spPr>
      </p:sp>
      <p:sp>
        <p:nvSpPr>
          <p:cNvPr id="11" name="Text 9"/>
          <p:cNvSpPr/>
          <p:nvPr/>
        </p:nvSpPr>
        <p:spPr>
          <a:xfrm>
            <a:off x="502920" y="1956816"/>
            <a:ext cx="3154680" cy="566928"/>
          </a:xfrm>
          <a:prstGeom prst="rect">
            <a:avLst/>
          </a:prstGeom>
          <a:noFill/>
          <a:ln/>
        </p:spPr>
        <p:txBody>
          <a:bodyPr wrap="square" lIns="0" tIns="0" rIns="0" bIns="0" rtlCol="0" anchor="ctr"/>
          <a:lstStyle/>
          <a:p>
            <a:pPr indent="0" marL="0">
              <a:lnSpc>
                <a:spcPct val="120000"/>
              </a:lnSpc>
              <a:buNone/>
            </a:pPr>
            <a:r>
              <a:rPr lang="en-US" sz="850" dirty="0">
                <a:solidFill>
                  <a:srgbClr val="1A2340"/>
                </a:solidFill>
              </a:rPr>
              <a:t>Reviews surveys authored by Karian &amp; Box before launch</a:t>
            </a:r>
            <a:endParaRPr lang="en-US" sz="850" dirty="0"/>
          </a:p>
        </p:txBody>
      </p:sp>
      <p:sp>
        <p:nvSpPr>
          <p:cNvPr id="12" name="Shape 10"/>
          <p:cNvSpPr/>
          <p:nvPr/>
        </p:nvSpPr>
        <p:spPr>
          <a:xfrm>
            <a:off x="320040" y="2670048"/>
            <a:ext cx="109728" cy="109728"/>
          </a:xfrm>
          <a:prstGeom prst="ellipse">
            <a:avLst/>
          </a:prstGeom>
          <a:solidFill>
            <a:srgbClr val="C0392B"/>
          </a:solidFill>
          <a:ln/>
        </p:spPr>
      </p:sp>
      <p:sp>
        <p:nvSpPr>
          <p:cNvPr id="13" name="Text 11"/>
          <p:cNvSpPr/>
          <p:nvPr/>
        </p:nvSpPr>
        <p:spPr>
          <a:xfrm>
            <a:off x="502920" y="2596896"/>
            <a:ext cx="3154680" cy="566928"/>
          </a:xfrm>
          <a:prstGeom prst="rect">
            <a:avLst/>
          </a:prstGeom>
          <a:noFill/>
          <a:ln/>
        </p:spPr>
        <p:txBody>
          <a:bodyPr wrap="square" lIns="0" tIns="0" rIns="0" bIns="0" rtlCol="0" anchor="ctr"/>
          <a:lstStyle/>
          <a:p>
            <a:pPr indent="0" marL="0">
              <a:lnSpc>
                <a:spcPct val="120000"/>
              </a:lnSpc>
              <a:buNone/>
            </a:pPr>
            <a:r>
              <a:rPr lang="en-US" sz="850" dirty="0">
                <a:solidFill>
                  <a:srgbClr val="1A2340"/>
                </a:solidFill>
              </a:rPr>
              <a:t>Approves or rejects distribution via mailing list</a:t>
            </a:r>
            <a:endParaRPr lang="en-US" sz="850" dirty="0"/>
          </a:p>
        </p:txBody>
      </p:sp>
      <p:sp>
        <p:nvSpPr>
          <p:cNvPr id="14" name="Shape 12"/>
          <p:cNvSpPr/>
          <p:nvPr/>
        </p:nvSpPr>
        <p:spPr>
          <a:xfrm>
            <a:off x="320040" y="3310128"/>
            <a:ext cx="109728" cy="109728"/>
          </a:xfrm>
          <a:prstGeom prst="ellipse">
            <a:avLst/>
          </a:prstGeom>
          <a:solidFill>
            <a:srgbClr val="C0392B"/>
          </a:solidFill>
          <a:ln/>
        </p:spPr>
      </p:sp>
      <p:sp>
        <p:nvSpPr>
          <p:cNvPr id="15" name="Text 13"/>
          <p:cNvSpPr/>
          <p:nvPr/>
        </p:nvSpPr>
        <p:spPr>
          <a:xfrm>
            <a:off x="502920" y="3236976"/>
            <a:ext cx="3154680" cy="566928"/>
          </a:xfrm>
          <a:prstGeom prst="rect">
            <a:avLst/>
          </a:prstGeom>
          <a:noFill/>
          <a:ln/>
        </p:spPr>
        <p:txBody>
          <a:bodyPr wrap="square" lIns="0" tIns="0" rIns="0" bIns="0" rtlCol="0" anchor="ctr"/>
          <a:lstStyle/>
          <a:p>
            <a:pPr indent="0" marL="0">
              <a:lnSpc>
                <a:spcPct val="120000"/>
              </a:lnSpc>
              <a:buNone/>
            </a:pPr>
            <a:r>
              <a:rPr lang="en-US" sz="850" dirty="0">
                <a:solidFill>
                  <a:srgbClr val="1A2340"/>
                </a:solidFill>
              </a:rPr>
              <a:t>Acts as governance gate for all externally-authored surveys</a:t>
            </a:r>
            <a:endParaRPr lang="en-US" sz="850" dirty="0"/>
          </a:p>
        </p:txBody>
      </p:sp>
      <p:sp>
        <p:nvSpPr>
          <p:cNvPr id="16" name="Shape 14"/>
          <p:cNvSpPr/>
          <p:nvPr/>
        </p:nvSpPr>
        <p:spPr>
          <a:xfrm>
            <a:off x="320040" y="3950208"/>
            <a:ext cx="109728" cy="109728"/>
          </a:xfrm>
          <a:prstGeom prst="ellipse">
            <a:avLst/>
          </a:prstGeom>
          <a:solidFill>
            <a:srgbClr val="C0392B"/>
          </a:solidFill>
          <a:ln/>
        </p:spPr>
      </p:sp>
      <p:sp>
        <p:nvSpPr>
          <p:cNvPr id="17" name="Text 15"/>
          <p:cNvSpPr/>
          <p:nvPr/>
        </p:nvSpPr>
        <p:spPr>
          <a:xfrm>
            <a:off x="502920" y="3877056"/>
            <a:ext cx="3154680" cy="566928"/>
          </a:xfrm>
          <a:prstGeom prst="rect">
            <a:avLst/>
          </a:prstGeom>
          <a:noFill/>
          <a:ln/>
        </p:spPr>
        <p:txBody>
          <a:bodyPr wrap="square" lIns="0" tIns="0" rIns="0" bIns="0" rtlCol="0" anchor="ctr"/>
          <a:lstStyle/>
          <a:p>
            <a:pPr indent="0" marL="0">
              <a:lnSpc>
                <a:spcPct val="120000"/>
              </a:lnSpc>
              <a:buNone/>
            </a:pPr>
            <a:r>
              <a:rPr lang="en-US" sz="850" dirty="0">
                <a:solidFill>
                  <a:srgbClr val="1A2340"/>
                </a:solidFill>
              </a:rPr>
              <a:t>No equivalent approver role exists in Glint natively</a:t>
            </a:r>
            <a:endParaRPr lang="en-US" sz="850" dirty="0"/>
          </a:p>
        </p:txBody>
      </p:sp>
      <p:sp>
        <p:nvSpPr>
          <p:cNvPr id="18" name="Shape 16"/>
          <p:cNvSpPr/>
          <p:nvPr/>
        </p:nvSpPr>
        <p:spPr>
          <a:xfrm>
            <a:off x="3913632" y="1737360"/>
            <a:ext cx="1316736" cy="2560320"/>
          </a:xfrm>
          <a:prstGeom prst="rect">
            <a:avLst/>
          </a:prstGeom>
          <a:solidFill>
            <a:srgbClr val="FEF3CD"/>
          </a:solidFill>
          <a:ln/>
          <a:effectLst>
            <a:outerShdw sx="100000" sy="100000" kx="0" ky="0" algn="bl" rotWithShape="0" blurRad="101600" dist="38100" dir="8100000">
              <a:srgbClr val="000000">
                <a:alpha val="12000"/>
              </a:srgbClr>
            </a:outerShdw>
          </a:effectLst>
        </p:spPr>
      </p:sp>
      <p:sp>
        <p:nvSpPr>
          <p:cNvPr id="19" name="Text 17"/>
          <p:cNvSpPr/>
          <p:nvPr/>
        </p:nvSpPr>
        <p:spPr>
          <a:xfrm>
            <a:off x="3913632" y="1874520"/>
            <a:ext cx="1316736" cy="411480"/>
          </a:xfrm>
          <a:prstGeom prst="rect">
            <a:avLst/>
          </a:prstGeom>
          <a:noFill/>
          <a:ln/>
        </p:spPr>
        <p:txBody>
          <a:bodyPr wrap="square" lIns="0" tIns="0" rIns="0" bIns="0" rtlCol="0" anchor="ctr"/>
          <a:lstStyle/>
          <a:p>
            <a:pPr algn="ctr" indent="0" marL="0">
              <a:buNone/>
            </a:pPr>
            <a:r>
              <a:rPr lang="en-US" sz="750" b="1" dirty="0">
                <a:solidFill>
                  <a:srgbClr val="7D5A00"/>
                </a:solidFill>
              </a:rPr>
              <a:t>APPROVAL</a:t>
            </a:r>
            <a:endParaRPr lang="en-US" sz="750" dirty="0"/>
          </a:p>
          <a:p>
            <a:pPr algn="ctr" indent="0" marL="0">
              <a:buNone/>
            </a:pPr>
            <a:r>
              <a:rPr lang="en-US" sz="750" b="1" dirty="0">
                <a:solidFill>
                  <a:srgbClr val="7D5A00"/>
                </a:solidFill>
              </a:rPr>
              <a:t>GATES</a:t>
            </a:r>
            <a:endParaRPr lang="en-US" sz="750" dirty="0"/>
          </a:p>
        </p:txBody>
      </p:sp>
      <p:sp>
        <p:nvSpPr>
          <p:cNvPr id="20" name="Shape 18"/>
          <p:cNvSpPr/>
          <p:nvPr/>
        </p:nvSpPr>
        <p:spPr>
          <a:xfrm>
            <a:off x="4005072" y="2377440"/>
            <a:ext cx="1133856" cy="502920"/>
          </a:xfrm>
          <a:prstGeom prst="rect">
            <a:avLst/>
          </a:prstGeom>
          <a:solidFill>
            <a:srgbClr val="E67E22"/>
          </a:solidFill>
          <a:ln/>
        </p:spPr>
      </p:sp>
      <p:sp>
        <p:nvSpPr>
          <p:cNvPr id="21" name="Text 19"/>
          <p:cNvSpPr/>
          <p:nvPr/>
        </p:nvSpPr>
        <p:spPr>
          <a:xfrm>
            <a:off x="4005072" y="2377440"/>
            <a:ext cx="1133856" cy="502920"/>
          </a:xfrm>
          <a:prstGeom prst="rect">
            <a:avLst/>
          </a:prstGeom>
          <a:noFill/>
          <a:ln/>
        </p:spPr>
        <p:txBody>
          <a:bodyPr wrap="square" lIns="0" tIns="0" rIns="0" bIns="0" rtlCol="0" anchor="ctr"/>
          <a:lstStyle/>
          <a:p>
            <a:pPr algn="ctr" indent="0" marL="0">
              <a:buNone/>
            </a:pPr>
            <a:r>
              <a:rPr lang="en-US" sz="750" b="1" dirty="0">
                <a:solidFill>
                  <a:srgbClr val="FFFFFF"/>
                </a:solidFill>
              </a:rPr>
              <a:t>Gate 1</a:t>
            </a:r>
            <a:endParaRPr lang="en-US" sz="750" dirty="0"/>
          </a:p>
          <a:p>
            <a:pPr algn="ctr" indent="0" marL="0">
              <a:buNone/>
            </a:pPr>
            <a:r>
              <a:rPr lang="en-US" sz="750" b="1" dirty="0">
                <a:solidFill>
                  <a:srgbClr val="FFFFFF"/>
                </a:solidFill>
              </a:rPr>
              <a:t>Survey Launch</a:t>
            </a:r>
            <a:endParaRPr lang="en-US" sz="750" dirty="0"/>
          </a:p>
        </p:txBody>
      </p:sp>
      <p:sp>
        <p:nvSpPr>
          <p:cNvPr id="22" name="Shape 20"/>
          <p:cNvSpPr/>
          <p:nvPr/>
        </p:nvSpPr>
        <p:spPr>
          <a:xfrm>
            <a:off x="4005072" y="3017520"/>
            <a:ext cx="1133856" cy="502920"/>
          </a:xfrm>
          <a:prstGeom prst="rect">
            <a:avLst/>
          </a:prstGeom>
          <a:solidFill>
            <a:srgbClr val="E67E22"/>
          </a:solidFill>
          <a:ln/>
        </p:spPr>
      </p:sp>
      <p:sp>
        <p:nvSpPr>
          <p:cNvPr id="23" name="Text 21"/>
          <p:cNvSpPr/>
          <p:nvPr/>
        </p:nvSpPr>
        <p:spPr>
          <a:xfrm>
            <a:off x="4005072" y="3017520"/>
            <a:ext cx="1133856" cy="502920"/>
          </a:xfrm>
          <a:prstGeom prst="rect">
            <a:avLst/>
          </a:prstGeom>
          <a:noFill/>
          <a:ln/>
        </p:spPr>
        <p:txBody>
          <a:bodyPr wrap="square" lIns="0" tIns="0" rIns="0" bIns="0" rtlCol="0" anchor="ctr"/>
          <a:lstStyle/>
          <a:p>
            <a:pPr algn="ctr" indent="0" marL="0">
              <a:buNone/>
            </a:pPr>
            <a:r>
              <a:rPr lang="en-US" sz="750" b="1" dirty="0">
                <a:solidFill>
                  <a:srgbClr val="FFFFFF"/>
                </a:solidFill>
              </a:rPr>
              <a:t>Gate 2</a:t>
            </a:r>
            <a:endParaRPr lang="en-US" sz="750" dirty="0"/>
          </a:p>
          <a:p>
            <a:pPr algn="ctr" indent="0" marL="0">
              <a:buNone/>
            </a:pPr>
            <a:r>
              <a:rPr lang="en-US" sz="750" b="1" dirty="0">
                <a:solidFill>
                  <a:srgbClr val="FFFFFF"/>
                </a:solidFill>
              </a:rPr>
              <a:t>Distribution</a:t>
            </a:r>
            <a:endParaRPr lang="en-US" sz="750" dirty="0"/>
          </a:p>
        </p:txBody>
      </p:sp>
      <p:sp>
        <p:nvSpPr>
          <p:cNvPr id="24" name="Text 22"/>
          <p:cNvSpPr/>
          <p:nvPr/>
        </p:nvSpPr>
        <p:spPr>
          <a:xfrm>
            <a:off x="4005072" y="3566160"/>
            <a:ext cx="1133856" cy="365760"/>
          </a:xfrm>
          <a:prstGeom prst="rect">
            <a:avLst/>
          </a:prstGeom>
          <a:noFill/>
          <a:ln/>
        </p:spPr>
        <p:txBody>
          <a:bodyPr wrap="square" lIns="0" tIns="0" rIns="0" bIns="0" rtlCol="0" anchor="ctr"/>
          <a:lstStyle/>
          <a:p>
            <a:pPr algn="ctr" indent="0" marL="0">
              <a:buNone/>
            </a:pPr>
            <a:r>
              <a:rPr lang="en-US" sz="1800" dirty="0">
                <a:solidFill>
                  <a:srgbClr val="7D5A00"/>
                </a:solidFill>
              </a:rPr>
              <a:t>↕</a:t>
            </a:r>
            <a:endParaRPr lang="en-US" sz="1800" dirty="0"/>
          </a:p>
        </p:txBody>
      </p:sp>
      <p:sp>
        <p:nvSpPr>
          <p:cNvPr id="25" name="Shape 23"/>
          <p:cNvSpPr/>
          <p:nvPr/>
        </p:nvSpPr>
        <p:spPr>
          <a:xfrm>
            <a:off x="5349240" y="1097280"/>
            <a:ext cx="3566160" cy="3794760"/>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26" name="Shape 24"/>
          <p:cNvSpPr/>
          <p:nvPr/>
        </p:nvSpPr>
        <p:spPr>
          <a:xfrm>
            <a:off x="5349240" y="1097280"/>
            <a:ext cx="3566160" cy="384048"/>
          </a:xfrm>
          <a:prstGeom prst="rect">
            <a:avLst/>
          </a:prstGeom>
          <a:solidFill>
            <a:srgbClr val="6C3483"/>
          </a:solidFill>
          <a:ln/>
        </p:spPr>
      </p:sp>
      <p:sp>
        <p:nvSpPr>
          <p:cNvPr id="27" name="Text 25"/>
          <p:cNvSpPr/>
          <p:nvPr/>
        </p:nvSpPr>
        <p:spPr>
          <a:xfrm>
            <a:off x="5440680" y="1097280"/>
            <a:ext cx="3383280" cy="384048"/>
          </a:xfrm>
          <a:prstGeom prst="rect">
            <a:avLst/>
          </a:prstGeom>
          <a:noFill/>
          <a:ln/>
        </p:spPr>
        <p:txBody>
          <a:bodyPr wrap="square" lIns="0" tIns="0" rIns="0" bIns="0" rtlCol="0" anchor="ctr"/>
          <a:lstStyle/>
          <a:p>
            <a:pPr indent="0" marL="0">
              <a:buNone/>
            </a:pPr>
            <a:r>
              <a:rPr lang="en-US" sz="1000" b="1" dirty="0">
                <a:solidFill>
                  <a:srgbClr val="FFFFFF"/>
                </a:solidFill>
              </a:rPr>
              <a:t>ROLE 7 — Restricted External Role</a:t>
            </a:r>
            <a:endParaRPr lang="en-US" sz="1000" dirty="0"/>
          </a:p>
        </p:txBody>
      </p:sp>
      <p:sp>
        <p:nvSpPr>
          <p:cNvPr id="28" name="Text 26"/>
          <p:cNvSpPr/>
          <p:nvPr/>
        </p:nvSpPr>
        <p:spPr>
          <a:xfrm>
            <a:off x="5440680" y="1572768"/>
            <a:ext cx="3383280" cy="256032"/>
          </a:xfrm>
          <a:prstGeom prst="rect">
            <a:avLst/>
          </a:prstGeom>
          <a:noFill/>
          <a:ln/>
        </p:spPr>
        <p:txBody>
          <a:bodyPr wrap="square" lIns="0" tIns="0" rIns="0" bIns="0" rtlCol="0" anchor="ctr"/>
          <a:lstStyle/>
          <a:p>
            <a:pPr indent="0" marL="0">
              <a:buNone/>
            </a:pPr>
            <a:r>
              <a:rPr lang="en-US" sz="850" i="1" dirty="0">
                <a:solidFill>
                  <a:srgbClr val="64748B"/>
                </a:solidFill>
              </a:rPr>
              <a:t>Karian &amp; Box (External Consultants)</a:t>
            </a:r>
            <a:endParaRPr lang="en-US" sz="850" dirty="0"/>
          </a:p>
        </p:txBody>
      </p:sp>
      <p:sp>
        <p:nvSpPr>
          <p:cNvPr id="29" name="Shape 27"/>
          <p:cNvSpPr/>
          <p:nvPr/>
        </p:nvSpPr>
        <p:spPr>
          <a:xfrm>
            <a:off x="5440680" y="2029968"/>
            <a:ext cx="109728" cy="109728"/>
          </a:xfrm>
          <a:prstGeom prst="ellipse">
            <a:avLst/>
          </a:prstGeom>
          <a:solidFill>
            <a:srgbClr val="6C3483"/>
          </a:solidFill>
          <a:ln/>
        </p:spPr>
      </p:sp>
      <p:sp>
        <p:nvSpPr>
          <p:cNvPr id="30" name="Text 28"/>
          <p:cNvSpPr/>
          <p:nvPr/>
        </p:nvSpPr>
        <p:spPr>
          <a:xfrm>
            <a:off x="5623560" y="1956816"/>
            <a:ext cx="3154680" cy="566928"/>
          </a:xfrm>
          <a:prstGeom prst="rect">
            <a:avLst/>
          </a:prstGeom>
          <a:noFill/>
          <a:ln/>
        </p:spPr>
        <p:txBody>
          <a:bodyPr wrap="square" lIns="0" tIns="0" rIns="0" bIns="0" rtlCol="0" anchor="ctr"/>
          <a:lstStyle/>
          <a:p>
            <a:pPr indent="0" marL="0">
              <a:lnSpc>
                <a:spcPct val="120000"/>
              </a:lnSpc>
              <a:buNone/>
            </a:pPr>
            <a:r>
              <a:rPr lang="en-US" sz="850" dirty="0">
                <a:solidFill>
                  <a:srgbClr val="1A2340"/>
                </a:solidFill>
              </a:rPr>
              <a:t>Create surveys on behalf of Corporate Comms (cannot launch without approval)</a:t>
            </a:r>
            <a:endParaRPr lang="en-US" sz="850" dirty="0"/>
          </a:p>
        </p:txBody>
      </p:sp>
      <p:sp>
        <p:nvSpPr>
          <p:cNvPr id="31" name="Shape 29"/>
          <p:cNvSpPr/>
          <p:nvPr/>
        </p:nvSpPr>
        <p:spPr>
          <a:xfrm>
            <a:off x="5440680" y="2670048"/>
            <a:ext cx="109728" cy="109728"/>
          </a:xfrm>
          <a:prstGeom prst="ellipse">
            <a:avLst/>
          </a:prstGeom>
          <a:solidFill>
            <a:srgbClr val="6C3483"/>
          </a:solidFill>
          <a:ln/>
        </p:spPr>
      </p:sp>
      <p:sp>
        <p:nvSpPr>
          <p:cNvPr id="32" name="Text 30"/>
          <p:cNvSpPr/>
          <p:nvPr/>
        </p:nvSpPr>
        <p:spPr>
          <a:xfrm>
            <a:off x="5623560" y="2596896"/>
            <a:ext cx="3154680" cy="566928"/>
          </a:xfrm>
          <a:prstGeom prst="rect">
            <a:avLst/>
          </a:prstGeom>
          <a:noFill/>
          <a:ln/>
        </p:spPr>
        <p:txBody>
          <a:bodyPr wrap="square" lIns="0" tIns="0" rIns="0" bIns="0" rtlCol="0" anchor="ctr"/>
          <a:lstStyle/>
          <a:p>
            <a:pPr indent="0" marL="0">
              <a:lnSpc>
                <a:spcPct val="120000"/>
              </a:lnSpc>
              <a:buNone/>
            </a:pPr>
            <a:r>
              <a:rPr lang="en-US" sz="850" dirty="0">
                <a:solidFill>
                  <a:srgbClr val="1A2340"/>
                </a:solidFill>
              </a:rPr>
              <a:t>Distribute surveys via mailing list (cannot send without approval)</a:t>
            </a:r>
            <a:endParaRPr lang="en-US" sz="850" dirty="0"/>
          </a:p>
        </p:txBody>
      </p:sp>
      <p:sp>
        <p:nvSpPr>
          <p:cNvPr id="33" name="Shape 31"/>
          <p:cNvSpPr/>
          <p:nvPr/>
        </p:nvSpPr>
        <p:spPr>
          <a:xfrm>
            <a:off x="5440680" y="3310128"/>
            <a:ext cx="109728" cy="109728"/>
          </a:xfrm>
          <a:prstGeom prst="ellipse">
            <a:avLst/>
          </a:prstGeom>
          <a:solidFill>
            <a:srgbClr val="6C3483"/>
          </a:solidFill>
          <a:ln/>
        </p:spPr>
      </p:sp>
      <p:sp>
        <p:nvSpPr>
          <p:cNvPr id="34" name="Text 32"/>
          <p:cNvSpPr/>
          <p:nvPr/>
        </p:nvSpPr>
        <p:spPr>
          <a:xfrm>
            <a:off x="5623560" y="3236976"/>
            <a:ext cx="3154680" cy="566928"/>
          </a:xfrm>
          <a:prstGeom prst="rect">
            <a:avLst/>
          </a:prstGeom>
          <a:noFill/>
          <a:ln/>
        </p:spPr>
        <p:txBody>
          <a:bodyPr wrap="square" lIns="0" tIns="0" rIns="0" bIns="0" rtlCol="0" anchor="ctr"/>
          <a:lstStyle/>
          <a:p>
            <a:pPr indent="0" marL="0">
              <a:lnSpc>
                <a:spcPct val="120000"/>
              </a:lnSpc>
              <a:buNone/>
            </a:pPr>
            <a:r>
              <a:rPr lang="en-US" sz="850" dirty="0">
                <a:solidFill>
                  <a:srgbClr val="1A2340"/>
                </a:solidFill>
              </a:rPr>
              <a:t>Perform analysis and reporting on survey results</a:t>
            </a:r>
            <a:endParaRPr lang="en-US" sz="850" dirty="0"/>
          </a:p>
        </p:txBody>
      </p:sp>
      <p:sp>
        <p:nvSpPr>
          <p:cNvPr id="35" name="Shape 33"/>
          <p:cNvSpPr/>
          <p:nvPr/>
        </p:nvSpPr>
        <p:spPr>
          <a:xfrm>
            <a:off x="5440680" y="3950208"/>
            <a:ext cx="109728" cy="109728"/>
          </a:xfrm>
          <a:prstGeom prst="ellipse">
            <a:avLst/>
          </a:prstGeom>
          <a:solidFill>
            <a:srgbClr val="6C3483"/>
          </a:solidFill>
          <a:ln/>
        </p:spPr>
      </p:sp>
      <p:sp>
        <p:nvSpPr>
          <p:cNvPr id="36" name="Text 34"/>
          <p:cNvSpPr/>
          <p:nvPr/>
        </p:nvSpPr>
        <p:spPr>
          <a:xfrm>
            <a:off x="5623560" y="3877056"/>
            <a:ext cx="3154680" cy="566928"/>
          </a:xfrm>
          <a:prstGeom prst="rect">
            <a:avLst/>
          </a:prstGeom>
          <a:noFill/>
          <a:ln/>
        </p:spPr>
        <p:txBody>
          <a:bodyPr wrap="square" lIns="0" tIns="0" rIns="0" bIns="0" rtlCol="0" anchor="ctr"/>
          <a:lstStyle/>
          <a:p>
            <a:pPr indent="0" marL="0">
              <a:lnSpc>
                <a:spcPct val="120000"/>
              </a:lnSpc>
              <a:buNone/>
            </a:pPr>
            <a:r>
              <a:rPr lang="en-US" sz="850" dirty="0">
                <a:solidFill>
                  <a:srgbClr val="1A2340"/>
                </a:solidFill>
              </a:rPr>
              <a:t>Previously had equivalent access in Qualtrics — not replicable in Glint</a:t>
            </a:r>
            <a:endParaRPr lang="en-US" sz="850" dirty="0"/>
          </a:p>
        </p:txBody>
      </p:sp>
      <p:sp>
        <p:nvSpPr>
          <p:cNvPr id="37" name="Shape 35"/>
          <p:cNvSpPr/>
          <p:nvPr/>
        </p:nvSpPr>
        <p:spPr>
          <a:xfrm>
            <a:off x="228600" y="4681728"/>
            <a:ext cx="8686800" cy="347472"/>
          </a:xfrm>
          <a:prstGeom prst="rect">
            <a:avLst/>
          </a:prstGeom>
          <a:solidFill>
            <a:srgbClr val="FDEDEC"/>
          </a:solidFill>
          <a:ln/>
        </p:spPr>
      </p:sp>
      <p:sp>
        <p:nvSpPr>
          <p:cNvPr id="38" name="Shape 36"/>
          <p:cNvSpPr/>
          <p:nvPr/>
        </p:nvSpPr>
        <p:spPr>
          <a:xfrm>
            <a:off x="228600" y="4681728"/>
            <a:ext cx="54864" cy="347472"/>
          </a:xfrm>
          <a:prstGeom prst="rect">
            <a:avLst/>
          </a:prstGeom>
          <a:solidFill>
            <a:srgbClr val="C0392B"/>
          </a:solidFill>
          <a:ln/>
        </p:spPr>
      </p:sp>
      <p:sp>
        <p:nvSpPr>
          <p:cNvPr id="39" name="Text 37"/>
          <p:cNvSpPr/>
          <p:nvPr/>
        </p:nvSpPr>
        <p:spPr>
          <a:xfrm>
            <a:off x="365760" y="4681728"/>
            <a:ext cx="8458200" cy="347472"/>
          </a:xfrm>
          <a:prstGeom prst="rect">
            <a:avLst/>
          </a:prstGeom>
          <a:noFill/>
          <a:ln/>
        </p:spPr>
        <p:txBody>
          <a:bodyPr wrap="square" lIns="0" tIns="0" rIns="0" bIns="0" rtlCol="0" anchor="ctr"/>
          <a:lstStyle/>
          <a:p>
            <a:pPr indent="0" marL="0">
              <a:buNone/>
            </a:pPr>
            <a:r>
              <a:rPr lang="en-US" sz="800" dirty="0">
                <a:solidFill>
                  <a:srgbClr val="922B21"/>
                </a:solidFill>
              </a:rPr>
              <a:t>⚠  PLATFORM GAP: Glint has no native mechanism to restrict external user actions behind an internal approver. This two-gate control workflow (as operated in Qualtrics) cannot currently be replicated. CDO decision required on interim process.</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6FB"/>
        </a:solidFill>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1E2761"/>
          </a:solidFill>
          <a:ln/>
        </p:spPr>
      </p:sp>
      <p:sp>
        <p:nvSpPr>
          <p:cNvPr id="3" name="Shape 1"/>
          <p:cNvSpPr/>
          <p:nvPr/>
        </p:nvSpPr>
        <p:spPr>
          <a:xfrm>
            <a:off x="0" y="0"/>
            <a:ext cx="201168" cy="914400"/>
          </a:xfrm>
          <a:prstGeom prst="rect">
            <a:avLst/>
          </a:prstGeom>
          <a:solidFill>
            <a:srgbClr val="F4A223"/>
          </a:solidFill>
          <a:ln/>
        </p:spPr>
      </p:sp>
      <p:sp>
        <p:nvSpPr>
          <p:cNvPr id="4" name="Text 2"/>
          <p:cNvSpPr/>
          <p:nvPr/>
        </p:nvSpPr>
        <p:spPr>
          <a:xfrm>
            <a:off x="365760" y="274320"/>
            <a:ext cx="8412480" cy="365760"/>
          </a:xfrm>
          <a:prstGeom prst="rect">
            <a:avLst/>
          </a:prstGeom>
          <a:noFill/>
          <a:ln/>
        </p:spPr>
        <p:txBody>
          <a:bodyPr wrap="square" lIns="0" tIns="0" rIns="0" bIns="0" rtlCol="0" anchor="ctr"/>
          <a:lstStyle/>
          <a:p>
            <a:pPr indent="0" marL="0">
              <a:buNone/>
            </a:pPr>
            <a:r>
              <a:rPr lang="en-US" sz="1600" b="1" dirty="0">
                <a:solidFill>
                  <a:srgbClr val="FFFFFF"/>
                </a:solidFill>
              </a:rPr>
              <a:t>ROLE SUMMARY — ALL 7 GLINT ACCESS ROLES</a:t>
            </a:r>
            <a:endParaRPr lang="en-US" sz="16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182880" y="1024128"/>
          <a:ext cx="8823960" cy="3730752"/>
        </p:xfrm>
        <a:graphic>
          <a:graphicData uri="http://schemas.openxmlformats.org/drawingml/2006/table">
            <a:tbl>
              <a:tblPr/>
              <a:tblGrid>
                <a:gridCol w="274320"/>
                <a:gridCol w="1965960"/>
                <a:gridCol w="2148840"/>
                <a:gridCol w="914400"/>
                <a:gridCol w="685800"/>
                <a:gridCol w="685800"/>
                <a:gridCol w="640080"/>
                <a:gridCol w="594360"/>
              </a:tblGrid>
              <a:tr h="457200">
                <a:tc>
                  <a:txBody>
                    <a:bodyPr/>
                    <a:lstStyle/>
                    <a:p>
                      <a:pPr algn="ctr" indent="0" marL="0">
                        <a:buNone/>
                      </a:pPr>
                      <a:r>
                        <a:rPr lang="en-US" sz="850" b="1" dirty="0">
                          <a:solidFill>
                            <a:srgbClr val="FFFFFF"/>
                          </a:solidFill>
                        </a:rPr>
                        <a:t>#</a:t>
                      </a:r>
                      <a:endParaRPr lang="en-US" sz="850" dirty="0"/>
                    </a:p>
                  </a:txBody>
                  <a:tcPr marL="91440" marR="91440" marT="45720" marB="45720" anchor="ctr">
                    <a:lnL w="6350" cap="flat" cmpd="sng" algn="ctr">
                      <a:solidFill>
                        <a:srgbClr val="E8EDF6"/>
                      </a:solidFill>
                      <a:prstDash val="solid"/>
                      <a:round/>
                      <a:headEnd type="none" w="med" len="med"/>
                      <a:tailEnd type="none" w="med" len="med"/>
                    </a:lnL>
                    <a:lnR w="6350" cap="flat" cmpd="sng" algn="ctr">
                      <a:solidFill>
                        <a:srgbClr val="E8EDF6"/>
                      </a:solidFill>
                      <a:prstDash val="solid"/>
                      <a:round/>
                      <a:headEnd type="none" w="med" len="med"/>
                      <a:tailEnd type="none" w="med" len="med"/>
                    </a:lnR>
                    <a:lnT w="6350" cap="flat" cmpd="sng" algn="ctr">
                      <a:solidFill>
                        <a:srgbClr val="E8EDF6"/>
                      </a:solidFill>
                      <a:prstDash val="solid"/>
                      <a:round/>
                      <a:headEnd type="none" w="med" len="med"/>
                      <a:tailEnd type="none" w="med" len="med"/>
                    </a:lnT>
                    <a:lnB w="6350" cap="flat" cmpd="sng" algn="ctr">
                      <a:solidFill>
                        <a:srgbClr val="E8EDF6"/>
                      </a:solidFill>
                      <a:prstDash val="solid"/>
                      <a:round/>
                      <a:headEnd type="none" w="med" len="med"/>
                      <a:tailEnd type="none" w="med" len="med"/>
                    </a:lnB>
                    <a:solidFill>
                      <a:srgbClr val="1A2340"/>
                    </a:solidFill>
                  </a:tcPr>
                </a:tc>
                <a:tc>
                  <a:txBody>
                    <a:bodyPr/>
                    <a:lstStyle/>
                    <a:p>
                      <a:pPr algn="ctr" indent="0" marL="0">
                        <a:buNone/>
                      </a:pPr>
                      <a:r>
                        <a:rPr lang="en-US" sz="850" b="1" dirty="0">
                          <a:solidFill>
                            <a:srgbClr val="FFFFFF"/>
                          </a:solidFill>
                        </a:rPr>
                        <a:t>Role Name</a:t>
                      </a:r>
                      <a:endParaRPr lang="en-US" sz="850" dirty="0"/>
                    </a:p>
                  </a:txBody>
                  <a:tcPr marL="91440" marR="91440" marT="45720" marB="45720" anchor="ctr">
                    <a:lnL w="6350" cap="flat" cmpd="sng" algn="ctr">
                      <a:solidFill>
                        <a:srgbClr val="E8EDF6"/>
                      </a:solidFill>
                      <a:prstDash val="solid"/>
                      <a:round/>
                      <a:headEnd type="none" w="med" len="med"/>
                      <a:tailEnd type="none" w="med" len="med"/>
                    </a:lnL>
                    <a:lnR w="6350" cap="flat" cmpd="sng" algn="ctr">
                      <a:solidFill>
                        <a:srgbClr val="E8EDF6"/>
                      </a:solidFill>
                      <a:prstDash val="solid"/>
                      <a:round/>
                      <a:headEnd type="none" w="med" len="med"/>
                      <a:tailEnd type="none" w="med" len="med"/>
                    </a:lnR>
                    <a:lnT w="6350" cap="flat" cmpd="sng" algn="ctr">
                      <a:solidFill>
                        <a:srgbClr val="E8EDF6"/>
                      </a:solidFill>
                      <a:prstDash val="solid"/>
                      <a:round/>
                      <a:headEnd type="none" w="med" len="med"/>
                      <a:tailEnd type="none" w="med" len="med"/>
                    </a:lnT>
                    <a:lnB w="6350" cap="flat" cmpd="sng" algn="ctr">
                      <a:solidFill>
                        <a:srgbClr val="E8EDF6"/>
                      </a:solidFill>
                      <a:prstDash val="solid"/>
                      <a:round/>
                      <a:headEnd type="none" w="med" len="med"/>
                      <a:tailEnd type="none" w="med" len="med"/>
                    </a:lnB>
                    <a:solidFill>
                      <a:srgbClr val="1A2340"/>
                    </a:solidFill>
                  </a:tcPr>
                </a:tc>
                <a:tc>
                  <a:txBody>
                    <a:bodyPr/>
                    <a:lstStyle/>
                    <a:p>
                      <a:pPr algn="ctr" indent="0" marL="0">
                        <a:buNone/>
                      </a:pPr>
                      <a:r>
                        <a:rPr lang="en-US" sz="850" b="1" dirty="0">
                          <a:solidFill>
                            <a:srgbClr val="FFFFFF"/>
                          </a:solidFill>
                        </a:rPr>
                        <a:t>Key Users</a:t>
                      </a:r>
                      <a:endParaRPr lang="en-US" sz="850" dirty="0"/>
                    </a:p>
                  </a:txBody>
                  <a:tcPr marL="91440" marR="91440" marT="45720" marB="45720" anchor="ctr">
                    <a:lnL w="6350" cap="flat" cmpd="sng" algn="ctr">
                      <a:solidFill>
                        <a:srgbClr val="E8EDF6"/>
                      </a:solidFill>
                      <a:prstDash val="solid"/>
                      <a:round/>
                      <a:headEnd type="none" w="med" len="med"/>
                      <a:tailEnd type="none" w="med" len="med"/>
                    </a:lnL>
                    <a:lnR w="6350" cap="flat" cmpd="sng" algn="ctr">
                      <a:solidFill>
                        <a:srgbClr val="E8EDF6"/>
                      </a:solidFill>
                      <a:prstDash val="solid"/>
                      <a:round/>
                      <a:headEnd type="none" w="med" len="med"/>
                      <a:tailEnd type="none" w="med" len="med"/>
                    </a:lnR>
                    <a:lnT w="6350" cap="flat" cmpd="sng" algn="ctr">
                      <a:solidFill>
                        <a:srgbClr val="E8EDF6"/>
                      </a:solidFill>
                      <a:prstDash val="solid"/>
                      <a:round/>
                      <a:headEnd type="none" w="med" len="med"/>
                      <a:tailEnd type="none" w="med" len="med"/>
                    </a:lnT>
                    <a:lnB w="6350" cap="flat" cmpd="sng" algn="ctr">
                      <a:solidFill>
                        <a:srgbClr val="E8EDF6"/>
                      </a:solidFill>
                      <a:prstDash val="solid"/>
                      <a:round/>
                      <a:headEnd type="none" w="med" len="med"/>
                      <a:tailEnd type="none" w="med" len="med"/>
                    </a:lnB>
                    <a:solidFill>
                      <a:srgbClr val="1A2340"/>
                    </a:solidFill>
                  </a:tcPr>
                </a:tc>
                <a:tc>
                  <a:txBody>
                    <a:bodyPr/>
                    <a:lstStyle/>
                    <a:p>
                      <a:pPr algn="ctr" indent="0" marL="0">
                        <a:buNone/>
                      </a:pPr>
                      <a:r>
                        <a:rPr lang="en-US" sz="850" b="1" dirty="0">
                          <a:solidFill>
                            <a:srgbClr val="FFFFFF"/>
                          </a:solidFill>
                        </a:rPr>
                        <a:t>Survey</a:t>
                      </a:r>
                      <a:endParaRPr lang="en-US" sz="850" dirty="0"/>
                    </a:p>
                    <a:p>
                      <a:pPr algn="ctr" indent="0" marL="0">
                        <a:buNone/>
                      </a:pPr>
                      <a:r>
                        <a:rPr lang="en-US" sz="850" b="1" dirty="0">
                          <a:solidFill>
                            <a:srgbClr val="FFFFFF"/>
                          </a:solidFill>
                        </a:rPr>
                        <a:t>Authoring</a:t>
                      </a:r>
                      <a:endParaRPr lang="en-US" sz="850" dirty="0"/>
                    </a:p>
                  </a:txBody>
                  <a:tcPr marL="91440" marR="91440" marT="45720" marB="45720" anchor="ctr">
                    <a:lnL w="6350" cap="flat" cmpd="sng" algn="ctr">
                      <a:solidFill>
                        <a:srgbClr val="E8EDF6"/>
                      </a:solidFill>
                      <a:prstDash val="solid"/>
                      <a:round/>
                      <a:headEnd type="none" w="med" len="med"/>
                      <a:tailEnd type="none" w="med" len="med"/>
                    </a:lnL>
                    <a:lnR w="6350" cap="flat" cmpd="sng" algn="ctr">
                      <a:solidFill>
                        <a:srgbClr val="E8EDF6"/>
                      </a:solidFill>
                      <a:prstDash val="solid"/>
                      <a:round/>
                      <a:headEnd type="none" w="med" len="med"/>
                      <a:tailEnd type="none" w="med" len="med"/>
                    </a:lnR>
                    <a:lnT w="6350" cap="flat" cmpd="sng" algn="ctr">
                      <a:solidFill>
                        <a:srgbClr val="E8EDF6"/>
                      </a:solidFill>
                      <a:prstDash val="solid"/>
                      <a:round/>
                      <a:headEnd type="none" w="med" len="med"/>
                      <a:tailEnd type="none" w="med" len="med"/>
                    </a:lnT>
                    <a:lnB w="6350" cap="flat" cmpd="sng" algn="ctr">
                      <a:solidFill>
                        <a:srgbClr val="E8EDF6"/>
                      </a:solidFill>
                      <a:prstDash val="solid"/>
                      <a:round/>
                      <a:headEnd type="none" w="med" len="med"/>
                      <a:tailEnd type="none" w="med" len="med"/>
                    </a:lnB>
                    <a:solidFill>
                      <a:srgbClr val="1A2340"/>
                    </a:solidFill>
                  </a:tcPr>
                </a:tc>
                <a:tc>
                  <a:txBody>
                    <a:bodyPr/>
                    <a:lstStyle/>
                    <a:p>
                      <a:pPr algn="ctr" indent="0" marL="0">
                        <a:buNone/>
                      </a:pPr>
                      <a:r>
                        <a:rPr lang="en-US" sz="850" b="1" dirty="0">
                          <a:solidFill>
                            <a:srgbClr val="FFFFFF"/>
                          </a:solidFill>
                        </a:rPr>
                        <a:t>Data</a:t>
                      </a:r>
                      <a:endParaRPr lang="en-US" sz="850" dirty="0"/>
                    </a:p>
                    <a:p>
                      <a:pPr algn="ctr" indent="0" marL="0">
                        <a:buNone/>
                      </a:pPr>
                      <a:r>
                        <a:rPr lang="en-US" sz="850" b="1" dirty="0">
                          <a:solidFill>
                            <a:srgbClr val="FFFFFF"/>
                          </a:solidFill>
                        </a:rPr>
                        <a:t>Mgmt</a:t>
                      </a:r>
                      <a:endParaRPr lang="en-US" sz="850" dirty="0"/>
                    </a:p>
                  </a:txBody>
                  <a:tcPr marL="91440" marR="91440" marT="45720" marB="45720" anchor="ctr">
                    <a:lnL w="6350" cap="flat" cmpd="sng" algn="ctr">
                      <a:solidFill>
                        <a:srgbClr val="E8EDF6"/>
                      </a:solidFill>
                      <a:prstDash val="solid"/>
                      <a:round/>
                      <a:headEnd type="none" w="med" len="med"/>
                      <a:tailEnd type="none" w="med" len="med"/>
                    </a:lnL>
                    <a:lnR w="6350" cap="flat" cmpd="sng" algn="ctr">
                      <a:solidFill>
                        <a:srgbClr val="E8EDF6"/>
                      </a:solidFill>
                      <a:prstDash val="solid"/>
                      <a:round/>
                      <a:headEnd type="none" w="med" len="med"/>
                      <a:tailEnd type="none" w="med" len="med"/>
                    </a:lnR>
                    <a:lnT w="6350" cap="flat" cmpd="sng" algn="ctr">
                      <a:solidFill>
                        <a:srgbClr val="E8EDF6"/>
                      </a:solidFill>
                      <a:prstDash val="solid"/>
                      <a:round/>
                      <a:headEnd type="none" w="med" len="med"/>
                      <a:tailEnd type="none" w="med" len="med"/>
                    </a:lnT>
                    <a:lnB w="6350" cap="flat" cmpd="sng" algn="ctr">
                      <a:solidFill>
                        <a:srgbClr val="E8EDF6"/>
                      </a:solidFill>
                      <a:prstDash val="solid"/>
                      <a:round/>
                      <a:headEnd type="none" w="med" len="med"/>
                      <a:tailEnd type="none" w="med" len="med"/>
                    </a:lnB>
                    <a:solidFill>
                      <a:srgbClr val="1A2340"/>
                    </a:solidFill>
                  </a:tcPr>
                </a:tc>
                <a:tc>
                  <a:txBody>
                    <a:bodyPr/>
                    <a:lstStyle/>
                    <a:p>
                      <a:pPr algn="ctr" indent="0" marL="0">
                        <a:buNone/>
                      </a:pPr>
                      <a:r>
                        <a:rPr lang="en-US" sz="850" b="1" dirty="0">
                          <a:solidFill>
                            <a:srgbClr val="FFFFFF"/>
                          </a:solidFill>
                        </a:rPr>
                        <a:t>360</a:t>
                      </a:r>
                      <a:endParaRPr lang="en-US" sz="850" dirty="0"/>
                    </a:p>
                    <a:p>
                      <a:pPr algn="ctr" indent="0" marL="0">
                        <a:buNone/>
                      </a:pPr>
                      <a:r>
                        <a:rPr lang="en-US" sz="850" b="1" dirty="0">
                          <a:solidFill>
                            <a:srgbClr val="FFFFFF"/>
                          </a:solidFill>
                        </a:rPr>
                        <a:t>Feedback</a:t>
                      </a:r>
                      <a:endParaRPr lang="en-US" sz="850" dirty="0"/>
                    </a:p>
                  </a:txBody>
                  <a:tcPr marL="91440" marR="91440" marT="45720" marB="45720" anchor="ctr">
                    <a:lnL w="6350" cap="flat" cmpd="sng" algn="ctr">
                      <a:solidFill>
                        <a:srgbClr val="E8EDF6"/>
                      </a:solidFill>
                      <a:prstDash val="solid"/>
                      <a:round/>
                      <a:headEnd type="none" w="med" len="med"/>
                      <a:tailEnd type="none" w="med" len="med"/>
                    </a:lnL>
                    <a:lnR w="6350" cap="flat" cmpd="sng" algn="ctr">
                      <a:solidFill>
                        <a:srgbClr val="E8EDF6"/>
                      </a:solidFill>
                      <a:prstDash val="solid"/>
                      <a:round/>
                      <a:headEnd type="none" w="med" len="med"/>
                      <a:tailEnd type="none" w="med" len="med"/>
                    </a:lnR>
                    <a:lnT w="6350" cap="flat" cmpd="sng" algn="ctr">
                      <a:solidFill>
                        <a:srgbClr val="E8EDF6"/>
                      </a:solidFill>
                      <a:prstDash val="solid"/>
                      <a:round/>
                      <a:headEnd type="none" w="med" len="med"/>
                      <a:tailEnd type="none" w="med" len="med"/>
                    </a:lnT>
                    <a:lnB w="6350" cap="flat" cmpd="sng" algn="ctr">
                      <a:solidFill>
                        <a:srgbClr val="E8EDF6"/>
                      </a:solidFill>
                      <a:prstDash val="solid"/>
                      <a:round/>
                      <a:headEnd type="none" w="med" len="med"/>
                      <a:tailEnd type="none" w="med" len="med"/>
                    </a:lnB>
                    <a:solidFill>
                      <a:srgbClr val="1A2340"/>
                    </a:solidFill>
                  </a:tcPr>
                </a:tc>
                <a:tc>
                  <a:txBody>
                    <a:bodyPr/>
                    <a:lstStyle/>
                    <a:p>
                      <a:pPr algn="ctr" indent="0" marL="0">
                        <a:buNone/>
                      </a:pPr>
                      <a:r>
                        <a:rPr lang="en-US" sz="850" b="1" dirty="0">
                          <a:solidFill>
                            <a:srgbClr val="FFFFFF"/>
                          </a:solidFill>
                        </a:rPr>
                        <a:t>Adv</a:t>
                      </a:r>
                      <a:endParaRPr lang="en-US" sz="850" dirty="0"/>
                    </a:p>
                    <a:p>
                      <a:pPr algn="ctr" indent="0" marL="0">
                        <a:buNone/>
                      </a:pPr>
                      <a:r>
                        <a:rPr lang="en-US" sz="850" b="1" dirty="0">
                          <a:solidFill>
                            <a:srgbClr val="FFFFFF"/>
                          </a:solidFill>
                        </a:rPr>
                        <a:t>Config</a:t>
                      </a:r>
                      <a:endParaRPr lang="en-US" sz="850" dirty="0"/>
                    </a:p>
                  </a:txBody>
                  <a:tcPr marL="91440" marR="91440" marT="45720" marB="45720" anchor="ctr">
                    <a:lnL w="6350" cap="flat" cmpd="sng" algn="ctr">
                      <a:solidFill>
                        <a:srgbClr val="E8EDF6"/>
                      </a:solidFill>
                      <a:prstDash val="solid"/>
                      <a:round/>
                      <a:headEnd type="none" w="med" len="med"/>
                      <a:tailEnd type="none" w="med" len="med"/>
                    </a:lnL>
                    <a:lnR w="6350" cap="flat" cmpd="sng" algn="ctr">
                      <a:solidFill>
                        <a:srgbClr val="E8EDF6"/>
                      </a:solidFill>
                      <a:prstDash val="solid"/>
                      <a:round/>
                      <a:headEnd type="none" w="med" len="med"/>
                      <a:tailEnd type="none" w="med" len="med"/>
                    </a:lnR>
                    <a:lnT w="6350" cap="flat" cmpd="sng" algn="ctr">
                      <a:solidFill>
                        <a:srgbClr val="E8EDF6"/>
                      </a:solidFill>
                      <a:prstDash val="solid"/>
                      <a:round/>
                      <a:headEnd type="none" w="med" len="med"/>
                      <a:tailEnd type="none" w="med" len="med"/>
                    </a:lnT>
                    <a:lnB w="6350" cap="flat" cmpd="sng" algn="ctr">
                      <a:solidFill>
                        <a:srgbClr val="E8EDF6"/>
                      </a:solidFill>
                      <a:prstDash val="solid"/>
                      <a:round/>
                      <a:headEnd type="none" w="med" len="med"/>
                      <a:tailEnd type="none" w="med" len="med"/>
                    </a:lnB>
                    <a:solidFill>
                      <a:srgbClr val="1A2340"/>
                    </a:solidFill>
                  </a:tcPr>
                </a:tc>
                <a:tc>
                  <a:txBody>
                    <a:bodyPr/>
                    <a:lstStyle/>
                    <a:p>
                      <a:pPr algn="ctr" indent="0" marL="0">
                        <a:buNone/>
                      </a:pPr>
                      <a:r>
                        <a:rPr lang="en-US" sz="850" b="1" dirty="0">
                          <a:solidFill>
                            <a:srgbClr val="FFFFFF"/>
                          </a:solidFill>
                        </a:rPr>
                        <a:t>Status</a:t>
                      </a:r>
                      <a:endParaRPr lang="en-US" sz="850" dirty="0"/>
                    </a:p>
                  </a:txBody>
                  <a:tcPr marL="91440" marR="91440" marT="45720" marB="45720" anchor="ctr">
                    <a:lnL w="6350" cap="flat" cmpd="sng" algn="ctr">
                      <a:solidFill>
                        <a:srgbClr val="E8EDF6"/>
                      </a:solidFill>
                      <a:prstDash val="solid"/>
                      <a:round/>
                      <a:headEnd type="none" w="med" len="med"/>
                      <a:tailEnd type="none" w="med" len="med"/>
                    </a:lnL>
                    <a:lnR w="6350" cap="flat" cmpd="sng" algn="ctr">
                      <a:solidFill>
                        <a:srgbClr val="E8EDF6"/>
                      </a:solidFill>
                      <a:prstDash val="solid"/>
                      <a:round/>
                      <a:headEnd type="none" w="med" len="med"/>
                      <a:tailEnd type="none" w="med" len="med"/>
                    </a:lnR>
                    <a:lnT w="6350" cap="flat" cmpd="sng" algn="ctr">
                      <a:solidFill>
                        <a:srgbClr val="E8EDF6"/>
                      </a:solidFill>
                      <a:prstDash val="solid"/>
                      <a:round/>
                      <a:headEnd type="none" w="med" len="med"/>
                      <a:tailEnd type="none" w="med" len="med"/>
                    </a:lnT>
                    <a:lnB w="6350" cap="flat" cmpd="sng" algn="ctr">
                      <a:solidFill>
                        <a:srgbClr val="E8EDF6"/>
                      </a:solidFill>
                      <a:prstDash val="solid"/>
                      <a:round/>
                      <a:headEnd type="none" w="med" len="med"/>
                      <a:tailEnd type="none" w="med" len="med"/>
                    </a:lnB>
                    <a:solidFill>
                      <a:srgbClr val="1A2340"/>
                    </a:solidFill>
                  </a:tcPr>
                </a:tc>
              </a:tr>
              <a:tr h="457200">
                <a:tc>
                  <a:txBody>
                    <a:bodyPr/>
                    <a:lstStyle/>
                    <a:p>
                      <a:pPr algn="ctr" indent="0" marL="0">
                        <a:buNone/>
                      </a:pPr>
                      <a:r>
                        <a:rPr lang="en-US" sz="800" b="1" dirty="0">
                          <a:solidFill>
                            <a:srgbClr val="1A2340"/>
                          </a:solidFill>
                        </a:rPr>
                        <a:t>1</a:t>
                      </a:r>
                      <a:endParaRPr lang="en-US" sz="800" dirty="0"/>
                    </a:p>
                  </a:txBody>
                  <a:tcPr marL="91440" marR="91440" marT="45720" marB="45720" anchor="ctr">
                    <a:lnL w="6350" cap="flat" cmpd="sng" algn="ctr">
                      <a:solidFill>
                        <a:srgbClr val="E8EDF6"/>
                      </a:solidFill>
                      <a:prstDash val="solid"/>
                      <a:round/>
                      <a:headEnd type="none" w="med" len="med"/>
                      <a:tailEnd type="none" w="med" len="med"/>
                    </a:lnL>
                    <a:lnR w="6350" cap="flat" cmpd="sng" algn="ctr">
                      <a:solidFill>
                        <a:srgbClr val="E8EDF6"/>
                      </a:solidFill>
                      <a:prstDash val="solid"/>
                      <a:round/>
                      <a:headEnd type="none" w="med" len="med"/>
                      <a:tailEnd type="none" w="med" len="med"/>
                    </a:lnR>
                    <a:lnT w="6350" cap="flat" cmpd="sng" algn="ctr">
                      <a:solidFill>
                        <a:srgbClr val="E8EDF6"/>
                      </a:solidFill>
                      <a:prstDash val="solid"/>
                      <a:round/>
                      <a:headEnd type="none" w="med" len="med"/>
                      <a:tailEnd type="none" w="med" len="med"/>
                    </a:lnT>
                    <a:lnB w="6350" cap="flat" cmpd="sng" algn="ctr">
                      <a:solidFill>
                        <a:srgbClr val="E8EDF6"/>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1A2340"/>
                          </a:solidFill>
                        </a:rPr>
                        <a:t>Glint Service Admin</a:t>
                      </a:r>
                      <a:endParaRPr lang="en-US" sz="800" dirty="0"/>
                    </a:p>
                  </a:txBody>
                  <a:tcPr marL="91440" marR="91440" marT="45720" marB="45720" anchor="ctr">
                    <a:lnL w="6350" cap="flat" cmpd="sng" algn="ctr">
                      <a:solidFill>
                        <a:srgbClr val="E8EDF6"/>
                      </a:solidFill>
                      <a:prstDash val="solid"/>
                      <a:round/>
                      <a:headEnd type="none" w="med" len="med"/>
                      <a:tailEnd type="none" w="med" len="med"/>
                    </a:lnL>
                    <a:lnR w="6350" cap="flat" cmpd="sng" algn="ctr">
                      <a:solidFill>
                        <a:srgbClr val="E8EDF6"/>
                      </a:solidFill>
                      <a:prstDash val="solid"/>
                      <a:round/>
                      <a:headEnd type="none" w="med" len="med"/>
                      <a:tailEnd type="none" w="med" len="med"/>
                    </a:lnR>
                    <a:lnT w="6350" cap="flat" cmpd="sng" algn="ctr">
                      <a:solidFill>
                        <a:srgbClr val="E8EDF6"/>
                      </a:solidFill>
                      <a:prstDash val="solid"/>
                      <a:round/>
                      <a:headEnd type="none" w="med" len="med"/>
                      <a:tailEnd type="none" w="med" len="med"/>
                    </a:lnT>
                    <a:lnB w="6350" cap="flat" cmpd="sng" algn="ctr">
                      <a:solidFill>
                        <a:srgbClr val="E8EDF6"/>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1A2340"/>
                          </a:solidFill>
                        </a:rPr>
                        <a:t>Colleague Listening + Samuel Moore (Culture)</a:t>
                      </a:r>
                      <a:endParaRPr lang="en-US" sz="800" dirty="0"/>
                    </a:p>
                  </a:txBody>
                  <a:tcPr marL="91440" marR="91440" marT="45720" marB="45720" anchor="ctr">
                    <a:lnL w="6350" cap="flat" cmpd="sng" algn="ctr">
                      <a:solidFill>
                        <a:srgbClr val="E8EDF6"/>
                      </a:solidFill>
                      <a:prstDash val="solid"/>
                      <a:round/>
                      <a:headEnd type="none" w="med" len="med"/>
                      <a:tailEnd type="none" w="med" len="med"/>
                    </a:lnL>
                    <a:lnR w="6350" cap="flat" cmpd="sng" algn="ctr">
                      <a:solidFill>
                        <a:srgbClr val="E8EDF6"/>
                      </a:solidFill>
                      <a:prstDash val="solid"/>
                      <a:round/>
                      <a:headEnd type="none" w="med" len="med"/>
                      <a:tailEnd type="none" w="med" len="med"/>
                    </a:lnR>
                    <a:lnT w="6350" cap="flat" cmpd="sng" algn="ctr">
                      <a:solidFill>
                        <a:srgbClr val="E8EDF6"/>
                      </a:solidFill>
                      <a:prstDash val="solid"/>
                      <a:round/>
                      <a:headEnd type="none" w="med" len="med"/>
                      <a:tailEnd type="none" w="med" len="med"/>
                    </a:lnT>
                    <a:lnB w="6350" cap="flat" cmpd="sng" algn="ctr">
                      <a:solidFill>
                        <a:srgbClr val="E8EDF6"/>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1A2340"/>
                          </a:solidFill>
                        </a:rPr>
                        <a:t>Full</a:t>
                      </a:r>
                      <a:endParaRPr lang="en-US" sz="800" dirty="0"/>
                    </a:p>
                  </a:txBody>
                  <a:tcPr marL="91440" marR="91440" marT="45720" marB="45720" anchor="ctr">
                    <a:lnL w="6350" cap="flat" cmpd="sng" algn="ctr">
                      <a:solidFill>
                        <a:srgbClr val="E8EDF6"/>
                      </a:solidFill>
                      <a:prstDash val="solid"/>
                      <a:round/>
                      <a:headEnd type="none" w="med" len="med"/>
                      <a:tailEnd type="none" w="med" len="med"/>
                    </a:lnL>
                    <a:lnR w="6350" cap="flat" cmpd="sng" algn="ctr">
                      <a:solidFill>
                        <a:srgbClr val="E8EDF6"/>
                      </a:solidFill>
                      <a:prstDash val="solid"/>
                      <a:round/>
                      <a:headEnd type="none" w="med" len="med"/>
                      <a:tailEnd type="none" w="med" len="med"/>
                    </a:lnR>
                    <a:lnT w="6350" cap="flat" cmpd="sng" algn="ctr">
                      <a:solidFill>
                        <a:srgbClr val="E8EDF6"/>
                      </a:solidFill>
                      <a:prstDash val="solid"/>
                      <a:round/>
                      <a:headEnd type="none" w="med" len="med"/>
                      <a:tailEnd type="none" w="med" len="med"/>
                    </a:lnT>
                    <a:lnB w="6350" cap="flat" cmpd="sng" algn="ctr">
                      <a:solidFill>
                        <a:srgbClr val="E8EDF6"/>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1A2340"/>
                          </a:solidFill>
                        </a:rPr>
                        <a:t>Full</a:t>
                      </a:r>
                      <a:endParaRPr lang="en-US" sz="800" dirty="0"/>
                    </a:p>
                  </a:txBody>
                  <a:tcPr marL="91440" marR="91440" marT="45720" marB="45720" anchor="ctr">
                    <a:lnL w="6350" cap="flat" cmpd="sng" algn="ctr">
                      <a:solidFill>
                        <a:srgbClr val="E8EDF6"/>
                      </a:solidFill>
                      <a:prstDash val="solid"/>
                      <a:round/>
                      <a:headEnd type="none" w="med" len="med"/>
                      <a:tailEnd type="none" w="med" len="med"/>
                    </a:lnL>
                    <a:lnR w="6350" cap="flat" cmpd="sng" algn="ctr">
                      <a:solidFill>
                        <a:srgbClr val="E8EDF6"/>
                      </a:solidFill>
                      <a:prstDash val="solid"/>
                      <a:round/>
                      <a:headEnd type="none" w="med" len="med"/>
                      <a:tailEnd type="none" w="med" len="med"/>
                    </a:lnR>
                    <a:lnT w="6350" cap="flat" cmpd="sng" algn="ctr">
                      <a:solidFill>
                        <a:srgbClr val="E8EDF6"/>
                      </a:solidFill>
                      <a:prstDash val="solid"/>
                      <a:round/>
                      <a:headEnd type="none" w="med" len="med"/>
                      <a:tailEnd type="none" w="med" len="med"/>
                    </a:lnT>
                    <a:lnB w="6350" cap="flat" cmpd="sng" algn="ctr">
                      <a:solidFill>
                        <a:srgbClr val="E8EDF6"/>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1A2340"/>
                          </a:solidFill>
                        </a:rPr>
                        <a:t>Yes</a:t>
                      </a:r>
                      <a:endParaRPr lang="en-US" sz="800" dirty="0"/>
                    </a:p>
                  </a:txBody>
                  <a:tcPr marL="91440" marR="91440" marT="45720" marB="45720" anchor="ctr">
                    <a:lnL w="6350" cap="flat" cmpd="sng" algn="ctr">
                      <a:solidFill>
                        <a:srgbClr val="E8EDF6"/>
                      </a:solidFill>
                      <a:prstDash val="solid"/>
                      <a:round/>
                      <a:headEnd type="none" w="med" len="med"/>
                      <a:tailEnd type="none" w="med" len="med"/>
                    </a:lnL>
                    <a:lnR w="6350" cap="flat" cmpd="sng" algn="ctr">
                      <a:solidFill>
                        <a:srgbClr val="E8EDF6"/>
                      </a:solidFill>
                      <a:prstDash val="solid"/>
                      <a:round/>
                      <a:headEnd type="none" w="med" len="med"/>
                      <a:tailEnd type="none" w="med" len="med"/>
                    </a:lnR>
                    <a:lnT w="6350" cap="flat" cmpd="sng" algn="ctr">
                      <a:solidFill>
                        <a:srgbClr val="E8EDF6"/>
                      </a:solidFill>
                      <a:prstDash val="solid"/>
                      <a:round/>
                      <a:headEnd type="none" w="med" len="med"/>
                      <a:tailEnd type="none" w="med" len="med"/>
                    </a:lnT>
                    <a:lnB w="6350" cap="flat" cmpd="sng" algn="ctr">
                      <a:solidFill>
                        <a:srgbClr val="E8EDF6"/>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1A2340"/>
                          </a:solidFill>
                        </a:rPr>
                        <a:t>Yes</a:t>
                      </a:r>
                      <a:endParaRPr lang="en-US" sz="800" dirty="0"/>
                    </a:p>
                  </a:txBody>
                  <a:tcPr marL="91440" marR="91440" marT="45720" marB="45720" anchor="ctr">
                    <a:lnL w="6350" cap="flat" cmpd="sng" algn="ctr">
                      <a:solidFill>
                        <a:srgbClr val="E8EDF6"/>
                      </a:solidFill>
                      <a:prstDash val="solid"/>
                      <a:round/>
                      <a:headEnd type="none" w="med" len="med"/>
                      <a:tailEnd type="none" w="med" len="med"/>
                    </a:lnL>
                    <a:lnR w="6350" cap="flat" cmpd="sng" algn="ctr">
                      <a:solidFill>
                        <a:srgbClr val="E8EDF6"/>
                      </a:solidFill>
                      <a:prstDash val="solid"/>
                      <a:round/>
                      <a:headEnd type="none" w="med" len="med"/>
                      <a:tailEnd type="none" w="med" len="med"/>
                    </a:lnR>
                    <a:lnT w="6350" cap="flat" cmpd="sng" algn="ctr">
                      <a:solidFill>
                        <a:srgbClr val="E8EDF6"/>
                      </a:solidFill>
                      <a:prstDash val="solid"/>
                      <a:round/>
                      <a:headEnd type="none" w="med" len="med"/>
                      <a:tailEnd type="none" w="med" len="med"/>
                    </a:lnT>
                    <a:lnB w="6350" cap="flat" cmpd="sng" algn="ctr">
                      <a:solidFill>
                        <a:srgbClr val="E8EDF6"/>
                      </a:solidFill>
                      <a:prstDash val="solid"/>
                      <a:round/>
                      <a:headEnd type="none" w="med" len="med"/>
                      <a:tailEnd type="none" w="med" len="med"/>
                    </a:lnB>
                    <a:solidFill>
                      <a:srgbClr val="FFFFFF"/>
                    </a:solidFill>
                  </a:tcPr>
                </a:tc>
                <a:tc>
                  <a:txBody>
                    <a:bodyPr/>
                    <a:lstStyle/>
                    <a:p>
                      <a:pPr algn="ctr" indent="0" marL="0">
                        <a:buNone/>
                      </a:pPr>
                      <a:r>
                        <a:rPr lang="en-US" sz="800" b="1" dirty="0">
                          <a:solidFill>
                            <a:srgbClr val="27AE60"/>
                          </a:solidFill>
                        </a:rPr>
                        <a:t>Live</a:t>
                      </a:r>
                      <a:endParaRPr lang="en-US" sz="800" dirty="0"/>
                    </a:p>
                  </a:txBody>
                  <a:tcPr marL="91440" marR="91440" marT="45720" marB="45720" anchor="ctr">
                    <a:lnL w="6350" cap="flat" cmpd="sng" algn="ctr">
                      <a:solidFill>
                        <a:srgbClr val="E8EDF6"/>
                      </a:solidFill>
                      <a:prstDash val="solid"/>
                      <a:round/>
                      <a:headEnd type="none" w="med" len="med"/>
                      <a:tailEnd type="none" w="med" len="med"/>
                    </a:lnL>
                    <a:lnR w="6350" cap="flat" cmpd="sng" algn="ctr">
                      <a:solidFill>
                        <a:srgbClr val="E8EDF6"/>
                      </a:solidFill>
                      <a:prstDash val="solid"/>
                      <a:round/>
                      <a:headEnd type="none" w="med" len="med"/>
                      <a:tailEnd type="none" w="med" len="med"/>
                    </a:lnR>
                    <a:lnT w="6350" cap="flat" cmpd="sng" algn="ctr">
                      <a:solidFill>
                        <a:srgbClr val="E8EDF6"/>
                      </a:solidFill>
                      <a:prstDash val="solid"/>
                      <a:round/>
                      <a:headEnd type="none" w="med" len="med"/>
                      <a:tailEnd type="none" w="med" len="med"/>
                    </a:lnT>
                    <a:lnB w="6350" cap="flat" cmpd="sng" algn="ctr">
                      <a:solidFill>
                        <a:srgbClr val="E8EDF6"/>
                      </a:solidFill>
                      <a:prstDash val="solid"/>
                      <a:round/>
                      <a:headEnd type="none" w="med" len="med"/>
                      <a:tailEnd type="none" w="med" len="med"/>
                    </a:lnB>
                    <a:solidFill>
                      <a:srgbClr val="FFFFFF"/>
                    </a:solidFill>
                  </a:tcPr>
                </a:tc>
              </a:tr>
              <a:tr h="457200">
                <a:tc>
                  <a:txBody>
                    <a:bodyPr/>
                    <a:lstStyle/>
                    <a:p>
                      <a:pPr algn="ctr" indent="0" marL="0">
                        <a:buNone/>
                      </a:pPr>
                      <a:r>
                        <a:rPr lang="en-US" sz="800" b="1" dirty="0">
                          <a:solidFill>
                            <a:srgbClr val="1A2340"/>
                          </a:solidFill>
                        </a:rPr>
                        <a:t>2</a:t>
                      </a:r>
                      <a:endParaRPr lang="en-US" sz="800" dirty="0"/>
                    </a:p>
                  </a:txBody>
                  <a:tcPr marL="91440" marR="91440" marT="45720" marB="45720" anchor="ctr">
                    <a:lnL w="6350" cap="flat" cmpd="sng" algn="ctr">
                      <a:solidFill>
                        <a:srgbClr val="E8EDF6"/>
                      </a:solidFill>
                      <a:prstDash val="solid"/>
                      <a:round/>
                      <a:headEnd type="none" w="med" len="med"/>
                      <a:tailEnd type="none" w="med" len="med"/>
                    </a:lnL>
                    <a:lnR w="6350" cap="flat" cmpd="sng" algn="ctr">
                      <a:solidFill>
                        <a:srgbClr val="E8EDF6"/>
                      </a:solidFill>
                      <a:prstDash val="solid"/>
                      <a:round/>
                      <a:headEnd type="none" w="med" len="med"/>
                      <a:tailEnd type="none" w="med" len="med"/>
                    </a:lnR>
                    <a:lnT w="6350" cap="flat" cmpd="sng" algn="ctr">
                      <a:solidFill>
                        <a:srgbClr val="E8EDF6"/>
                      </a:solidFill>
                      <a:prstDash val="solid"/>
                      <a:round/>
                      <a:headEnd type="none" w="med" len="med"/>
                      <a:tailEnd type="none" w="med" len="med"/>
                    </a:lnT>
                    <a:lnB w="6350" cap="flat" cmpd="sng" algn="ctr">
                      <a:solidFill>
                        <a:srgbClr val="E8EDF6"/>
                      </a:solidFill>
                      <a:prstDash val="solid"/>
                      <a:round/>
                      <a:headEnd type="none" w="med" len="med"/>
                      <a:tailEnd type="none" w="med" len="med"/>
                    </a:lnB>
                    <a:solidFill>
                      <a:srgbClr val="E8EDF6"/>
                    </a:solidFill>
                  </a:tcPr>
                </a:tc>
                <a:tc>
                  <a:txBody>
                    <a:bodyPr/>
                    <a:lstStyle/>
                    <a:p>
                      <a:pPr algn="ctr" indent="0" marL="0">
                        <a:buNone/>
                      </a:pPr>
                      <a:r>
                        <a:rPr lang="en-US" sz="800" dirty="0">
                          <a:solidFill>
                            <a:srgbClr val="1A2340"/>
                          </a:solidFill>
                        </a:rPr>
                        <a:t>Survey Designer</a:t>
                      </a:r>
                      <a:endParaRPr lang="en-US" sz="800" dirty="0"/>
                    </a:p>
                  </a:txBody>
                  <a:tcPr marL="91440" marR="91440" marT="45720" marB="45720" anchor="ctr">
                    <a:lnL w="6350" cap="flat" cmpd="sng" algn="ctr">
                      <a:solidFill>
                        <a:srgbClr val="E8EDF6"/>
                      </a:solidFill>
                      <a:prstDash val="solid"/>
                      <a:round/>
                      <a:headEnd type="none" w="med" len="med"/>
                      <a:tailEnd type="none" w="med" len="med"/>
                    </a:lnL>
                    <a:lnR w="6350" cap="flat" cmpd="sng" algn="ctr">
                      <a:solidFill>
                        <a:srgbClr val="E8EDF6"/>
                      </a:solidFill>
                      <a:prstDash val="solid"/>
                      <a:round/>
                      <a:headEnd type="none" w="med" len="med"/>
                      <a:tailEnd type="none" w="med" len="med"/>
                    </a:lnR>
                    <a:lnT w="6350" cap="flat" cmpd="sng" algn="ctr">
                      <a:solidFill>
                        <a:srgbClr val="E8EDF6"/>
                      </a:solidFill>
                      <a:prstDash val="solid"/>
                      <a:round/>
                      <a:headEnd type="none" w="med" len="med"/>
                      <a:tailEnd type="none" w="med" len="med"/>
                    </a:lnT>
                    <a:lnB w="6350" cap="flat" cmpd="sng" algn="ctr">
                      <a:solidFill>
                        <a:srgbClr val="E8EDF6"/>
                      </a:solidFill>
                      <a:prstDash val="solid"/>
                      <a:round/>
                      <a:headEnd type="none" w="med" len="med"/>
                      <a:tailEnd type="none" w="med" len="med"/>
                    </a:lnB>
                    <a:solidFill>
                      <a:srgbClr val="E8EDF6"/>
                    </a:solidFill>
                  </a:tcPr>
                </a:tc>
                <a:tc>
                  <a:txBody>
                    <a:bodyPr/>
                    <a:lstStyle/>
                    <a:p>
                      <a:pPr algn="ctr" indent="0" marL="0">
                        <a:buNone/>
                      </a:pPr>
                      <a:r>
                        <a:rPr lang="en-US" sz="800" dirty="0">
                          <a:solidFill>
                            <a:srgbClr val="1A2340"/>
                          </a:solidFill>
                        </a:rPr>
                        <a:t>Talent, OE, Journey Experts, Culture (non-CL)</a:t>
                      </a:r>
                      <a:endParaRPr lang="en-US" sz="800" dirty="0"/>
                    </a:p>
                  </a:txBody>
                  <a:tcPr marL="91440" marR="91440" marT="45720" marB="45720" anchor="ctr">
                    <a:lnL w="6350" cap="flat" cmpd="sng" algn="ctr">
                      <a:solidFill>
                        <a:srgbClr val="E8EDF6"/>
                      </a:solidFill>
                      <a:prstDash val="solid"/>
                      <a:round/>
                      <a:headEnd type="none" w="med" len="med"/>
                      <a:tailEnd type="none" w="med" len="med"/>
                    </a:lnL>
                    <a:lnR w="6350" cap="flat" cmpd="sng" algn="ctr">
                      <a:solidFill>
                        <a:srgbClr val="E8EDF6"/>
                      </a:solidFill>
                      <a:prstDash val="solid"/>
                      <a:round/>
                      <a:headEnd type="none" w="med" len="med"/>
                      <a:tailEnd type="none" w="med" len="med"/>
                    </a:lnR>
                    <a:lnT w="6350" cap="flat" cmpd="sng" algn="ctr">
                      <a:solidFill>
                        <a:srgbClr val="E8EDF6"/>
                      </a:solidFill>
                      <a:prstDash val="solid"/>
                      <a:round/>
                      <a:headEnd type="none" w="med" len="med"/>
                      <a:tailEnd type="none" w="med" len="med"/>
                    </a:lnT>
                    <a:lnB w="6350" cap="flat" cmpd="sng" algn="ctr">
                      <a:solidFill>
                        <a:srgbClr val="E8EDF6"/>
                      </a:solidFill>
                      <a:prstDash val="solid"/>
                      <a:round/>
                      <a:headEnd type="none" w="med" len="med"/>
                      <a:tailEnd type="none" w="med" len="med"/>
                    </a:lnB>
                    <a:solidFill>
                      <a:srgbClr val="E8EDF6"/>
                    </a:solidFill>
                  </a:tcPr>
                </a:tc>
                <a:tc>
                  <a:txBody>
                    <a:bodyPr/>
                    <a:lstStyle/>
                    <a:p>
                      <a:pPr algn="ctr" indent="0" marL="0">
                        <a:buNone/>
                      </a:pPr>
                      <a:r>
                        <a:rPr lang="en-US" sz="800" dirty="0">
                          <a:solidFill>
                            <a:srgbClr val="1A2340"/>
                          </a:solidFill>
                        </a:rPr>
                        <a:t>Full</a:t>
                      </a:r>
                      <a:endParaRPr lang="en-US" sz="800" dirty="0"/>
                    </a:p>
                  </a:txBody>
                  <a:tcPr marL="91440" marR="91440" marT="45720" marB="45720" anchor="ctr">
                    <a:lnL w="6350" cap="flat" cmpd="sng" algn="ctr">
                      <a:solidFill>
                        <a:srgbClr val="E8EDF6"/>
                      </a:solidFill>
                      <a:prstDash val="solid"/>
                      <a:round/>
                      <a:headEnd type="none" w="med" len="med"/>
                      <a:tailEnd type="none" w="med" len="med"/>
                    </a:lnL>
                    <a:lnR w="6350" cap="flat" cmpd="sng" algn="ctr">
                      <a:solidFill>
                        <a:srgbClr val="E8EDF6"/>
                      </a:solidFill>
                      <a:prstDash val="solid"/>
                      <a:round/>
                      <a:headEnd type="none" w="med" len="med"/>
                      <a:tailEnd type="none" w="med" len="med"/>
                    </a:lnR>
                    <a:lnT w="6350" cap="flat" cmpd="sng" algn="ctr">
                      <a:solidFill>
                        <a:srgbClr val="E8EDF6"/>
                      </a:solidFill>
                      <a:prstDash val="solid"/>
                      <a:round/>
                      <a:headEnd type="none" w="med" len="med"/>
                      <a:tailEnd type="none" w="med" len="med"/>
                    </a:lnT>
                    <a:lnB w="6350" cap="flat" cmpd="sng" algn="ctr">
                      <a:solidFill>
                        <a:srgbClr val="E8EDF6"/>
                      </a:solidFill>
                      <a:prstDash val="solid"/>
                      <a:round/>
                      <a:headEnd type="none" w="med" len="med"/>
                      <a:tailEnd type="none" w="med" len="med"/>
                    </a:lnB>
                    <a:solidFill>
                      <a:srgbClr val="E8EDF6"/>
                    </a:solidFill>
                  </a:tcPr>
                </a:tc>
                <a:tc>
                  <a:txBody>
                    <a:bodyPr/>
                    <a:lstStyle/>
                    <a:p>
                      <a:pPr algn="ctr" indent="0" marL="0">
                        <a:buNone/>
                      </a:pPr>
                      <a:r>
                        <a:rPr lang="en-US" sz="800" dirty="0">
                          <a:solidFill>
                            <a:srgbClr val="1A2340"/>
                          </a:solidFill>
                        </a:rPr>
                        <a:t>No</a:t>
                      </a:r>
                      <a:endParaRPr lang="en-US" sz="800" dirty="0"/>
                    </a:p>
                  </a:txBody>
                  <a:tcPr marL="91440" marR="91440" marT="45720" marB="45720" anchor="ctr">
                    <a:lnL w="6350" cap="flat" cmpd="sng" algn="ctr">
                      <a:solidFill>
                        <a:srgbClr val="E8EDF6"/>
                      </a:solidFill>
                      <a:prstDash val="solid"/>
                      <a:round/>
                      <a:headEnd type="none" w="med" len="med"/>
                      <a:tailEnd type="none" w="med" len="med"/>
                    </a:lnL>
                    <a:lnR w="6350" cap="flat" cmpd="sng" algn="ctr">
                      <a:solidFill>
                        <a:srgbClr val="E8EDF6"/>
                      </a:solidFill>
                      <a:prstDash val="solid"/>
                      <a:round/>
                      <a:headEnd type="none" w="med" len="med"/>
                      <a:tailEnd type="none" w="med" len="med"/>
                    </a:lnR>
                    <a:lnT w="6350" cap="flat" cmpd="sng" algn="ctr">
                      <a:solidFill>
                        <a:srgbClr val="E8EDF6"/>
                      </a:solidFill>
                      <a:prstDash val="solid"/>
                      <a:round/>
                      <a:headEnd type="none" w="med" len="med"/>
                      <a:tailEnd type="none" w="med" len="med"/>
                    </a:lnT>
                    <a:lnB w="6350" cap="flat" cmpd="sng" algn="ctr">
                      <a:solidFill>
                        <a:srgbClr val="E8EDF6"/>
                      </a:solidFill>
                      <a:prstDash val="solid"/>
                      <a:round/>
                      <a:headEnd type="none" w="med" len="med"/>
                      <a:tailEnd type="none" w="med" len="med"/>
                    </a:lnB>
                    <a:solidFill>
                      <a:srgbClr val="E8EDF6"/>
                    </a:solidFill>
                  </a:tcPr>
                </a:tc>
                <a:tc>
                  <a:txBody>
                    <a:bodyPr/>
                    <a:lstStyle/>
                    <a:p>
                      <a:pPr algn="ctr" indent="0" marL="0">
                        <a:buNone/>
                      </a:pPr>
                      <a:r>
                        <a:rPr lang="en-US" sz="800" dirty="0">
                          <a:solidFill>
                            <a:srgbClr val="1A2340"/>
                          </a:solidFill>
                        </a:rPr>
                        <a:t>Yes</a:t>
                      </a:r>
                      <a:endParaRPr lang="en-US" sz="800" dirty="0"/>
                    </a:p>
                  </a:txBody>
                  <a:tcPr marL="91440" marR="91440" marT="45720" marB="45720" anchor="ctr">
                    <a:lnL w="6350" cap="flat" cmpd="sng" algn="ctr">
                      <a:solidFill>
                        <a:srgbClr val="E8EDF6"/>
                      </a:solidFill>
                      <a:prstDash val="solid"/>
                      <a:round/>
                      <a:headEnd type="none" w="med" len="med"/>
                      <a:tailEnd type="none" w="med" len="med"/>
                    </a:lnL>
                    <a:lnR w="6350" cap="flat" cmpd="sng" algn="ctr">
                      <a:solidFill>
                        <a:srgbClr val="E8EDF6"/>
                      </a:solidFill>
                      <a:prstDash val="solid"/>
                      <a:round/>
                      <a:headEnd type="none" w="med" len="med"/>
                      <a:tailEnd type="none" w="med" len="med"/>
                    </a:lnR>
                    <a:lnT w="6350" cap="flat" cmpd="sng" algn="ctr">
                      <a:solidFill>
                        <a:srgbClr val="E8EDF6"/>
                      </a:solidFill>
                      <a:prstDash val="solid"/>
                      <a:round/>
                      <a:headEnd type="none" w="med" len="med"/>
                      <a:tailEnd type="none" w="med" len="med"/>
                    </a:lnT>
                    <a:lnB w="6350" cap="flat" cmpd="sng" algn="ctr">
                      <a:solidFill>
                        <a:srgbClr val="E8EDF6"/>
                      </a:solidFill>
                      <a:prstDash val="solid"/>
                      <a:round/>
                      <a:headEnd type="none" w="med" len="med"/>
                      <a:tailEnd type="none" w="med" len="med"/>
                    </a:lnB>
                    <a:solidFill>
                      <a:srgbClr val="E8EDF6"/>
                    </a:solidFill>
                  </a:tcPr>
                </a:tc>
                <a:tc>
                  <a:txBody>
                    <a:bodyPr/>
                    <a:lstStyle/>
                    <a:p>
                      <a:pPr algn="ctr" indent="0" marL="0">
                        <a:buNone/>
                      </a:pPr>
                      <a:r>
                        <a:rPr lang="en-US" sz="800" dirty="0">
                          <a:solidFill>
                            <a:srgbClr val="1A2340"/>
                          </a:solidFill>
                        </a:rPr>
                        <a:t>No</a:t>
                      </a:r>
                      <a:endParaRPr lang="en-US" sz="800" dirty="0"/>
                    </a:p>
                  </a:txBody>
                  <a:tcPr marL="91440" marR="91440" marT="45720" marB="45720" anchor="ctr">
                    <a:lnL w="6350" cap="flat" cmpd="sng" algn="ctr">
                      <a:solidFill>
                        <a:srgbClr val="E8EDF6"/>
                      </a:solidFill>
                      <a:prstDash val="solid"/>
                      <a:round/>
                      <a:headEnd type="none" w="med" len="med"/>
                      <a:tailEnd type="none" w="med" len="med"/>
                    </a:lnL>
                    <a:lnR w="6350" cap="flat" cmpd="sng" algn="ctr">
                      <a:solidFill>
                        <a:srgbClr val="E8EDF6"/>
                      </a:solidFill>
                      <a:prstDash val="solid"/>
                      <a:round/>
                      <a:headEnd type="none" w="med" len="med"/>
                      <a:tailEnd type="none" w="med" len="med"/>
                    </a:lnR>
                    <a:lnT w="6350" cap="flat" cmpd="sng" algn="ctr">
                      <a:solidFill>
                        <a:srgbClr val="E8EDF6"/>
                      </a:solidFill>
                      <a:prstDash val="solid"/>
                      <a:round/>
                      <a:headEnd type="none" w="med" len="med"/>
                      <a:tailEnd type="none" w="med" len="med"/>
                    </a:lnT>
                    <a:lnB w="6350" cap="flat" cmpd="sng" algn="ctr">
                      <a:solidFill>
                        <a:srgbClr val="E8EDF6"/>
                      </a:solidFill>
                      <a:prstDash val="solid"/>
                      <a:round/>
                      <a:headEnd type="none" w="med" len="med"/>
                      <a:tailEnd type="none" w="med" len="med"/>
                    </a:lnB>
                    <a:solidFill>
                      <a:srgbClr val="E8EDF6"/>
                    </a:solidFill>
                  </a:tcPr>
                </a:tc>
                <a:tc>
                  <a:txBody>
                    <a:bodyPr/>
                    <a:lstStyle/>
                    <a:p>
                      <a:pPr algn="ctr" indent="0" marL="0">
                        <a:buNone/>
                      </a:pPr>
                      <a:r>
                        <a:rPr lang="en-US" sz="800" b="1" dirty="0">
                          <a:solidFill>
                            <a:srgbClr val="27AE60"/>
                          </a:solidFill>
                        </a:rPr>
                        <a:t>Live</a:t>
                      </a:r>
                      <a:endParaRPr lang="en-US" sz="800" dirty="0"/>
                    </a:p>
                  </a:txBody>
                  <a:tcPr marL="91440" marR="91440" marT="45720" marB="45720" anchor="ctr">
                    <a:lnL w="6350" cap="flat" cmpd="sng" algn="ctr">
                      <a:solidFill>
                        <a:srgbClr val="E8EDF6"/>
                      </a:solidFill>
                      <a:prstDash val="solid"/>
                      <a:round/>
                      <a:headEnd type="none" w="med" len="med"/>
                      <a:tailEnd type="none" w="med" len="med"/>
                    </a:lnL>
                    <a:lnR w="6350" cap="flat" cmpd="sng" algn="ctr">
                      <a:solidFill>
                        <a:srgbClr val="E8EDF6"/>
                      </a:solidFill>
                      <a:prstDash val="solid"/>
                      <a:round/>
                      <a:headEnd type="none" w="med" len="med"/>
                      <a:tailEnd type="none" w="med" len="med"/>
                    </a:lnR>
                    <a:lnT w="6350" cap="flat" cmpd="sng" algn="ctr">
                      <a:solidFill>
                        <a:srgbClr val="E8EDF6"/>
                      </a:solidFill>
                      <a:prstDash val="solid"/>
                      <a:round/>
                      <a:headEnd type="none" w="med" len="med"/>
                      <a:tailEnd type="none" w="med" len="med"/>
                    </a:lnT>
                    <a:lnB w="6350" cap="flat" cmpd="sng" algn="ctr">
                      <a:solidFill>
                        <a:srgbClr val="E8EDF6"/>
                      </a:solidFill>
                      <a:prstDash val="solid"/>
                      <a:round/>
                      <a:headEnd type="none" w="med" len="med"/>
                      <a:tailEnd type="none" w="med" len="med"/>
                    </a:lnB>
                    <a:solidFill>
                      <a:srgbClr val="E8EDF6"/>
                    </a:solidFill>
                  </a:tcPr>
                </a:tc>
              </a:tr>
              <a:tr h="457200">
                <a:tc>
                  <a:txBody>
                    <a:bodyPr/>
                    <a:lstStyle/>
                    <a:p>
                      <a:pPr algn="ctr" indent="0" marL="0">
                        <a:buNone/>
                      </a:pPr>
                      <a:r>
                        <a:rPr lang="en-US" sz="800" b="1" dirty="0">
                          <a:solidFill>
                            <a:srgbClr val="1A2340"/>
                          </a:solidFill>
                        </a:rPr>
                        <a:t>3</a:t>
                      </a:r>
                      <a:endParaRPr lang="en-US" sz="800" dirty="0"/>
                    </a:p>
                  </a:txBody>
                  <a:tcPr marL="91440" marR="91440" marT="45720" marB="45720" anchor="ctr">
                    <a:lnL w="6350" cap="flat" cmpd="sng" algn="ctr">
                      <a:solidFill>
                        <a:srgbClr val="E8EDF6"/>
                      </a:solidFill>
                      <a:prstDash val="solid"/>
                      <a:round/>
                      <a:headEnd type="none" w="med" len="med"/>
                      <a:tailEnd type="none" w="med" len="med"/>
                    </a:lnL>
                    <a:lnR w="6350" cap="flat" cmpd="sng" algn="ctr">
                      <a:solidFill>
                        <a:srgbClr val="E8EDF6"/>
                      </a:solidFill>
                      <a:prstDash val="solid"/>
                      <a:round/>
                      <a:headEnd type="none" w="med" len="med"/>
                      <a:tailEnd type="none" w="med" len="med"/>
                    </a:lnR>
                    <a:lnT w="6350" cap="flat" cmpd="sng" algn="ctr">
                      <a:solidFill>
                        <a:srgbClr val="E8EDF6"/>
                      </a:solidFill>
                      <a:prstDash val="solid"/>
                      <a:round/>
                      <a:headEnd type="none" w="med" len="med"/>
                      <a:tailEnd type="none" w="med" len="med"/>
                    </a:lnT>
                    <a:lnB w="6350" cap="flat" cmpd="sng" algn="ctr">
                      <a:solidFill>
                        <a:srgbClr val="E8EDF6"/>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1A2340"/>
                          </a:solidFill>
                        </a:rPr>
                        <a:t>Survey Program Owner</a:t>
                      </a:r>
                      <a:endParaRPr lang="en-US" sz="800" dirty="0"/>
                    </a:p>
                  </a:txBody>
                  <a:tcPr marL="91440" marR="91440" marT="45720" marB="45720" anchor="ctr">
                    <a:lnL w="6350" cap="flat" cmpd="sng" algn="ctr">
                      <a:solidFill>
                        <a:srgbClr val="E8EDF6"/>
                      </a:solidFill>
                      <a:prstDash val="solid"/>
                      <a:round/>
                      <a:headEnd type="none" w="med" len="med"/>
                      <a:tailEnd type="none" w="med" len="med"/>
                    </a:lnL>
                    <a:lnR w="6350" cap="flat" cmpd="sng" algn="ctr">
                      <a:solidFill>
                        <a:srgbClr val="E8EDF6"/>
                      </a:solidFill>
                      <a:prstDash val="solid"/>
                      <a:round/>
                      <a:headEnd type="none" w="med" len="med"/>
                      <a:tailEnd type="none" w="med" len="med"/>
                    </a:lnR>
                    <a:lnT w="6350" cap="flat" cmpd="sng" algn="ctr">
                      <a:solidFill>
                        <a:srgbClr val="E8EDF6"/>
                      </a:solidFill>
                      <a:prstDash val="solid"/>
                      <a:round/>
                      <a:headEnd type="none" w="med" len="med"/>
                      <a:tailEnd type="none" w="med" len="med"/>
                    </a:lnT>
                    <a:lnB w="6350" cap="flat" cmpd="sng" algn="ctr">
                      <a:solidFill>
                        <a:srgbClr val="E8EDF6"/>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1A2340"/>
                          </a:solidFill>
                        </a:rPr>
                        <a:t>BUK Team</a:t>
                      </a:r>
                      <a:endParaRPr lang="en-US" sz="800" dirty="0"/>
                    </a:p>
                  </a:txBody>
                  <a:tcPr marL="91440" marR="91440" marT="45720" marB="45720" anchor="ctr">
                    <a:lnL w="6350" cap="flat" cmpd="sng" algn="ctr">
                      <a:solidFill>
                        <a:srgbClr val="E8EDF6"/>
                      </a:solidFill>
                      <a:prstDash val="solid"/>
                      <a:round/>
                      <a:headEnd type="none" w="med" len="med"/>
                      <a:tailEnd type="none" w="med" len="med"/>
                    </a:lnL>
                    <a:lnR w="6350" cap="flat" cmpd="sng" algn="ctr">
                      <a:solidFill>
                        <a:srgbClr val="E8EDF6"/>
                      </a:solidFill>
                      <a:prstDash val="solid"/>
                      <a:round/>
                      <a:headEnd type="none" w="med" len="med"/>
                      <a:tailEnd type="none" w="med" len="med"/>
                    </a:lnR>
                    <a:lnT w="6350" cap="flat" cmpd="sng" algn="ctr">
                      <a:solidFill>
                        <a:srgbClr val="E8EDF6"/>
                      </a:solidFill>
                      <a:prstDash val="solid"/>
                      <a:round/>
                      <a:headEnd type="none" w="med" len="med"/>
                      <a:tailEnd type="none" w="med" len="med"/>
                    </a:lnT>
                    <a:lnB w="6350" cap="flat" cmpd="sng" algn="ctr">
                      <a:solidFill>
                        <a:srgbClr val="E8EDF6"/>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1A2340"/>
                          </a:solidFill>
                        </a:rPr>
                        <a:t>Full</a:t>
                      </a:r>
                      <a:endParaRPr lang="en-US" sz="800" dirty="0"/>
                    </a:p>
                  </a:txBody>
                  <a:tcPr marL="91440" marR="91440" marT="45720" marB="45720" anchor="ctr">
                    <a:lnL w="6350" cap="flat" cmpd="sng" algn="ctr">
                      <a:solidFill>
                        <a:srgbClr val="E8EDF6"/>
                      </a:solidFill>
                      <a:prstDash val="solid"/>
                      <a:round/>
                      <a:headEnd type="none" w="med" len="med"/>
                      <a:tailEnd type="none" w="med" len="med"/>
                    </a:lnL>
                    <a:lnR w="6350" cap="flat" cmpd="sng" algn="ctr">
                      <a:solidFill>
                        <a:srgbClr val="E8EDF6"/>
                      </a:solidFill>
                      <a:prstDash val="solid"/>
                      <a:round/>
                      <a:headEnd type="none" w="med" len="med"/>
                      <a:tailEnd type="none" w="med" len="med"/>
                    </a:lnR>
                    <a:lnT w="6350" cap="flat" cmpd="sng" algn="ctr">
                      <a:solidFill>
                        <a:srgbClr val="E8EDF6"/>
                      </a:solidFill>
                      <a:prstDash val="solid"/>
                      <a:round/>
                      <a:headEnd type="none" w="med" len="med"/>
                      <a:tailEnd type="none" w="med" len="med"/>
                    </a:lnT>
                    <a:lnB w="6350" cap="flat" cmpd="sng" algn="ctr">
                      <a:solidFill>
                        <a:srgbClr val="E8EDF6"/>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1A2340"/>
                          </a:solidFill>
                        </a:rPr>
                        <a:t>No</a:t>
                      </a:r>
                      <a:endParaRPr lang="en-US" sz="800" dirty="0"/>
                    </a:p>
                  </a:txBody>
                  <a:tcPr marL="91440" marR="91440" marT="45720" marB="45720" anchor="ctr">
                    <a:lnL w="6350" cap="flat" cmpd="sng" algn="ctr">
                      <a:solidFill>
                        <a:srgbClr val="E8EDF6"/>
                      </a:solidFill>
                      <a:prstDash val="solid"/>
                      <a:round/>
                      <a:headEnd type="none" w="med" len="med"/>
                      <a:tailEnd type="none" w="med" len="med"/>
                    </a:lnL>
                    <a:lnR w="6350" cap="flat" cmpd="sng" algn="ctr">
                      <a:solidFill>
                        <a:srgbClr val="E8EDF6"/>
                      </a:solidFill>
                      <a:prstDash val="solid"/>
                      <a:round/>
                      <a:headEnd type="none" w="med" len="med"/>
                      <a:tailEnd type="none" w="med" len="med"/>
                    </a:lnR>
                    <a:lnT w="6350" cap="flat" cmpd="sng" algn="ctr">
                      <a:solidFill>
                        <a:srgbClr val="E8EDF6"/>
                      </a:solidFill>
                      <a:prstDash val="solid"/>
                      <a:round/>
                      <a:headEnd type="none" w="med" len="med"/>
                      <a:tailEnd type="none" w="med" len="med"/>
                    </a:lnT>
                    <a:lnB w="6350" cap="flat" cmpd="sng" algn="ctr">
                      <a:solidFill>
                        <a:srgbClr val="E8EDF6"/>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1A2340"/>
                          </a:solidFill>
                        </a:rPr>
                        <a:t>No</a:t>
                      </a:r>
                      <a:endParaRPr lang="en-US" sz="800" dirty="0"/>
                    </a:p>
                  </a:txBody>
                  <a:tcPr marL="91440" marR="91440" marT="45720" marB="45720" anchor="ctr">
                    <a:lnL w="6350" cap="flat" cmpd="sng" algn="ctr">
                      <a:solidFill>
                        <a:srgbClr val="E8EDF6"/>
                      </a:solidFill>
                      <a:prstDash val="solid"/>
                      <a:round/>
                      <a:headEnd type="none" w="med" len="med"/>
                      <a:tailEnd type="none" w="med" len="med"/>
                    </a:lnL>
                    <a:lnR w="6350" cap="flat" cmpd="sng" algn="ctr">
                      <a:solidFill>
                        <a:srgbClr val="E8EDF6"/>
                      </a:solidFill>
                      <a:prstDash val="solid"/>
                      <a:round/>
                      <a:headEnd type="none" w="med" len="med"/>
                      <a:tailEnd type="none" w="med" len="med"/>
                    </a:lnR>
                    <a:lnT w="6350" cap="flat" cmpd="sng" algn="ctr">
                      <a:solidFill>
                        <a:srgbClr val="E8EDF6"/>
                      </a:solidFill>
                      <a:prstDash val="solid"/>
                      <a:round/>
                      <a:headEnd type="none" w="med" len="med"/>
                      <a:tailEnd type="none" w="med" len="med"/>
                    </a:lnT>
                    <a:lnB w="6350" cap="flat" cmpd="sng" algn="ctr">
                      <a:solidFill>
                        <a:srgbClr val="E8EDF6"/>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1A2340"/>
                          </a:solidFill>
                        </a:rPr>
                        <a:t>No</a:t>
                      </a:r>
                      <a:endParaRPr lang="en-US" sz="800" dirty="0"/>
                    </a:p>
                  </a:txBody>
                  <a:tcPr marL="91440" marR="91440" marT="45720" marB="45720" anchor="ctr">
                    <a:lnL w="6350" cap="flat" cmpd="sng" algn="ctr">
                      <a:solidFill>
                        <a:srgbClr val="E8EDF6"/>
                      </a:solidFill>
                      <a:prstDash val="solid"/>
                      <a:round/>
                      <a:headEnd type="none" w="med" len="med"/>
                      <a:tailEnd type="none" w="med" len="med"/>
                    </a:lnL>
                    <a:lnR w="6350" cap="flat" cmpd="sng" algn="ctr">
                      <a:solidFill>
                        <a:srgbClr val="E8EDF6"/>
                      </a:solidFill>
                      <a:prstDash val="solid"/>
                      <a:round/>
                      <a:headEnd type="none" w="med" len="med"/>
                      <a:tailEnd type="none" w="med" len="med"/>
                    </a:lnR>
                    <a:lnT w="6350" cap="flat" cmpd="sng" algn="ctr">
                      <a:solidFill>
                        <a:srgbClr val="E8EDF6"/>
                      </a:solidFill>
                      <a:prstDash val="solid"/>
                      <a:round/>
                      <a:headEnd type="none" w="med" len="med"/>
                      <a:tailEnd type="none" w="med" len="med"/>
                    </a:lnT>
                    <a:lnB w="6350" cap="flat" cmpd="sng" algn="ctr">
                      <a:solidFill>
                        <a:srgbClr val="E8EDF6"/>
                      </a:solidFill>
                      <a:prstDash val="solid"/>
                      <a:round/>
                      <a:headEnd type="none" w="med" len="med"/>
                      <a:tailEnd type="none" w="med" len="med"/>
                    </a:lnB>
                    <a:solidFill>
                      <a:srgbClr val="FFFFFF"/>
                    </a:solidFill>
                  </a:tcPr>
                </a:tc>
                <a:tc>
                  <a:txBody>
                    <a:bodyPr/>
                    <a:lstStyle/>
                    <a:p>
                      <a:pPr algn="ctr" indent="0" marL="0">
                        <a:buNone/>
                      </a:pPr>
                      <a:r>
                        <a:rPr lang="en-US" sz="800" b="1" dirty="0">
                          <a:solidFill>
                            <a:srgbClr val="27AE60"/>
                          </a:solidFill>
                        </a:rPr>
                        <a:t>Live</a:t>
                      </a:r>
                      <a:endParaRPr lang="en-US" sz="800" dirty="0"/>
                    </a:p>
                  </a:txBody>
                  <a:tcPr marL="91440" marR="91440" marT="45720" marB="45720" anchor="ctr">
                    <a:lnL w="6350" cap="flat" cmpd="sng" algn="ctr">
                      <a:solidFill>
                        <a:srgbClr val="E8EDF6"/>
                      </a:solidFill>
                      <a:prstDash val="solid"/>
                      <a:round/>
                      <a:headEnd type="none" w="med" len="med"/>
                      <a:tailEnd type="none" w="med" len="med"/>
                    </a:lnL>
                    <a:lnR w="6350" cap="flat" cmpd="sng" algn="ctr">
                      <a:solidFill>
                        <a:srgbClr val="E8EDF6"/>
                      </a:solidFill>
                      <a:prstDash val="solid"/>
                      <a:round/>
                      <a:headEnd type="none" w="med" len="med"/>
                      <a:tailEnd type="none" w="med" len="med"/>
                    </a:lnR>
                    <a:lnT w="6350" cap="flat" cmpd="sng" algn="ctr">
                      <a:solidFill>
                        <a:srgbClr val="E8EDF6"/>
                      </a:solidFill>
                      <a:prstDash val="solid"/>
                      <a:round/>
                      <a:headEnd type="none" w="med" len="med"/>
                      <a:tailEnd type="none" w="med" len="med"/>
                    </a:lnT>
                    <a:lnB w="6350" cap="flat" cmpd="sng" algn="ctr">
                      <a:solidFill>
                        <a:srgbClr val="E8EDF6"/>
                      </a:solidFill>
                      <a:prstDash val="solid"/>
                      <a:round/>
                      <a:headEnd type="none" w="med" len="med"/>
                      <a:tailEnd type="none" w="med" len="med"/>
                    </a:lnB>
                    <a:solidFill>
                      <a:srgbClr val="FFFFFF"/>
                    </a:solidFill>
                  </a:tcPr>
                </a:tc>
              </a:tr>
              <a:tr h="457200">
                <a:tc>
                  <a:txBody>
                    <a:bodyPr/>
                    <a:lstStyle/>
                    <a:p>
                      <a:pPr algn="ctr" indent="0" marL="0">
                        <a:buNone/>
                      </a:pPr>
                      <a:r>
                        <a:rPr lang="en-US" sz="800" b="1" dirty="0">
                          <a:solidFill>
                            <a:srgbClr val="1A2340"/>
                          </a:solidFill>
                        </a:rPr>
                        <a:t>4</a:t>
                      </a:r>
                      <a:endParaRPr lang="en-US" sz="800" dirty="0"/>
                    </a:p>
                  </a:txBody>
                  <a:tcPr marL="91440" marR="91440" marT="45720" marB="45720" anchor="ctr">
                    <a:lnL w="6350" cap="flat" cmpd="sng" algn="ctr">
                      <a:solidFill>
                        <a:srgbClr val="E8EDF6"/>
                      </a:solidFill>
                      <a:prstDash val="solid"/>
                      <a:round/>
                      <a:headEnd type="none" w="med" len="med"/>
                      <a:tailEnd type="none" w="med" len="med"/>
                    </a:lnL>
                    <a:lnR w="6350" cap="flat" cmpd="sng" algn="ctr">
                      <a:solidFill>
                        <a:srgbClr val="E8EDF6"/>
                      </a:solidFill>
                      <a:prstDash val="solid"/>
                      <a:round/>
                      <a:headEnd type="none" w="med" len="med"/>
                      <a:tailEnd type="none" w="med" len="med"/>
                    </a:lnR>
                    <a:lnT w="6350" cap="flat" cmpd="sng" algn="ctr">
                      <a:solidFill>
                        <a:srgbClr val="E8EDF6"/>
                      </a:solidFill>
                      <a:prstDash val="solid"/>
                      <a:round/>
                      <a:headEnd type="none" w="med" len="med"/>
                      <a:tailEnd type="none" w="med" len="med"/>
                    </a:lnT>
                    <a:lnB w="6350" cap="flat" cmpd="sng" algn="ctr">
                      <a:solidFill>
                        <a:srgbClr val="E8EDF6"/>
                      </a:solidFill>
                      <a:prstDash val="solid"/>
                      <a:round/>
                      <a:headEnd type="none" w="med" len="med"/>
                      <a:tailEnd type="none" w="med" len="med"/>
                    </a:lnB>
                    <a:solidFill>
                      <a:srgbClr val="E8EDF6"/>
                    </a:solidFill>
                  </a:tcPr>
                </a:tc>
                <a:tc>
                  <a:txBody>
                    <a:bodyPr/>
                    <a:lstStyle/>
                    <a:p>
                      <a:pPr algn="ctr" indent="0" marL="0">
                        <a:buNone/>
                      </a:pPr>
                      <a:r>
                        <a:rPr lang="en-US" sz="800" dirty="0">
                          <a:solidFill>
                            <a:srgbClr val="1A2340"/>
                          </a:solidFill>
                        </a:rPr>
                        <a:t>Survey Program Contributor</a:t>
                      </a:r>
                      <a:endParaRPr lang="en-US" sz="800" dirty="0"/>
                    </a:p>
                  </a:txBody>
                  <a:tcPr marL="91440" marR="91440" marT="45720" marB="45720" anchor="ctr">
                    <a:lnL w="6350" cap="flat" cmpd="sng" algn="ctr">
                      <a:solidFill>
                        <a:srgbClr val="E8EDF6"/>
                      </a:solidFill>
                      <a:prstDash val="solid"/>
                      <a:round/>
                      <a:headEnd type="none" w="med" len="med"/>
                      <a:tailEnd type="none" w="med" len="med"/>
                    </a:lnL>
                    <a:lnR w="6350" cap="flat" cmpd="sng" algn="ctr">
                      <a:solidFill>
                        <a:srgbClr val="E8EDF6"/>
                      </a:solidFill>
                      <a:prstDash val="solid"/>
                      <a:round/>
                      <a:headEnd type="none" w="med" len="med"/>
                      <a:tailEnd type="none" w="med" len="med"/>
                    </a:lnR>
                    <a:lnT w="6350" cap="flat" cmpd="sng" algn="ctr">
                      <a:solidFill>
                        <a:srgbClr val="E8EDF6"/>
                      </a:solidFill>
                      <a:prstDash val="solid"/>
                      <a:round/>
                      <a:headEnd type="none" w="med" len="med"/>
                      <a:tailEnd type="none" w="med" len="med"/>
                    </a:lnT>
                    <a:lnB w="6350" cap="flat" cmpd="sng" algn="ctr">
                      <a:solidFill>
                        <a:srgbClr val="E8EDF6"/>
                      </a:solidFill>
                      <a:prstDash val="solid"/>
                      <a:round/>
                      <a:headEnd type="none" w="med" len="med"/>
                      <a:tailEnd type="none" w="med" len="med"/>
                    </a:lnB>
                    <a:solidFill>
                      <a:srgbClr val="E8EDF6"/>
                    </a:solidFill>
                  </a:tcPr>
                </a:tc>
                <a:tc>
                  <a:txBody>
                    <a:bodyPr/>
                    <a:lstStyle/>
                    <a:p>
                      <a:pPr algn="ctr" indent="0" marL="0">
                        <a:buNone/>
                      </a:pPr>
                      <a:r>
                        <a:rPr lang="en-US" sz="800" dirty="0">
                          <a:solidFill>
                            <a:srgbClr val="1A2340"/>
                          </a:solidFill>
                        </a:rPr>
                        <a:t>BIA &amp; CSO Teams</a:t>
                      </a:r>
                      <a:endParaRPr lang="en-US" sz="800" dirty="0"/>
                    </a:p>
                  </a:txBody>
                  <a:tcPr marL="91440" marR="91440" marT="45720" marB="45720" anchor="ctr">
                    <a:lnL w="6350" cap="flat" cmpd="sng" algn="ctr">
                      <a:solidFill>
                        <a:srgbClr val="E8EDF6"/>
                      </a:solidFill>
                      <a:prstDash val="solid"/>
                      <a:round/>
                      <a:headEnd type="none" w="med" len="med"/>
                      <a:tailEnd type="none" w="med" len="med"/>
                    </a:lnL>
                    <a:lnR w="6350" cap="flat" cmpd="sng" algn="ctr">
                      <a:solidFill>
                        <a:srgbClr val="E8EDF6"/>
                      </a:solidFill>
                      <a:prstDash val="solid"/>
                      <a:round/>
                      <a:headEnd type="none" w="med" len="med"/>
                      <a:tailEnd type="none" w="med" len="med"/>
                    </a:lnR>
                    <a:lnT w="6350" cap="flat" cmpd="sng" algn="ctr">
                      <a:solidFill>
                        <a:srgbClr val="E8EDF6"/>
                      </a:solidFill>
                      <a:prstDash val="solid"/>
                      <a:round/>
                      <a:headEnd type="none" w="med" len="med"/>
                      <a:tailEnd type="none" w="med" len="med"/>
                    </a:lnT>
                    <a:lnB w="6350" cap="flat" cmpd="sng" algn="ctr">
                      <a:solidFill>
                        <a:srgbClr val="E8EDF6"/>
                      </a:solidFill>
                      <a:prstDash val="solid"/>
                      <a:round/>
                      <a:headEnd type="none" w="med" len="med"/>
                      <a:tailEnd type="none" w="med" len="med"/>
                    </a:lnB>
                    <a:solidFill>
                      <a:srgbClr val="E8EDF6"/>
                    </a:solidFill>
                  </a:tcPr>
                </a:tc>
                <a:tc>
                  <a:txBody>
                    <a:bodyPr/>
                    <a:lstStyle/>
                    <a:p>
                      <a:pPr algn="ctr" indent="0" marL="0">
                        <a:buNone/>
                      </a:pPr>
                      <a:r>
                        <a:rPr lang="en-US" sz="800" dirty="0">
                          <a:solidFill>
                            <a:srgbClr val="1A2340"/>
                          </a:solidFill>
                        </a:rPr>
                        <a:t>Edit only</a:t>
                      </a:r>
                      <a:endParaRPr lang="en-US" sz="800" dirty="0"/>
                    </a:p>
                  </a:txBody>
                  <a:tcPr marL="91440" marR="91440" marT="45720" marB="45720" anchor="ctr">
                    <a:lnL w="6350" cap="flat" cmpd="sng" algn="ctr">
                      <a:solidFill>
                        <a:srgbClr val="E8EDF6"/>
                      </a:solidFill>
                      <a:prstDash val="solid"/>
                      <a:round/>
                      <a:headEnd type="none" w="med" len="med"/>
                      <a:tailEnd type="none" w="med" len="med"/>
                    </a:lnL>
                    <a:lnR w="6350" cap="flat" cmpd="sng" algn="ctr">
                      <a:solidFill>
                        <a:srgbClr val="E8EDF6"/>
                      </a:solidFill>
                      <a:prstDash val="solid"/>
                      <a:round/>
                      <a:headEnd type="none" w="med" len="med"/>
                      <a:tailEnd type="none" w="med" len="med"/>
                    </a:lnR>
                    <a:lnT w="6350" cap="flat" cmpd="sng" algn="ctr">
                      <a:solidFill>
                        <a:srgbClr val="E8EDF6"/>
                      </a:solidFill>
                      <a:prstDash val="solid"/>
                      <a:round/>
                      <a:headEnd type="none" w="med" len="med"/>
                      <a:tailEnd type="none" w="med" len="med"/>
                    </a:lnT>
                    <a:lnB w="6350" cap="flat" cmpd="sng" algn="ctr">
                      <a:solidFill>
                        <a:srgbClr val="E8EDF6"/>
                      </a:solidFill>
                      <a:prstDash val="solid"/>
                      <a:round/>
                      <a:headEnd type="none" w="med" len="med"/>
                      <a:tailEnd type="none" w="med" len="med"/>
                    </a:lnB>
                    <a:solidFill>
                      <a:srgbClr val="E8EDF6"/>
                    </a:solidFill>
                  </a:tcPr>
                </a:tc>
                <a:tc>
                  <a:txBody>
                    <a:bodyPr/>
                    <a:lstStyle/>
                    <a:p>
                      <a:pPr algn="ctr" indent="0" marL="0">
                        <a:buNone/>
                      </a:pPr>
                      <a:r>
                        <a:rPr lang="en-US" sz="800" dirty="0">
                          <a:solidFill>
                            <a:srgbClr val="1A2340"/>
                          </a:solidFill>
                        </a:rPr>
                        <a:t>No</a:t>
                      </a:r>
                      <a:endParaRPr lang="en-US" sz="800" dirty="0"/>
                    </a:p>
                  </a:txBody>
                  <a:tcPr marL="91440" marR="91440" marT="45720" marB="45720" anchor="ctr">
                    <a:lnL w="6350" cap="flat" cmpd="sng" algn="ctr">
                      <a:solidFill>
                        <a:srgbClr val="E8EDF6"/>
                      </a:solidFill>
                      <a:prstDash val="solid"/>
                      <a:round/>
                      <a:headEnd type="none" w="med" len="med"/>
                      <a:tailEnd type="none" w="med" len="med"/>
                    </a:lnL>
                    <a:lnR w="6350" cap="flat" cmpd="sng" algn="ctr">
                      <a:solidFill>
                        <a:srgbClr val="E8EDF6"/>
                      </a:solidFill>
                      <a:prstDash val="solid"/>
                      <a:round/>
                      <a:headEnd type="none" w="med" len="med"/>
                      <a:tailEnd type="none" w="med" len="med"/>
                    </a:lnR>
                    <a:lnT w="6350" cap="flat" cmpd="sng" algn="ctr">
                      <a:solidFill>
                        <a:srgbClr val="E8EDF6"/>
                      </a:solidFill>
                      <a:prstDash val="solid"/>
                      <a:round/>
                      <a:headEnd type="none" w="med" len="med"/>
                      <a:tailEnd type="none" w="med" len="med"/>
                    </a:lnT>
                    <a:lnB w="6350" cap="flat" cmpd="sng" algn="ctr">
                      <a:solidFill>
                        <a:srgbClr val="E8EDF6"/>
                      </a:solidFill>
                      <a:prstDash val="solid"/>
                      <a:round/>
                      <a:headEnd type="none" w="med" len="med"/>
                      <a:tailEnd type="none" w="med" len="med"/>
                    </a:lnB>
                    <a:solidFill>
                      <a:srgbClr val="E8EDF6"/>
                    </a:solidFill>
                  </a:tcPr>
                </a:tc>
                <a:tc>
                  <a:txBody>
                    <a:bodyPr/>
                    <a:lstStyle/>
                    <a:p>
                      <a:pPr algn="ctr" indent="0" marL="0">
                        <a:buNone/>
                      </a:pPr>
                      <a:r>
                        <a:rPr lang="en-US" sz="800" dirty="0">
                          <a:solidFill>
                            <a:srgbClr val="1A2340"/>
                          </a:solidFill>
                        </a:rPr>
                        <a:t>No</a:t>
                      </a:r>
                      <a:endParaRPr lang="en-US" sz="800" dirty="0"/>
                    </a:p>
                  </a:txBody>
                  <a:tcPr marL="91440" marR="91440" marT="45720" marB="45720" anchor="ctr">
                    <a:lnL w="6350" cap="flat" cmpd="sng" algn="ctr">
                      <a:solidFill>
                        <a:srgbClr val="E8EDF6"/>
                      </a:solidFill>
                      <a:prstDash val="solid"/>
                      <a:round/>
                      <a:headEnd type="none" w="med" len="med"/>
                      <a:tailEnd type="none" w="med" len="med"/>
                    </a:lnL>
                    <a:lnR w="6350" cap="flat" cmpd="sng" algn="ctr">
                      <a:solidFill>
                        <a:srgbClr val="E8EDF6"/>
                      </a:solidFill>
                      <a:prstDash val="solid"/>
                      <a:round/>
                      <a:headEnd type="none" w="med" len="med"/>
                      <a:tailEnd type="none" w="med" len="med"/>
                    </a:lnR>
                    <a:lnT w="6350" cap="flat" cmpd="sng" algn="ctr">
                      <a:solidFill>
                        <a:srgbClr val="E8EDF6"/>
                      </a:solidFill>
                      <a:prstDash val="solid"/>
                      <a:round/>
                      <a:headEnd type="none" w="med" len="med"/>
                      <a:tailEnd type="none" w="med" len="med"/>
                    </a:lnT>
                    <a:lnB w="6350" cap="flat" cmpd="sng" algn="ctr">
                      <a:solidFill>
                        <a:srgbClr val="E8EDF6"/>
                      </a:solidFill>
                      <a:prstDash val="solid"/>
                      <a:round/>
                      <a:headEnd type="none" w="med" len="med"/>
                      <a:tailEnd type="none" w="med" len="med"/>
                    </a:lnB>
                    <a:solidFill>
                      <a:srgbClr val="E8EDF6"/>
                    </a:solidFill>
                  </a:tcPr>
                </a:tc>
                <a:tc>
                  <a:txBody>
                    <a:bodyPr/>
                    <a:lstStyle/>
                    <a:p>
                      <a:pPr algn="ctr" indent="0" marL="0">
                        <a:buNone/>
                      </a:pPr>
                      <a:r>
                        <a:rPr lang="en-US" sz="800" dirty="0">
                          <a:solidFill>
                            <a:srgbClr val="1A2340"/>
                          </a:solidFill>
                        </a:rPr>
                        <a:t>No</a:t>
                      </a:r>
                      <a:endParaRPr lang="en-US" sz="800" dirty="0"/>
                    </a:p>
                  </a:txBody>
                  <a:tcPr marL="91440" marR="91440" marT="45720" marB="45720" anchor="ctr">
                    <a:lnL w="6350" cap="flat" cmpd="sng" algn="ctr">
                      <a:solidFill>
                        <a:srgbClr val="E8EDF6"/>
                      </a:solidFill>
                      <a:prstDash val="solid"/>
                      <a:round/>
                      <a:headEnd type="none" w="med" len="med"/>
                      <a:tailEnd type="none" w="med" len="med"/>
                    </a:lnL>
                    <a:lnR w="6350" cap="flat" cmpd="sng" algn="ctr">
                      <a:solidFill>
                        <a:srgbClr val="E8EDF6"/>
                      </a:solidFill>
                      <a:prstDash val="solid"/>
                      <a:round/>
                      <a:headEnd type="none" w="med" len="med"/>
                      <a:tailEnd type="none" w="med" len="med"/>
                    </a:lnR>
                    <a:lnT w="6350" cap="flat" cmpd="sng" algn="ctr">
                      <a:solidFill>
                        <a:srgbClr val="E8EDF6"/>
                      </a:solidFill>
                      <a:prstDash val="solid"/>
                      <a:round/>
                      <a:headEnd type="none" w="med" len="med"/>
                      <a:tailEnd type="none" w="med" len="med"/>
                    </a:lnT>
                    <a:lnB w="6350" cap="flat" cmpd="sng" algn="ctr">
                      <a:solidFill>
                        <a:srgbClr val="E8EDF6"/>
                      </a:solidFill>
                      <a:prstDash val="solid"/>
                      <a:round/>
                      <a:headEnd type="none" w="med" len="med"/>
                      <a:tailEnd type="none" w="med" len="med"/>
                    </a:lnB>
                    <a:solidFill>
                      <a:srgbClr val="E8EDF6"/>
                    </a:solidFill>
                  </a:tcPr>
                </a:tc>
                <a:tc>
                  <a:txBody>
                    <a:bodyPr/>
                    <a:lstStyle/>
                    <a:p>
                      <a:pPr algn="ctr" indent="0" marL="0">
                        <a:buNone/>
                      </a:pPr>
                      <a:r>
                        <a:rPr lang="en-US" sz="800" b="1" dirty="0">
                          <a:solidFill>
                            <a:srgbClr val="27AE60"/>
                          </a:solidFill>
                        </a:rPr>
                        <a:t>Live</a:t>
                      </a:r>
                      <a:endParaRPr lang="en-US" sz="800" dirty="0"/>
                    </a:p>
                  </a:txBody>
                  <a:tcPr marL="91440" marR="91440" marT="45720" marB="45720" anchor="ctr">
                    <a:lnL w="6350" cap="flat" cmpd="sng" algn="ctr">
                      <a:solidFill>
                        <a:srgbClr val="E8EDF6"/>
                      </a:solidFill>
                      <a:prstDash val="solid"/>
                      <a:round/>
                      <a:headEnd type="none" w="med" len="med"/>
                      <a:tailEnd type="none" w="med" len="med"/>
                    </a:lnL>
                    <a:lnR w="6350" cap="flat" cmpd="sng" algn="ctr">
                      <a:solidFill>
                        <a:srgbClr val="E8EDF6"/>
                      </a:solidFill>
                      <a:prstDash val="solid"/>
                      <a:round/>
                      <a:headEnd type="none" w="med" len="med"/>
                      <a:tailEnd type="none" w="med" len="med"/>
                    </a:lnR>
                    <a:lnT w="6350" cap="flat" cmpd="sng" algn="ctr">
                      <a:solidFill>
                        <a:srgbClr val="E8EDF6"/>
                      </a:solidFill>
                      <a:prstDash val="solid"/>
                      <a:round/>
                      <a:headEnd type="none" w="med" len="med"/>
                      <a:tailEnd type="none" w="med" len="med"/>
                    </a:lnT>
                    <a:lnB w="6350" cap="flat" cmpd="sng" algn="ctr">
                      <a:solidFill>
                        <a:srgbClr val="E8EDF6"/>
                      </a:solidFill>
                      <a:prstDash val="solid"/>
                      <a:round/>
                      <a:headEnd type="none" w="med" len="med"/>
                      <a:tailEnd type="none" w="med" len="med"/>
                    </a:lnB>
                    <a:solidFill>
                      <a:srgbClr val="E8EDF6"/>
                    </a:solidFill>
                  </a:tcPr>
                </a:tc>
              </a:tr>
              <a:tr h="457200">
                <a:tc>
                  <a:txBody>
                    <a:bodyPr/>
                    <a:lstStyle/>
                    <a:p>
                      <a:pPr algn="ctr" indent="0" marL="0">
                        <a:buNone/>
                      </a:pPr>
                      <a:r>
                        <a:rPr lang="en-US" sz="800" b="1" dirty="0">
                          <a:solidFill>
                            <a:srgbClr val="1A2340"/>
                          </a:solidFill>
                        </a:rPr>
                        <a:t>5</a:t>
                      </a:r>
                      <a:endParaRPr lang="en-US" sz="800" dirty="0"/>
                    </a:p>
                  </a:txBody>
                  <a:tcPr marL="91440" marR="91440" marT="45720" marB="45720" anchor="ctr">
                    <a:lnL w="6350" cap="flat" cmpd="sng" algn="ctr">
                      <a:solidFill>
                        <a:srgbClr val="E8EDF6"/>
                      </a:solidFill>
                      <a:prstDash val="solid"/>
                      <a:round/>
                      <a:headEnd type="none" w="med" len="med"/>
                      <a:tailEnd type="none" w="med" len="med"/>
                    </a:lnL>
                    <a:lnR w="6350" cap="flat" cmpd="sng" algn="ctr">
                      <a:solidFill>
                        <a:srgbClr val="E8EDF6"/>
                      </a:solidFill>
                      <a:prstDash val="solid"/>
                      <a:round/>
                      <a:headEnd type="none" w="med" len="med"/>
                      <a:tailEnd type="none" w="med" len="med"/>
                    </a:lnR>
                    <a:lnT w="6350" cap="flat" cmpd="sng" algn="ctr">
                      <a:solidFill>
                        <a:srgbClr val="E8EDF6"/>
                      </a:solidFill>
                      <a:prstDash val="solid"/>
                      <a:round/>
                      <a:headEnd type="none" w="med" len="med"/>
                      <a:tailEnd type="none" w="med" len="med"/>
                    </a:lnT>
                    <a:lnB w="6350" cap="flat" cmpd="sng" algn="ctr">
                      <a:solidFill>
                        <a:srgbClr val="E8EDF6"/>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1A2340"/>
                          </a:solidFill>
                        </a:rPr>
                        <a:t>Advanced Analytics</a:t>
                      </a:r>
                      <a:endParaRPr lang="en-US" sz="800" dirty="0"/>
                    </a:p>
                  </a:txBody>
                  <a:tcPr marL="91440" marR="91440" marT="45720" marB="45720" anchor="ctr">
                    <a:lnL w="6350" cap="flat" cmpd="sng" algn="ctr">
                      <a:solidFill>
                        <a:srgbClr val="E8EDF6"/>
                      </a:solidFill>
                      <a:prstDash val="solid"/>
                      <a:round/>
                      <a:headEnd type="none" w="med" len="med"/>
                      <a:tailEnd type="none" w="med" len="med"/>
                    </a:lnL>
                    <a:lnR w="6350" cap="flat" cmpd="sng" algn="ctr">
                      <a:solidFill>
                        <a:srgbClr val="E8EDF6"/>
                      </a:solidFill>
                      <a:prstDash val="solid"/>
                      <a:round/>
                      <a:headEnd type="none" w="med" len="med"/>
                      <a:tailEnd type="none" w="med" len="med"/>
                    </a:lnR>
                    <a:lnT w="6350" cap="flat" cmpd="sng" algn="ctr">
                      <a:solidFill>
                        <a:srgbClr val="E8EDF6"/>
                      </a:solidFill>
                      <a:prstDash val="solid"/>
                      <a:round/>
                      <a:headEnd type="none" w="med" len="med"/>
                      <a:tailEnd type="none" w="med" len="med"/>
                    </a:lnT>
                    <a:lnB w="6350" cap="flat" cmpd="sng" algn="ctr">
                      <a:solidFill>
                        <a:srgbClr val="E8EDF6"/>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1A2340"/>
                          </a:solidFill>
                        </a:rPr>
                        <a:t>Data &amp; OB Science Team</a:t>
                      </a:r>
                      <a:endParaRPr lang="en-US" sz="800" dirty="0"/>
                    </a:p>
                  </a:txBody>
                  <a:tcPr marL="91440" marR="91440" marT="45720" marB="45720" anchor="ctr">
                    <a:lnL w="6350" cap="flat" cmpd="sng" algn="ctr">
                      <a:solidFill>
                        <a:srgbClr val="E8EDF6"/>
                      </a:solidFill>
                      <a:prstDash val="solid"/>
                      <a:round/>
                      <a:headEnd type="none" w="med" len="med"/>
                      <a:tailEnd type="none" w="med" len="med"/>
                    </a:lnL>
                    <a:lnR w="6350" cap="flat" cmpd="sng" algn="ctr">
                      <a:solidFill>
                        <a:srgbClr val="E8EDF6"/>
                      </a:solidFill>
                      <a:prstDash val="solid"/>
                      <a:round/>
                      <a:headEnd type="none" w="med" len="med"/>
                      <a:tailEnd type="none" w="med" len="med"/>
                    </a:lnR>
                    <a:lnT w="6350" cap="flat" cmpd="sng" algn="ctr">
                      <a:solidFill>
                        <a:srgbClr val="E8EDF6"/>
                      </a:solidFill>
                      <a:prstDash val="solid"/>
                      <a:round/>
                      <a:headEnd type="none" w="med" len="med"/>
                      <a:tailEnd type="none" w="med" len="med"/>
                    </a:lnT>
                    <a:lnB w="6350" cap="flat" cmpd="sng" algn="ctr">
                      <a:solidFill>
                        <a:srgbClr val="E8EDF6"/>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1A2340"/>
                          </a:solidFill>
                        </a:rPr>
                        <a:t>No</a:t>
                      </a:r>
                      <a:endParaRPr lang="en-US" sz="800" dirty="0"/>
                    </a:p>
                  </a:txBody>
                  <a:tcPr marL="91440" marR="91440" marT="45720" marB="45720" anchor="ctr">
                    <a:lnL w="6350" cap="flat" cmpd="sng" algn="ctr">
                      <a:solidFill>
                        <a:srgbClr val="E8EDF6"/>
                      </a:solidFill>
                      <a:prstDash val="solid"/>
                      <a:round/>
                      <a:headEnd type="none" w="med" len="med"/>
                      <a:tailEnd type="none" w="med" len="med"/>
                    </a:lnL>
                    <a:lnR w="6350" cap="flat" cmpd="sng" algn="ctr">
                      <a:solidFill>
                        <a:srgbClr val="E8EDF6"/>
                      </a:solidFill>
                      <a:prstDash val="solid"/>
                      <a:round/>
                      <a:headEnd type="none" w="med" len="med"/>
                      <a:tailEnd type="none" w="med" len="med"/>
                    </a:lnR>
                    <a:lnT w="6350" cap="flat" cmpd="sng" algn="ctr">
                      <a:solidFill>
                        <a:srgbClr val="E8EDF6"/>
                      </a:solidFill>
                      <a:prstDash val="solid"/>
                      <a:round/>
                      <a:headEnd type="none" w="med" len="med"/>
                      <a:tailEnd type="none" w="med" len="med"/>
                    </a:lnT>
                    <a:lnB w="6350" cap="flat" cmpd="sng" algn="ctr">
                      <a:solidFill>
                        <a:srgbClr val="E8EDF6"/>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1A2340"/>
                          </a:solidFill>
                        </a:rPr>
                        <a:t>No</a:t>
                      </a:r>
                      <a:endParaRPr lang="en-US" sz="800" dirty="0"/>
                    </a:p>
                  </a:txBody>
                  <a:tcPr marL="91440" marR="91440" marT="45720" marB="45720" anchor="ctr">
                    <a:lnL w="6350" cap="flat" cmpd="sng" algn="ctr">
                      <a:solidFill>
                        <a:srgbClr val="E8EDF6"/>
                      </a:solidFill>
                      <a:prstDash val="solid"/>
                      <a:round/>
                      <a:headEnd type="none" w="med" len="med"/>
                      <a:tailEnd type="none" w="med" len="med"/>
                    </a:lnL>
                    <a:lnR w="6350" cap="flat" cmpd="sng" algn="ctr">
                      <a:solidFill>
                        <a:srgbClr val="E8EDF6"/>
                      </a:solidFill>
                      <a:prstDash val="solid"/>
                      <a:round/>
                      <a:headEnd type="none" w="med" len="med"/>
                      <a:tailEnd type="none" w="med" len="med"/>
                    </a:lnR>
                    <a:lnT w="6350" cap="flat" cmpd="sng" algn="ctr">
                      <a:solidFill>
                        <a:srgbClr val="E8EDF6"/>
                      </a:solidFill>
                      <a:prstDash val="solid"/>
                      <a:round/>
                      <a:headEnd type="none" w="med" len="med"/>
                      <a:tailEnd type="none" w="med" len="med"/>
                    </a:lnT>
                    <a:lnB w="6350" cap="flat" cmpd="sng" algn="ctr">
                      <a:solidFill>
                        <a:srgbClr val="E8EDF6"/>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1A2340"/>
                          </a:solidFill>
                        </a:rPr>
                        <a:t>No</a:t>
                      </a:r>
                      <a:endParaRPr lang="en-US" sz="800" dirty="0"/>
                    </a:p>
                  </a:txBody>
                  <a:tcPr marL="91440" marR="91440" marT="45720" marB="45720" anchor="ctr">
                    <a:lnL w="6350" cap="flat" cmpd="sng" algn="ctr">
                      <a:solidFill>
                        <a:srgbClr val="E8EDF6"/>
                      </a:solidFill>
                      <a:prstDash val="solid"/>
                      <a:round/>
                      <a:headEnd type="none" w="med" len="med"/>
                      <a:tailEnd type="none" w="med" len="med"/>
                    </a:lnL>
                    <a:lnR w="6350" cap="flat" cmpd="sng" algn="ctr">
                      <a:solidFill>
                        <a:srgbClr val="E8EDF6"/>
                      </a:solidFill>
                      <a:prstDash val="solid"/>
                      <a:round/>
                      <a:headEnd type="none" w="med" len="med"/>
                      <a:tailEnd type="none" w="med" len="med"/>
                    </a:lnR>
                    <a:lnT w="6350" cap="flat" cmpd="sng" algn="ctr">
                      <a:solidFill>
                        <a:srgbClr val="E8EDF6"/>
                      </a:solidFill>
                      <a:prstDash val="solid"/>
                      <a:round/>
                      <a:headEnd type="none" w="med" len="med"/>
                      <a:tailEnd type="none" w="med" len="med"/>
                    </a:lnT>
                    <a:lnB w="6350" cap="flat" cmpd="sng" algn="ctr">
                      <a:solidFill>
                        <a:srgbClr val="E8EDF6"/>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1A2340"/>
                          </a:solidFill>
                        </a:rPr>
                        <a:t>No</a:t>
                      </a:r>
                      <a:endParaRPr lang="en-US" sz="800" dirty="0"/>
                    </a:p>
                  </a:txBody>
                  <a:tcPr marL="91440" marR="91440" marT="45720" marB="45720" anchor="ctr">
                    <a:lnL w="6350" cap="flat" cmpd="sng" algn="ctr">
                      <a:solidFill>
                        <a:srgbClr val="E8EDF6"/>
                      </a:solidFill>
                      <a:prstDash val="solid"/>
                      <a:round/>
                      <a:headEnd type="none" w="med" len="med"/>
                      <a:tailEnd type="none" w="med" len="med"/>
                    </a:lnL>
                    <a:lnR w="6350" cap="flat" cmpd="sng" algn="ctr">
                      <a:solidFill>
                        <a:srgbClr val="E8EDF6"/>
                      </a:solidFill>
                      <a:prstDash val="solid"/>
                      <a:round/>
                      <a:headEnd type="none" w="med" len="med"/>
                      <a:tailEnd type="none" w="med" len="med"/>
                    </a:lnR>
                    <a:lnT w="6350" cap="flat" cmpd="sng" algn="ctr">
                      <a:solidFill>
                        <a:srgbClr val="E8EDF6"/>
                      </a:solidFill>
                      <a:prstDash val="solid"/>
                      <a:round/>
                      <a:headEnd type="none" w="med" len="med"/>
                      <a:tailEnd type="none" w="med" len="med"/>
                    </a:lnT>
                    <a:lnB w="6350" cap="flat" cmpd="sng" algn="ctr">
                      <a:solidFill>
                        <a:srgbClr val="E8EDF6"/>
                      </a:solidFill>
                      <a:prstDash val="solid"/>
                      <a:round/>
                      <a:headEnd type="none" w="med" len="med"/>
                      <a:tailEnd type="none" w="med" len="med"/>
                    </a:lnB>
                    <a:solidFill>
                      <a:srgbClr val="FFFFFF"/>
                    </a:solidFill>
                  </a:tcPr>
                </a:tc>
                <a:tc>
                  <a:txBody>
                    <a:bodyPr/>
                    <a:lstStyle/>
                    <a:p>
                      <a:pPr algn="ctr" indent="0" marL="0">
                        <a:buNone/>
                      </a:pPr>
                      <a:r>
                        <a:rPr lang="en-US" sz="800" b="1" dirty="0">
                          <a:solidFill>
                            <a:srgbClr val="E67E22"/>
                          </a:solidFill>
                        </a:rPr>
                        <a:t>WIP</a:t>
                      </a:r>
                      <a:endParaRPr lang="en-US" sz="800" dirty="0"/>
                    </a:p>
                  </a:txBody>
                  <a:tcPr marL="91440" marR="91440" marT="45720" marB="45720" anchor="ctr">
                    <a:lnL w="6350" cap="flat" cmpd="sng" algn="ctr">
                      <a:solidFill>
                        <a:srgbClr val="E8EDF6"/>
                      </a:solidFill>
                      <a:prstDash val="solid"/>
                      <a:round/>
                      <a:headEnd type="none" w="med" len="med"/>
                      <a:tailEnd type="none" w="med" len="med"/>
                    </a:lnL>
                    <a:lnR w="6350" cap="flat" cmpd="sng" algn="ctr">
                      <a:solidFill>
                        <a:srgbClr val="E8EDF6"/>
                      </a:solidFill>
                      <a:prstDash val="solid"/>
                      <a:round/>
                      <a:headEnd type="none" w="med" len="med"/>
                      <a:tailEnd type="none" w="med" len="med"/>
                    </a:lnR>
                    <a:lnT w="6350" cap="flat" cmpd="sng" algn="ctr">
                      <a:solidFill>
                        <a:srgbClr val="E8EDF6"/>
                      </a:solidFill>
                      <a:prstDash val="solid"/>
                      <a:round/>
                      <a:headEnd type="none" w="med" len="med"/>
                      <a:tailEnd type="none" w="med" len="med"/>
                    </a:lnT>
                    <a:lnB w="6350" cap="flat" cmpd="sng" algn="ctr">
                      <a:solidFill>
                        <a:srgbClr val="E8EDF6"/>
                      </a:solidFill>
                      <a:prstDash val="solid"/>
                      <a:round/>
                      <a:headEnd type="none" w="med" len="med"/>
                      <a:tailEnd type="none" w="med" len="med"/>
                    </a:lnB>
                    <a:solidFill>
                      <a:srgbClr val="FFFFFF"/>
                    </a:solidFill>
                  </a:tcPr>
                </a:tc>
              </a:tr>
              <a:tr h="457200">
                <a:tc>
                  <a:txBody>
                    <a:bodyPr/>
                    <a:lstStyle/>
                    <a:p>
                      <a:pPr algn="ctr" indent="0" marL="0">
                        <a:buNone/>
                      </a:pPr>
                      <a:r>
                        <a:rPr lang="en-US" sz="800" b="1" dirty="0">
                          <a:solidFill>
                            <a:srgbClr val="1A2340"/>
                          </a:solidFill>
                        </a:rPr>
                        <a:t>6</a:t>
                      </a:r>
                      <a:endParaRPr lang="en-US" sz="800" dirty="0"/>
                    </a:p>
                  </a:txBody>
                  <a:tcPr marL="91440" marR="91440" marT="45720" marB="45720" anchor="ctr">
                    <a:lnL w="6350" cap="flat" cmpd="sng" algn="ctr">
                      <a:solidFill>
                        <a:srgbClr val="E8EDF6"/>
                      </a:solidFill>
                      <a:prstDash val="solid"/>
                      <a:round/>
                      <a:headEnd type="none" w="med" len="med"/>
                      <a:tailEnd type="none" w="med" len="med"/>
                    </a:lnL>
                    <a:lnR w="6350" cap="flat" cmpd="sng" algn="ctr">
                      <a:solidFill>
                        <a:srgbClr val="E8EDF6"/>
                      </a:solidFill>
                      <a:prstDash val="solid"/>
                      <a:round/>
                      <a:headEnd type="none" w="med" len="med"/>
                      <a:tailEnd type="none" w="med" len="med"/>
                    </a:lnR>
                    <a:lnT w="6350" cap="flat" cmpd="sng" algn="ctr">
                      <a:solidFill>
                        <a:srgbClr val="E8EDF6"/>
                      </a:solidFill>
                      <a:prstDash val="solid"/>
                      <a:round/>
                      <a:headEnd type="none" w="med" len="med"/>
                      <a:tailEnd type="none" w="med" len="med"/>
                    </a:lnT>
                    <a:lnB w="6350" cap="flat" cmpd="sng" algn="ctr">
                      <a:solidFill>
                        <a:srgbClr val="E8EDF6"/>
                      </a:solidFill>
                      <a:prstDash val="solid"/>
                      <a:round/>
                      <a:headEnd type="none" w="med" len="med"/>
                      <a:tailEnd type="none" w="med" len="med"/>
                    </a:lnB>
                    <a:solidFill>
                      <a:srgbClr val="FEF9F0"/>
                    </a:solidFill>
                  </a:tcPr>
                </a:tc>
                <a:tc>
                  <a:txBody>
                    <a:bodyPr/>
                    <a:lstStyle/>
                    <a:p>
                      <a:pPr algn="ctr" indent="0" marL="0">
                        <a:buNone/>
                      </a:pPr>
                      <a:r>
                        <a:rPr lang="en-US" sz="800" dirty="0">
                          <a:solidFill>
                            <a:srgbClr val="1A2340"/>
                          </a:solidFill>
                        </a:rPr>
                        <a:t>Survey Approver (linked *)</a:t>
                      </a:r>
                      <a:endParaRPr lang="en-US" sz="800" dirty="0"/>
                    </a:p>
                  </a:txBody>
                  <a:tcPr marL="91440" marR="91440" marT="45720" marB="45720" anchor="ctr">
                    <a:lnL w="6350" cap="flat" cmpd="sng" algn="ctr">
                      <a:solidFill>
                        <a:srgbClr val="E8EDF6"/>
                      </a:solidFill>
                      <a:prstDash val="solid"/>
                      <a:round/>
                      <a:headEnd type="none" w="med" len="med"/>
                      <a:tailEnd type="none" w="med" len="med"/>
                    </a:lnL>
                    <a:lnR w="6350" cap="flat" cmpd="sng" algn="ctr">
                      <a:solidFill>
                        <a:srgbClr val="E8EDF6"/>
                      </a:solidFill>
                      <a:prstDash val="solid"/>
                      <a:round/>
                      <a:headEnd type="none" w="med" len="med"/>
                      <a:tailEnd type="none" w="med" len="med"/>
                    </a:lnR>
                    <a:lnT w="6350" cap="flat" cmpd="sng" algn="ctr">
                      <a:solidFill>
                        <a:srgbClr val="E8EDF6"/>
                      </a:solidFill>
                      <a:prstDash val="solid"/>
                      <a:round/>
                      <a:headEnd type="none" w="med" len="med"/>
                      <a:tailEnd type="none" w="med" len="med"/>
                    </a:lnT>
                    <a:lnB w="6350" cap="flat" cmpd="sng" algn="ctr">
                      <a:solidFill>
                        <a:srgbClr val="E8EDF6"/>
                      </a:solidFill>
                      <a:prstDash val="solid"/>
                      <a:round/>
                      <a:headEnd type="none" w="med" len="med"/>
                      <a:tailEnd type="none" w="med" len="med"/>
                    </a:lnB>
                    <a:solidFill>
                      <a:srgbClr val="FEF9F0"/>
                    </a:solidFill>
                  </a:tcPr>
                </a:tc>
                <a:tc>
                  <a:txBody>
                    <a:bodyPr/>
                    <a:lstStyle/>
                    <a:p>
                      <a:pPr algn="ctr" indent="0" marL="0">
                        <a:buNone/>
                      </a:pPr>
                      <a:r>
                        <a:rPr lang="en-US" sz="800" dirty="0">
                          <a:solidFill>
                            <a:srgbClr val="1A2340"/>
                          </a:solidFill>
                        </a:rPr>
                        <a:t>Corporate Comms</a:t>
                      </a:r>
                      <a:endParaRPr lang="en-US" sz="800" dirty="0"/>
                    </a:p>
                  </a:txBody>
                  <a:tcPr marL="91440" marR="91440" marT="45720" marB="45720" anchor="ctr">
                    <a:lnL w="6350" cap="flat" cmpd="sng" algn="ctr">
                      <a:solidFill>
                        <a:srgbClr val="E8EDF6"/>
                      </a:solidFill>
                      <a:prstDash val="solid"/>
                      <a:round/>
                      <a:headEnd type="none" w="med" len="med"/>
                      <a:tailEnd type="none" w="med" len="med"/>
                    </a:lnL>
                    <a:lnR w="6350" cap="flat" cmpd="sng" algn="ctr">
                      <a:solidFill>
                        <a:srgbClr val="E8EDF6"/>
                      </a:solidFill>
                      <a:prstDash val="solid"/>
                      <a:round/>
                      <a:headEnd type="none" w="med" len="med"/>
                      <a:tailEnd type="none" w="med" len="med"/>
                    </a:lnR>
                    <a:lnT w="6350" cap="flat" cmpd="sng" algn="ctr">
                      <a:solidFill>
                        <a:srgbClr val="E8EDF6"/>
                      </a:solidFill>
                      <a:prstDash val="solid"/>
                      <a:round/>
                      <a:headEnd type="none" w="med" len="med"/>
                      <a:tailEnd type="none" w="med" len="med"/>
                    </a:lnT>
                    <a:lnB w="6350" cap="flat" cmpd="sng" algn="ctr">
                      <a:solidFill>
                        <a:srgbClr val="E8EDF6"/>
                      </a:solidFill>
                      <a:prstDash val="solid"/>
                      <a:round/>
                      <a:headEnd type="none" w="med" len="med"/>
                      <a:tailEnd type="none" w="med" len="med"/>
                    </a:lnB>
                    <a:solidFill>
                      <a:srgbClr val="FEF9F0"/>
                    </a:solidFill>
                  </a:tcPr>
                </a:tc>
                <a:tc>
                  <a:txBody>
                    <a:bodyPr/>
                    <a:lstStyle/>
                    <a:p>
                      <a:pPr algn="ctr" indent="0" marL="0">
                        <a:buNone/>
                      </a:pPr>
                      <a:r>
                        <a:rPr lang="en-US" sz="800" dirty="0">
                          <a:solidFill>
                            <a:srgbClr val="1A2340"/>
                          </a:solidFill>
                        </a:rPr>
                        <a:t>Approve only</a:t>
                      </a:r>
                      <a:endParaRPr lang="en-US" sz="800" dirty="0"/>
                    </a:p>
                  </a:txBody>
                  <a:tcPr marL="91440" marR="91440" marT="45720" marB="45720" anchor="ctr">
                    <a:lnL w="6350" cap="flat" cmpd="sng" algn="ctr">
                      <a:solidFill>
                        <a:srgbClr val="E8EDF6"/>
                      </a:solidFill>
                      <a:prstDash val="solid"/>
                      <a:round/>
                      <a:headEnd type="none" w="med" len="med"/>
                      <a:tailEnd type="none" w="med" len="med"/>
                    </a:lnL>
                    <a:lnR w="6350" cap="flat" cmpd="sng" algn="ctr">
                      <a:solidFill>
                        <a:srgbClr val="E8EDF6"/>
                      </a:solidFill>
                      <a:prstDash val="solid"/>
                      <a:round/>
                      <a:headEnd type="none" w="med" len="med"/>
                      <a:tailEnd type="none" w="med" len="med"/>
                    </a:lnR>
                    <a:lnT w="6350" cap="flat" cmpd="sng" algn="ctr">
                      <a:solidFill>
                        <a:srgbClr val="E8EDF6"/>
                      </a:solidFill>
                      <a:prstDash val="solid"/>
                      <a:round/>
                      <a:headEnd type="none" w="med" len="med"/>
                      <a:tailEnd type="none" w="med" len="med"/>
                    </a:lnT>
                    <a:lnB w="6350" cap="flat" cmpd="sng" algn="ctr">
                      <a:solidFill>
                        <a:srgbClr val="E8EDF6"/>
                      </a:solidFill>
                      <a:prstDash val="solid"/>
                      <a:round/>
                      <a:headEnd type="none" w="med" len="med"/>
                      <a:tailEnd type="none" w="med" len="med"/>
                    </a:lnB>
                    <a:solidFill>
                      <a:srgbClr val="FEF9F0"/>
                    </a:solidFill>
                  </a:tcPr>
                </a:tc>
                <a:tc>
                  <a:txBody>
                    <a:bodyPr/>
                    <a:lstStyle/>
                    <a:p>
                      <a:pPr algn="ctr" indent="0" marL="0">
                        <a:buNone/>
                      </a:pPr>
                      <a:r>
                        <a:rPr lang="en-US" sz="800" dirty="0">
                          <a:solidFill>
                            <a:srgbClr val="1A2340"/>
                          </a:solidFill>
                        </a:rPr>
                        <a:t>No</a:t>
                      </a:r>
                      <a:endParaRPr lang="en-US" sz="800" dirty="0"/>
                    </a:p>
                  </a:txBody>
                  <a:tcPr marL="91440" marR="91440" marT="45720" marB="45720" anchor="ctr">
                    <a:lnL w="6350" cap="flat" cmpd="sng" algn="ctr">
                      <a:solidFill>
                        <a:srgbClr val="E8EDF6"/>
                      </a:solidFill>
                      <a:prstDash val="solid"/>
                      <a:round/>
                      <a:headEnd type="none" w="med" len="med"/>
                      <a:tailEnd type="none" w="med" len="med"/>
                    </a:lnL>
                    <a:lnR w="6350" cap="flat" cmpd="sng" algn="ctr">
                      <a:solidFill>
                        <a:srgbClr val="E8EDF6"/>
                      </a:solidFill>
                      <a:prstDash val="solid"/>
                      <a:round/>
                      <a:headEnd type="none" w="med" len="med"/>
                      <a:tailEnd type="none" w="med" len="med"/>
                    </a:lnR>
                    <a:lnT w="6350" cap="flat" cmpd="sng" algn="ctr">
                      <a:solidFill>
                        <a:srgbClr val="E8EDF6"/>
                      </a:solidFill>
                      <a:prstDash val="solid"/>
                      <a:round/>
                      <a:headEnd type="none" w="med" len="med"/>
                      <a:tailEnd type="none" w="med" len="med"/>
                    </a:lnT>
                    <a:lnB w="6350" cap="flat" cmpd="sng" algn="ctr">
                      <a:solidFill>
                        <a:srgbClr val="E8EDF6"/>
                      </a:solidFill>
                      <a:prstDash val="solid"/>
                      <a:round/>
                      <a:headEnd type="none" w="med" len="med"/>
                      <a:tailEnd type="none" w="med" len="med"/>
                    </a:lnB>
                    <a:solidFill>
                      <a:srgbClr val="FEF9F0"/>
                    </a:solidFill>
                  </a:tcPr>
                </a:tc>
                <a:tc>
                  <a:txBody>
                    <a:bodyPr/>
                    <a:lstStyle/>
                    <a:p>
                      <a:pPr algn="ctr" indent="0" marL="0">
                        <a:buNone/>
                      </a:pPr>
                      <a:r>
                        <a:rPr lang="en-US" sz="800" dirty="0">
                          <a:solidFill>
                            <a:srgbClr val="1A2340"/>
                          </a:solidFill>
                        </a:rPr>
                        <a:t>No</a:t>
                      </a:r>
                      <a:endParaRPr lang="en-US" sz="800" dirty="0"/>
                    </a:p>
                  </a:txBody>
                  <a:tcPr marL="91440" marR="91440" marT="45720" marB="45720" anchor="ctr">
                    <a:lnL w="6350" cap="flat" cmpd="sng" algn="ctr">
                      <a:solidFill>
                        <a:srgbClr val="E8EDF6"/>
                      </a:solidFill>
                      <a:prstDash val="solid"/>
                      <a:round/>
                      <a:headEnd type="none" w="med" len="med"/>
                      <a:tailEnd type="none" w="med" len="med"/>
                    </a:lnL>
                    <a:lnR w="6350" cap="flat" cmpd="sng" algn="ctr">
                      <a:solidFill>
                        <a:srgbClr val="E8EDF6"/>
                      </a:solidFill>
                      <a:prstDash val="solid"/>
                      <a:round/>
                      <a:headEnd type="none" w="med" len="med"/>
                      <a:tailEnd type="none" w="med" len="med"/>
                    </a:lnR>
                    <a:lnT w="6350" cap="flat" cmpd="sng" algn="ctr">
                      <a:solidFill>
                        <a:srgbClr val="E8EDF6"/>
                      </a:solidFill>
                      <a:prstDash val="solid"/>
                      <a:round/>
                      <a:headEnd type="none" w="med" len="med"/>
                      <a:tailEnd type="none" w="med" len="med"/>
                    </a:lnT>
                    <a:lnB w="6350" cap="flat" cmpd="sng" algn="ctr">
                      <a:solidFill>
                        <a:srgbClr val="E8EDF6"/>
                      </a:solidFill>
                      <a:prstDash val="solid"/>
                      <a:round/>
                      <a:headEnd type="none" w="med" len="med"/>
                      <a:tailEnd type="none" w="med" len="med"/>
                    </a:lnB>
                    <a:solidFill>
                      <a:srgbClr val="FEF9F0"/>
                    </a:solidFill>
                  </a:tcPr>
                </a:tc>
                <a:tc>
                  <a:txBody>
                    <a:bodyPr/>
                    <a:lstStyle/>
                    <a:p>
                      <a:pPr algn="ctr" indent="0" marL="0">
                        <a:buNone/>
                      </a:pPr>
                      <a:r>
                        <a:rPr lang="en-US" sz="800" dirty="0">
                          <a:solidFill>
                            <a:srgbClr val="1A2340"/>
                          </a:solidFill>
                        </a:rPr>
                        <a:t>No</a:t>
                      </a:r>
                      <a:endParaRPr lang="en-US" sz="800" dirty="0"/>
                    </a:p>
                  </a:txBody>
                  <a:tcPr marL="91440" marR="91440" marT="45720" marB="45720" anchor="ctr">
                    <a:lnL w="6350" cap="flat" cmpd="sng" algn="ctr">
                      <a:solidFill>
                        <a:srgbClr val="E8EDF6"/>
                      </a:solidFill>
                      <a:prstDash val="solid"/>
                      <a:round/>
                      <a:headEnd type="none" w="med" len="med"/>
                      <a:tailEnd type="none" w="med" len="med"/>
                    </a:lnL>
                    <a:lnR w="6350" cap="flat" cmpd="sng" algn="ctr">
                      <a:solidFill>
                        <a:srgbClr val="E8EDF6"/>
                      </a:solidFill>
                      <a:prstDash val="solid"/>
                      <a:round/>
                      <a:headEnd type="none" w="med" len="med"/>
                      <a:tailEnd type="none" w="med" len="med"/>
                    </a:lnR>
                    <a:lnT w="6350" cap="flat" cmpd="sng" algn="ctr">
                      <a:solidFill>
                        <a:srgbClr val="E8EDF6"/>
                      </a:solidFill>
                      <a:prstDash val="solid"/>
                      <a:round/>
                      <a:headEnd type="none" w="med" len="med"/>
                      <a:tailEnd type="none" w="med" len="med"/>
                    </a:lnT>
                    <a:lnB w="6350" cap="flat" cmpd="sng" algn="ctr">
                      <a:solidFill>
                        <a:srgbClr val="E8EDF6"/>
                      </a:solidFill>
                      <a:prstDash val="solid"/>
                      <a:round/>
                      <a:headEnd type="none" w="med" len="med"/>
                      <a:tailEnd type="none" w="med" len="med"/>
                    </a:lnB>
                    <a:solidFill>
                      <a:srgbClr val="FEF9F0"/>
                    </a:solidFill>
                  </a:tcPr>
                </a:tc>
                <a:tc>
                  <a:txBody>
                    <a:bodyPr/>
                    <a:lstStyle/>
                    <a:p>
                      <a:pPr algn="ctr" indent="0" marL="0">
                        <a:buNone/>
                      </a:pPr>
                      <a:r>
                        <a:rPr lang="en-US" sz="800" b="1" dirty="0">
                          <a:solidFill>
                            <a:srgbClr val="E67E22"/>
                          </a:solidFill>
                        </a:rPr>
                        <a:t>WIP</a:t>
                      </a:r>
                      <a:endParaRPr lang="en-US" sz="800" dirty="0"/>
                    </a:p>
                  </a:txBody>
                  <a:tcPr marL="91440" marR="91440" marT="45720" marB="45720" anchor="ctr">
                    <a:lnL w="6350" cap="flat" cmpd="sng" algn="ctr">
                      <a:solidFill>
                        <a:srgbClr val="E8EDF6"/>
                      </a:solidFill>
                      <a:prstDash val="solid"/>
                      <a:round/>
                      <a:headEnd type="none" w="med" len="med"/>
                      <a:tailEnd type="none" w="med" len="med"/>
                    </a:lnL>
                    <a:lnR w="6350" cap="flat" cmpd="sng" algn="ctr">
                      <a:solidFill>
                        <a:srgbClr val="E8EDF6"/>
                      </a:solidFill>
                      <a:prstDash val="solid"/>
                      <a:round/>
                      <a:headEnd type="none" w="med" len="med"/>
                      <a:tailEnd type="none" w="med" len="med"/>
                    </a:lnR>
                    <a:lnT w="6350" cap="flat" cmpd="sng" algn="ctr">
                      <a:solidFill>
                        <a:srgbClr val="E8EDF6"/>
                      </a:solidFill>
                      <a:prstDash val="solid"/>
                      <a:round/>
                      <a:headEnd type="none" w="med" len="med"/>
                      <a:tailEnd type="none" w="med" len="med"/>
                    </a:lnT>
                    <a:lnB w="6350" cap="flat" cmpd="sng" algn="ctr">
                      <a:solidFill>
                        <a:srgbClr val="E8EDF6"/>
                      </a:solidFill>
                      <a:prstDash val="solid"/>
                      <a:round/>
                      <a:headEnd type="none" w="med" len="med"/>
                      <a:tailEnd type="none" w="med" len="med"/>
                    </a:lnB>
                    <a:solidFill>
                      <a:srgbClr val="FEF9F0"/>
                    </a:solidFill>
                  </a:tcPr>
                </a:tc>
              </a:tr>
              <a:tr h="457200">
                <a:tc>
                  <a:txBody>
                    <a:bodyPr/>
                    <a:lstStyle/>
                    <a:p>
                      <a:pPr algn="ctr" indent="0" marL="0">
                        <a:buNone/>
                      </a:pPr>
                      <a:r>
                        <a:rPr lang="en-US" sz="800" b="1" dirty="0">
                          <a:solidFill>
                            <a:srgbClr val="1A2340"/>
                          </a:solidFill>
                        </a:rPr>
                        <a:t>7</a:t>
                      </a:r>
                      <a:endParaRPr lang="en-US" sz="800" dirty="0"/>
                    </a:p>
                  </a:txBody>
                  <a:tcPr marL="91440" marR="91440" marT="45720" marB="45720" anchor="ctr">
                    <a:lnL w="6350" cap="flat" cmpd="sng" algn="ctr">
                      <a:solidFill>
                        <a:srgbClr val="E8EDF6"/>
                      </a:solidFill>
                      <a:prstDash val="solid"/>
                      <a:round/>
                      <a:headEnd type="none" w="med" len="med"/>
                      <a:tailEnd type="none" w="med" len="med"/>
                    </a:lnL>
                    <a:lnR w="6350" cap="flat" cmpd="sng" algn="ctr">
                      <a:solidFill>
                        <a:srgbClr val="E8EDF6"/>
                      </a:solidFill>
                      <a:prstDash val="solid"/>
                      <a:round/>
                      <a:headEnd type="none" w="med" len="med"/>
                      <a:tailEnd type="none" w="med" len="med"/>
                    </a:lnR>
                    <a:lnT w="6350" cap="flat" cmpd="sng" algn="ctr">
                      <a:solidFill>
                        <a:srgbClr val="E8EDF6"/>
                      </a:solidFill>
                      <a:prstDash val="solid"/>
                      <a:round/>
                      <a:headEnd type="none" w="med" len="med"/>
                      <a:tailEnd type="none" w="med" len="med"/>
                    </a:lnT>
                    <a:lnB w="6350" cap="flat" cmpd="sng" algn="ctr">
                      <a:solidFill>
                        <a:srgbClr val="E8EDF6"/>
                      </a:solidFill>
                      <a:prstDash val="solid"/>
                      <a:round/>
                      <a:headEnd type="none" w="med" len="med"/>
                      <a:tailEnd type="none" w="med" len="med"/>
                    </a:lnB>
                    <a:solidFill>
                      <a:srgbClr val="FEF9F0"/>
                    </a:solidFill>
                  </a:tcPr>
                </a:tc>
                <a:tc>
                  <a:txBody>
                    <a:bodyPr/>
                    <a:lstStyle/>
                    <a:p>
                      <a:pPr algn="ctr" indent="0" marL="0">
                        <a:buNone/>
                      </a:pPr>
                      <a:r>
                        <a:rPr lang="en-US" sz="800" dirty="0">
                          <a:solidFill>
                            <a:srgbClr val="1A2340"/>
                          </a:solidFill>
                        </a:rPr>
                        <a:t>Restricted External (linked *)</a:t>
                      </a:r>
                      <a:endParaRPr lang="en-US" sz="800" dirty="0"/>
                    </a:p>
                  </a:txBody>
                  <a:tcPr marL="91440" marR="91440" marT="45720" marB="45720" anchor="ctr">
                    <a:lnL w="6350" cap="flat" cmpd="sng" algn="ctr">
                      <a:solidFill>
                        <a:srgbClr val="E8EDF6"/>
                      </a:solidFill>
                      <a:prstDash val="solid"/>
                      <a:round/>
                      <a:headEnd type="none" w="med" len="med"/>
                      <a:tailEnd type="none" w="med" len="med"/>
                    </a:lnL>
                    <a:lnR w="6350" cap="flat" cmpd="sng" algn="ctr">
                      <a:solidFill>
                        <a:srgbClr val="E8EDF6"/>
                      </a:solidFill>
                      <a:prstDash val="solid"/>
                      <a:round/>
                      <a:headEnd type="none" w="med" len="med"/>
                      <a:tailEnd type="none" w="med" len="med"/>
                    </a:lnR>
                    <a:lnT w="6350" cap="flat" cmpd="sng" algn="ctr">
                      <a:solidFill>
                        <a:srgbClr val="E8EDF6"/>
                      </a:solidFill>
                      <a:prstDash val="solid"/>
                      <a:round/>
                      <a:headEnd type="none" w="med" len="med"/>
                      <a:tailEnd type="none" w="med" len="med"/>
                    </a:lnT>
                    <a:lnB w="6350" cap="flat" cmpd="sng" algn="ctr">
                      <a:solidFill>
                        <a:srgbClr val="E8EDF6"/>
                      </a:solidFill>
                      <a:prstDash val="solid"/>
                      <a:round/>
                      <a:headEnd type="none" w="med" len="med"/>
                      <a:tailEnd type="none" w="med" len="med"/>
                    </a:lnB>
                    <a:solidFill>
                      <a:srgbClr val="FEF9F0"/>
                    </a:solidFill>
                  </a:tcPr>
                </a:tc>
                <a:tc>
                  <a:txBody>
                    <a:bodyPr/>
                    <a:lstStyle/>
                    <a:p>
                      <a:pPr algn="ctr" indent="0" marL="0">
                        <a:buNone/>
                      </a:pPr>
                      <a:r>
                        <a:rPr lang="en-US" sz="800" dirty="0">
                          <a:solidFill>
                            <a:srgbClr val="1A2340"/>
                          </a:solidFill>
                        </a:rPr>
                        <a:t>Karian &amp; Box (External)</a:t>
                      </a:r>
                      <a:endParaRPr lang="en-US" sz="800" dirty="0"/>
                    </a:p>
                  </a:txBody>
                  <a:tcPr marL="91440" marR="91440" marT="45720" marB="45720" anchor="ctr">
                    <a:lnL w="6350" cap="flat" cmpd="sng" algn="ctr">
                      <a:solidFill>
                        <a:srgbClr val="E8EDF6"/>
                      </a:solidFill>
                      <a:prstDash val="solid"/>
                      <a:round/>
                      <a:headEnd type="none" w="med" len="med"/>
                      <a:tailEnd type="none" w="med" len="med"/>
                    </a:lnL>
                    <a:lnR w="6350" cap="flat" cmpd="sng" algn="ctr">
                      <a:solidFill>
                        <a:srgbClr val="E8EDF6"/>
                      </a:solidFill>
                      <a:prstDash val="solid"/>
                      <a:round/>
                      <a:headEnd type="none" w="med" len="med"/>
                      <a:tailEnd type="none" w="med" len="med"/>
                    </a:lnR>
                    <a:lnT w="6350" cap="flat" cmpd="sng" algn="ctr">
                      <a:solidFill>
                        <a:srgbClr val="E8EDF6"/>
                      </a:solidFill>
                      <a:prstDash val="solid"/>
                      <a:round/>
                      <a:headEnd type="none" w="med" len="med"/>
                      <a:tailEnd type="none" w="med" len="med"/>
                    </a:lnT>
                    <a:lnB w="6350" cap="flat" cmpd="sng" algn="ctr">
                      <a:solidFill>
                        <a:srgbClr val="E8EDF6"/>
                      </a:solidFill>
                      <a:prstDash val="solid"/>
                      <a:round/>
                      <a:headEnd type="none" w="med" len="med"/>
                      <a:tailEnd type="none" w="med" len="med"/>
                    </a:lnB>
                    <a:solidFill>
                      <a:srgbClr val="FEF9F0"/>
                    </a:solidFill>
                  </a:tcPr>
                </a:tc>
                <a:tc>
                  <a:txBody>
                    <a:bodyPr/>
                    <a:lstStyle/>
                    <a:p>
                      <a:pPr algn="ctr" indent="0" marL="0">
                        <a:buNone/>
                      </a:pPr>
                      <a:r>
                        <a:rPr lang="en-US" sz="800" dirty="0">
                          <a:solidFill>
                            <a:srgbClr val="1A2340"/>
                          </a:solidFill>
                        </a:rPr>
                        <a:t>Proposed</a:t>
                      </a:r>
                      <a:endParaRPr lang="en-US" sz="800" dirty="0"/>
                    </a:p>
                  </a:txBody>
                  <a:tcPr marL="91440" marR="91440" marT="45720" marB="45720" anchor="ctr">
                    <a:lnL w="6350" cap="flat" cmpd="sng" algn="ctr">
                      <a:solidFill>
                        <a:srgbClr val="E8EDF6"/>
                      </a:solidFill>
                      <a:prstDash val="solid"/>
                      <a:round/>
                      <a:headEnd type="none" w="med" len="med"/>
                      <a:tailEnd type="none" w="med" len="med"/>
                    </a:lnL>
                    <a:lnR w="6350" cap="flat" cmpd="sng" algn="ctr">
                      <a:solidFill>
                        <a:srgbClr val="E8EDF6"/>
                      </a:solidFill>
                      <a:prstDash val="solid"/>
                      <a:round/>
                      <a:headEnd type="none" w="med" len="med"/>
                      <a:tailEnd type="none" w="med" len="med"/>
                    </a:lnR>
                    <a:lnT w="6350" cap="flat" cmpd="sng" algn="ctr">
                      <a:solidFill>
                        <a:srgbClr val="E8EDF6"/>
                      </a:solidFill>
                      <a:prstDash val="solid"/>
                      <a:round/>
                      <a:headEnd type="none" w="med" len="med"/>
                      <a:tailEnd type="none" w="med" len="med"/>
                    </a:lnT>
                    <a:lnB w="6350" cap="flat" cmpd="sng" algn="ctr">
                      <a:solidFill>
                        <a:srgbClr val="E8EDF6"/>
                      </a:solidFill>
                      <a:prstDash val="solid"/>
                      <a:round/>
                      <a:headEnd type="none" w="med" len="med"/>
                      <a:tailEnd type="none" w="med" len="med"/>
                    </a:lnB>
                    <a:solidFill>
                      <a:srgbClr val="FEF9F0"/>
                    </a:solidFill>
                  </a:tcPr>
                </a:tc>
                <a:tc>
                  <a:txBody>
                    <a:bodyPr/>
                    <a:lstStyle/>
                    <a:p>
                      <a:pPr algn="ctr" indent="0" marL="0">
                        <a:buNone/>
                      </a:pPr>
                      <a:r>
                        <a:rPr lang="en-US" sz="800" dirty="0">
                          <a:solidFill>
                            <a:srgbClr val="1A2340"/>
                          </a:solidFill>
                        </a:rPr>
                        <a:t>No</a:t>
                      </a:r>
                      <a:endParaRPr lang="en-US" sz="800" dirty="0"/>
                    </a:p>
                  </a:txBody>
                  <a:tcPr marL="91440" marR="91440" marT="45720" marB="45720" anchor="ctr">
                    <a:lnL w="6350" cap="flat" cmpd="sng" algn="ctr">
                      <a:solidFill>
                        <a:srgbClr val="E8EDF6"/>
                      </a:solidFill>
                      <a:prstDash val="solid"/>
                      <a:round/>
                      <a:headEnd type="none" w="med" len="med"/>
                      <a:tailEnd type="none" w="med" len="med"/>
                    </a:lnL>
                    <a:lnR w="6350" cap="flat" cmpd="sng" algn="ctr">
                      <a:solidFill>
                        <a:srgbClr val="E8EDF6"/>
                      </a:solidFill>
                      <a:prstDash val="solid"/>
                      <a:round/>
                      <a:headEnd type="none" w="med" len="med"/>
                      <a:tailEnd type="none" w="med" len="med"/>
                    </a:lnR>
                    <a:lnT w="6350" cap="flat" cmpd="sng" algn="ctr">
                      <a:solidFill>
                        <a:srgbClr val="E8EDF6"/>
                      </a:solidFill>
                      <a:prstDash val="solid"/>
                      <a:round/>
                      <a:headEnd type="none" w="med" len="med"/>
                      <a:tailEnd type="none" w="med" len="med"/>
                    </a:lnT>
                    <a:lnB w="6350" cap="flat" cmpd="sng" algn="ctr">
                      <a:solidFill>
                        <a:srgbClr val="E8EDF6"/>
                      </a:solidFill>
                      <a:prstDash val="solid"/>
                      <a:round/>
                      <a:headEnd type="none" w="med" len="med"/>
                      <a:tailEnd type="none" w="med" len="med"/>
                    </a:lnB>
                    <a:solidFill>
                      <a:srgbClr val="FEF9F0"/>
                    </a:solidFill>
                  </a:tcPr>
                </a:tc>
                <a:tc>
                  <a:txBody>
                    <a:bodyPr/>
                    <a:lstStyle/>
                    <a:p>
                      <a:pPr algn="ctr" indent="0" marL="0">
                        <a:buNone/>
                      </a:pPr>
                      <a:r>
                        <a:rPr lang="en-US" sz="800" dirty="0">
                          <a:solidFill>
                            <a:srgbClr val="1A2340"/>
                          </a:solidFill>
                        </a:rPr>
                        <a:t>No</a:t>
                      </a:r>
                      <a:endParaRPr lang="en-US" sz="800" dirty="0"/>
                    </a:p>
                  </a:txBody>
                  <a:tcPr marL="91440" marR="91440" marT="45720" marB="45720" anchor="ctr">
                    <a:lnL w="6350" cap="flat" cmpd="sng" algn="ctr">
                      <a:solidFill>
                        <a:srgbClr val="E8EDF6"/>
                      </a:solidFill>
                      <a:prstDash val="solid"/>
                      <a:round/>
                      <a:headEnd type="none" w="med" len="med"/>
                      <a:tailEnd type="none" w="med" len="med"/>
                    </a:lnL>
                    <a:lnR w="6350" cap="flat" cmpd="sng" algn="ctr">
                      <a:solidFill>
                        <a:srgbClr val="E8EDF6"/>
                      </a:solidFill>
                      <a:prstDash val="solid"/>
                      <a:round/>
                      <a:headEnd type="none" w="med" len="med"/>
                      <a:tailEnd type="none" w="med" len="med"/>
                    </a:lnR>
                    <a:lnT w="6350" cap="flat" cmpd="sng" algn="ctr">
                      <a:solidFill>
                        <a:srgbClr val="E8EDF6"/>
                      </a:solidFill>
                      <a:prstDash val="solid"/>
                      <a:round/>
                      <a:headEnd type="none" w="med" len="med"/>
                      <a:tailEnd type="none" w="med" len="med"/>
                    </a:lnT>
                    <a:lnB w="6350" cap="flat" cmpd="sng" algn="ctr">
                      <a:solidFill>
                        <a:srgbClr val="E8EDF6"/>
                      </a:solidFill>
                      <a:prstDash val="solid"/>
                      <a:round/>
                      <a:headEnd type="none" w="med" len="med"/>
                      <a:tailEnd type="none" w="med" len="med"/>
                    </a:lnB>
                    <a:solidFill>
                      <a:srgbClr val="FEF9F0"/>
                    </a:solidFill>
                  </a:tcPr>
                </a:tc>
                <a:tc>
                  <a:txBody>
                    <a:bodyPr/>
                    <a:lstStyle/>
                    <a:p>
                      <a:pPr algn="ctr" indent="0" marL="0">
                        <a:buNone/>
                      </a:pPr>
                      <a:r>
                        <a:rPr lang="en-US" sz="800" dirty="0">
                          <a:solidFill>
                            <a:srgbClr val="1A2340"/>
                          </a:solidFill>
                        </a:rPr>
                        <a:t>No</a:t>
                      </a:r>
                      <a:endParaRPr lang="en-US" sz="800" dirty="0"/>
                    </a:p>
                  </a:txBody>
                  <a:tcPr marL="91440" marR="91440" marT="45720" marB="45720" anchor="ctr">
                    <a:lnL w="6350" cap="flat" cmpd="sng" algn="ctr">
                      <a:solidFill>
                        <a:srgbClr val="E8EDF6"/>
                      </a:solidFill>
                      <a:prstDash val="solid"/>
                      <a:round/>
                      <a:headEnd type="none" w="med" len="med"/>
                      <a:tailEnd type="none" w="med" len="med"/>
                    </a:lnL>
                    <a:lnR w="6350" cap="flat" cmpd="sng" algn="ctr">
                      <a:solidFill>
                        <a:srgbClr val="E8EDF6"/>
                      </a:solidFill>
                      <a:prstDash val="solid"/>
                      <a:round/>
                      <a:headEnd type="none" w="med" len="med"/>
                      <a:tailEnd type="none" w="med" len="med"/>
                    </a:lnR>
                    <a:lnT w="6350" cap="flat" cmpd="sng" algn="ctr">
                      <a:solidFill>
                        <a:srgbClr val="E8EDF6"/>
                      </a:solidFill>
                      <a:prstDash val="solid"/>
                      <a:round/>
                      <a:headEnd type="none" w="med" len="med"/>
                      <a:tailEnd type="none" w="med" len="med"/>
                    </a:lnT>
                    <a:lnB w="6350" cap="flat" cmpd="sng" algn="ctr">
                      <a:solidFill>
                        <a:srgbClr val="E8EDF6"/>
                      </a:solidFill>
                      <a:prstDash val="solid"/>
                      <a:round/>
                      <a:headEnd type="none" w="med" len="med"/>
                      <a:tailEnd type="none" w="med" len="med"/>
                    </a:lnB>
                    <a:solidFill>
                      <a:srgbClr val="FEF9F0"/>
                    </a:solidFill>
                  </a:tcPr>
                </a:tc>
                <a:tc>
                  <a:txBody>
                    <a:bodyPr/>
                    <a:lstStyle/>
                    <a:p>
                      <a:pPr algn="ctr" indent="0" marL="0">
                        <a:buNone/>
                      </a:pPr>
                      <a:r>
                        <a:rPr lang="en-US" sz="800" b="1" dirty="0">
                          <a:solidFill>
                            <a:srgbClr val="E67E22"/>
                          </a:solidFill>
                        </a:rPr>
                        <a:t>WIP</a:t>
                      </a:r>
                      <a:endParaRPr lang="en-US" sz="800" dirty="0"/>
                    </a:p>
                  </a:txBody>
                  <a:tcPr marL="91440" marR="91440" marT="45720" marB="45720" anchor="ctr">
                    <a:lnL w="6350" cap="flat" cmpd="sng" algn="ctr">
                      <a:solidFill>
                        <a:srgbClr val="E8EDF6"/>
                      </a:solidFill>
                      <a:prstDash val="solid"/>
                      <a:round/>
                      <a:headEnd type="none" w="med" len="med"/>
                      <a:tailEnd type="none" w="med" len="med"/>
                    </a:lnL>
                    <a:lnR w="6350" cap="flat" cmpd="sng" algn="ctr">
                      <a:solidFill>
                        <a:srgbClr val="E8EDF6"/>
                      </a:solidFill>
                      <a:prstDash val="solid"/>
                      <a:round/>
                      <a:headEnd type="none" w="med" len="med"/>
                      <a:tailEnd type="none" w="med" len="med"/>
                    </a:lnR>
                    <a:lnT w="6350" cap="flat" cmpd="sng" algn="ctr">
                      <a:solidFill>
                        <a:srgbClr val="E8EDF6"/>
                      </a:solidFill>
                      <a:prstDash val="solid"/>
                      <a:round/>
                      <a:headEnd type="none" w="med" len="med"/>
                      <a:tailEnd type="none" w="med" len="med"/>
                    </a:lnT>
                    <a:lnB w="6350" cap="flat" cmpd="sng" algn="ctr">
                      <a:solidFill>
                        <a:srgbClr val="E8EDF6"/>
                      </a:solidFill>
                      <a:prstDash val="solid"/>
                      <a:round/>
                      <a:headEnd type="none" w="med" len="med"/>
                      <a:tailEnd type="none" w="med" len="med"/>
                    </a:lnB>
                    <a:solidFill>
                      <a:srgbClr val="FEF9F0"/>
                    </a:solidFill>
                  </a:tcPr>
                </a:tc>
              </a:tr>
            </a:tbl>
          </a:graphicData>
        </a:graphic>
      </p:graphicFrame>
      <p:sp>
        <p:nvSpPr>
          <p:cNvPr id="6" name="Shape 3"/>
          <p:cNvSpPr/>
          <p:nvPr/>
        </p:nvSpPr>
        <p:spPr>
          <a:xfrm>
            <a:off x="182880" y="4773168"/>
            <a:ext cx="8778240" cy="256032"/>
          </a:xfrm>
          <a:prstGeom prst="rect">
            <a:avLst/>
          </a:prstGeom>
          <a:solidFill>
            <a:srgbClr val="FEF3CD"/>
          </a:solidFill>
          <a:ln/>
        </p:spPr>
      </p:sp>
      <p:sp>
        <p:nvSpPr>
          <p:cNvPr id="7" name="Text 4"/>
          <p:cNvSpPr/>
          <p:nvPr/>
        </p:nvSpPr>
        <p:spPr>
          <a:xfrm>
            <a:off x="320040" y="4773168"/>
            <a:ext cx="8595360" cy="256032"/>
          </a:xfrm>
          <a:prstGeom prst="rect">
            <a:avLst/>
          </a:prstGeom>
          <a:noFill/>
          <a:ln/>
        </p:spPr>
        <p:txBody>
          <a:bodyPr wrap="square" lIns="0" tIns="0" rIns="0" bIns="0" rtlCol="0" anchor="ctr"/>
          <a:lstStyle/>
          <a:p>
            <a:pPr indent="0" marL="0">
              <a:buNone/>
            </a:pPr>
            <a:r>
              <a:rPr lang="en-US" sz="850" dirty="0">
                <a:solidFill>
                  <a:srgbClr val="7D5A00"/>
                </a:solidFill>
              </a:rPr>
              <a:t>⚠  Roles 5, 6 &amp; 7 are Work in Progress. (*) Roles 6 &amp; 7 are interconnected — no native Glint approval workflow available. CDO decision required on interim process.</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6FB"/>
        </a:solidFill>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1E2761"/>
          </a:solidFill>
          <a:ln/>
        </p:spPr>
      </p:sp>
      <p:sp>
        <p:nvSpPr>
          <p:cNvPr id="3" name="Shape 1"/>
          <p:cNvSpPr/>
          <p:nvPr/>
        </p:nvSpPr>
        <p:spPr>
          <a:xfrm>
            <a:off x="0" y="0"/>
            <a:ext cx="201168" cy="960120"/>
          </a:xfrm>
          <a:prstGeom prst="rect">
            <a:avLst/>
          </a:prstGeom>
          <a:solidFill>
            <a:srgbClr val="C0392B"/>
          </a:solidFill>
          <a:ln/>
        </p:spPr>
      </p:sp>
      <p:sp>
        <p:nvSpPr>
          <p:cNvPr id="4" name="Text 2"/>
          <p:cNvSpPr/>
          <p:nvPr/>
        </p:nvSpPr>
        <p:spPr>
          <a:xfrm>
            <a:off x="411480" y="118872"/>
            <a:ext cx="7772400" cy="438912"/>
          </a:xfrm>
          <a:prstGeom prst="rect">
            <a:avLst/>
          </a:prstGeom>
          <a:noFill/>
          <a:ln/>
        </p:spPr>
        <p:txBody>
          <a:bodyPr wrap="square" lIns="0" tIns="0" rIns="0" bIns="0" rtlCol="0" anchor="ctr"/>
          <a:lstStyle/>
          <a:p>
            <a:pPr indent="0" marL="0">
              <a:buNone/>
            </a:pPr>
            <a:r>
              <a:rPr lang="en-US" sz="1900" b="1" dirty="0">
                <a:solidFill>
                  <a:srgbClr val="FFFFFF"/>
                </a:solidFill>
              </a:rPr>
              <a:t>Platform Risks &amp; Controls</a:t>
            </a:r>
            <a:endParaRPr lang="en-US" sz="1900" dirty="0"/>
          </a:p>
        </p:txBody>
      </p:sp>
      <p:sp>
        <p:nvSpPr>
          <p:cNvPr id="5" name="Text 3"/>
          <p:cNvSpPr/>
          <p:nvPr/>
        </p:nvSpPr>
        <p:spPr>
          <a:xfrm>
            <a:off x="411480" y="594360"/>
            <a:ext cx="8229600" cy="274320"/>
          </a:xfrm>
          <a:prstGeom prst="rect">
            <a:avLst/>
          </a:prstGeom>
          <a:noFill/>
          <a:ln/>
        </p:spPr>
        <p:txBody>
          <a:bodyPr wrap="square" lIns="0" tIns="0" rIns="0" bIns="0" rtlCol="0" anchor="ctr"/>
          <a:lstStyle/>
          <a:p>
            <a:pPr indent="0" marL="0">
              <a:buNone/>
            </a:pPr>
            <a:r>
              <a:rPr lang="en-US" sz="950" dirty="0">
                <a:solidFill>
                  <a:srgbClr val="CADCFC"/>
                </a:solidFill>
              </a:rPr>
              <a:t>Identified gaps between Glint capabilities and required governance controls — for CDO awareness</a:t>
            </a:r>
            <a:endParaRPr lang="en-US" sz="950" dirty="0"/>
          </a:p>
        </p:txBody>
      </p:sp>
      <p:sp>
        <p:nvSpPr>
          <p:cNvPr id="6" name="Shape 4"/>
          <p:cNvSpPr/>
          <p:nvPr/>
        </p:nvSpPr>
        <p:spPr>
          <a:xfrm>
            <a:off x="201168" y="1051560"/>
            <a:ext cx="8741664" cy="1152144"/>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7" name="Shape 5"/>
          <p:cNvSpPr/>
          <p:nvPr/>
        </p:nvSpPr>
        <p:spPr>
          <a:xfrm>
            <a:off x="201168" y="1051560"/>
            <a:ext cx="54864" cy="1152144"/>
          </a:xfrm>
          <a:prstGeom prst="rect">
            <a:avLst/>
          </a:prstGeom>
          <a:solidFill>
            <a:srgbClr val="C0392B"/>
          </a:solidFill>
          <a:ln/>
        </p:spPr>
      </p:sp>
      <p:sp>
        <p:nvSpPr>
          <p:cNvPr id="8" name="Shape 6"/>
          <p:cNvSpPr/>
          <p:nvPr/>
        </p:nvSpPr>
        <p:spPr>
          <a:xfrm>
            <a:off x="256032" y="1115568"/>
            <a:ext cx="475488" cy="347472"/>
          </a:xfrm>
          <a:prstGeom prst="rect">
            <a:avLst/>
          </a:prstGeom>
          <a:solidFill>
            <a:srgbClr val="C0392B"/>
          </a:solidFill>
          <a:ln/>
        </p:spPr>
      </p:sp>
      <p:sp>
        <p:nvSpPr>
          <p:cNvPr id="9" name="Text 7"/>
          <p:cNvSpPr/>
          <p:nvPr/>
        </p:nvSpPr>
        <p:spPr>
          <a:xfrm>
            <a:off x="256032" y="1115568"/>
            <a:ext cx="475488" cy="347472"/>
          </a:xfrm>
          <a:prstGeom prst="rect">
            <a:avLst/>
          </a:prstGeom>
          <a:noFill/>
          <a:ln/>
        </p:spPr>
        <p:txBody>
          <a:bodyPr wrap="square" lIns="0" tIns="0" rIns="0" bIns="0" rtlCol="0" anchor="ctr"/>
          <a:lstStyle/>
          <a:p>
            <a:pPr algn="ctr" indent="0" marL="0">
              <a:buNone/>
            </a:pPr>
            <a:r>
              <a:rPr lang="en-US" sz="1100" b="1" dirty="0">
                <a:solidFill>
                  <a:srgbClr val="FFFFFF"/>
                </a:solidFill>
              </a:rPr>
              <a:t>R1</a:t>
            </a:r>
            <a:endParaRPr lang="en-US" sz="1100" dirty="0"/>
          </a:p>
        </p:txBody>
      </p:sp>
      <p:sp>
        <p:nvSpPr>
          <p:cNvPr id="10" name="Text 8"/>
          <p:cNvSpPr/>
          <p:nvPr/>
        </p:nvSpPr>
        <p:spPr>
          <a:xfrm>
            <a:off x="822960" y="1115568"/>
            <a:ext cx="5943600" cy="347472"/>
          </a:xfrm>
          <a:prstGeom prst="rect">
            <a:avLst/>
          </a:prstGeom>
          <a:noFill/>
          <a:ln/>
        </p:spPr>
        <p:txBody>
          <a:bodyPr wrap="square" lIns="0" tIns="0" rIns="0" bIns="0" rtlCol="0" anchor="ctr"/>
          <a:lstStyle/>
          <a:p>
            <a:pPr indent="0" marL="0">
              <a:buNone/>
            </a:pPr>
            <a:r>
              <a:rPr lang="en-US" sz="1050" b="1" dirty="0">
                <a:solidFill>
                  <a:srgbClr val="1A2340"/>
                </a:solidFill>
              </a:rPr>
              <a:t>Admin Default Access — All Surveys Visible to All Admins</a:t>
            </a:r>
            <a:endParaRPr lang="en-US" sz="1050" dirty="0"/>
          </a:p>
        </p:txBody>
      </p:sp>
      <p:sp>
        <p:nvSpPr>
          <p:cNvPr id="11" name="Shape 9"/>
          <p:cNvSpPr/>
          <p:nvPr/>
        </p:nvSpPr>
        <p:spPr>
          <a:xfrm>
            <a:off x="6858000" y="1143000"/>
            <a:ext cx="2011680" cy="292608"/>
          </a:xfrm>
          <a:prstGeom prst="rect">
            <a:avLst/>
          </a:prstGeom>
          <a:solidFill>
            <a:srgbClr val="27AE60"/>
          </a:solidFill>
          <a:ln/>
        </p:spPr>
      </p:sp>
      <p:sp>
        <p:nvSpPr>
          <p:cNvPr id="12" name="Text 10"/>
          <p:cNvSpPr/>
          <p:nvPr/>
        </p:nvSpPr>
        <p:spPr>
          <a:xfrm>
            <a:off x="6858000" y="1143000"/>
            <a:ext cx="2011680" cy="292608"/>
          </a:xfrm>
          <a:prstGeom prst="rect">
            <a:avLst/>
          </a:prstGeom>
          <a:noFill/>
          <a:ln/>
        </p:spPr>
        <p:txBody>
          <a:bodyPr wrap="square" lIns="0" tIns="0" rIns="0" bIns="0" rtlCol="0" anchor="ctr"/>
          <a:lstStyle/>
          <a:p>
            <a:pPr algn="ctr" indent="0" marL="0">
              <a:buNone/>
            </a:pPr>
            <a:r>
              <a:rPr lang="en-US" sz="750" b="1" dirty="0">
                <a:solidFill>
                  <a:srgbClr val="FFFFFF"/>
                </a:solidFill>
              </a:rPr>
              <a:t>Monitoring</a:t>
            </a:r>
            <a:endParaRPr lang="en-US" sz="750" dirty="0"/>
          </a:p>
        </p:txBody>
      </p:sp>
      <p:sp>
        <p:nvSpPr>
          <p:cNvPr id="13" name="Text 11"/>
          <p:cNvSpPr/>
          <p:nvPr/>
        </p:nvSpPr>
        <p:spPr>
          <a:xfrm>
            <a:off x="822960" y="1508760"/>
            <a:ext cx="457200" cy="146304"/>
          </a:xfrm>
          <a:prstGeom prst="rect">
            <a:avLst/>
          </a:prstGeom>
          <a:noFill/>
          <a:ln/>
        </p:spPr>
        <p:txBody>
          <a:bodyPr wrap="square" lIns="0" tIns="0" rIns="0" bIns="0" rtlCol="0" anchor="ctr"/>
          <a:lstStyle/>
          <a:p>
            <a:pPr indent="0" marL="0">
              <a:buNone/>
            </a:pPr>
            <a:r>
              <a:rPr lang="en-US" sz="650" b="1" spc="100" kern="0" dirty="0">
                <a:solidFill>
                  <a:srgbClr val="C0392B"/>
                </a:solidFill>
              </a:rPr>
              <a:t>RISK</a:t>
            </a:r>
            <a:endParaRPr lang="en-US" sz="650" dirty="0"/>
          </a:p>
        </p:txBody>
      </p:sp>
      <p:sp>
        <p:nvSpPr>
          <p:cNvPr id="14" name="Text 12"/>
          <p:cNvSpPr/>
          <p:nvPr/>
        </p:nvSpPr>
        <p:spPr>
          <a:xfrm>
            <a:off x="822960" y="1645920"/>
            <a:ext cx="4114800" cy="566928"/>
          </a:xfrm>
          <a:prstGeom prst="rect">
            <a:avLst/>
          </a:prstGeom>
          <a:noFill/>
          <a:ln/>
        </p:spPr>
        <p:txBody>
          <a:bodyPr wrap="square" lIns="0" tIns="0" rIns="0" bIns="0" rtlCol="0" anchor="ctr"/>
          <a:lstStyle/>
          <a:p>
            <a:pPr indent="0" marL="0">
              <a:lnSpc>
                <a:spcPct val="120000"/>
              </a:lnSpc>
              <a:buNone/>
            </a:pPr>
            <a:r>
              <a:rPr lang="en-US" sz="780" dirty="0">
                <a:solidFill>
                  <a:srgbClr val="64748B"/>
                </a:solidFill>
              </a:rPr>
              <a:t>In Qualtrics, surveys could be scoped/collaborated to specific roles. In Glint, the Admin is a default role from which specific surveys cannot be excluded. Any user in the Admin role has unrestricted access to ALL surveys across ALL programs — including sensitive ones.</a:t>
            </a:r>
            <a:endParaRPr lang="en-US" sz="780" dirty="0"/>
          </a:p>
        </p:txBody>
      </p:sp>
      <p:sp>
        <p:nvSpPr>
          <p:cNvPr id="15" name="Text 13"/>
          <p:cNvSpPr/>
          <p:nvPr/>
        </p:nvSpPr>
        <p:spPr>
          <a:xfrm>
            <a:off x="5074920" y="1508760"/>
            <a:ext cx="3749040" cy="146304"/>
          </a:xfrm>
          <a:prstGeom prst="rect">
            <a:avLst/>
          </a:prstGeom>
          <a:noFill/>
          <a:ln/>
        </p:spPr>
        <p:txBody>
          <a:bodyPr wrap="square" lIns="0" tIns="0" rIns="0" bIns="0" rtlCol="0" anchor="ctr"/>
          <a:lstStyle/>
          <a:p>
            <a:pPr indent="0" marL="0">
              <a:buNone/>
            </a:pPr>
            <a:r>
              <a:rPr lang="en-US" sz="650" b="1" spc="100" kern="0" dirty="0">
                <a:solidFill>
                  <a:srgbClr val="C0392B"/>
                </a:solidFill>
              </a:rPr>
              <a:t>CONTROL / MITIGATION</a:t>
            </a:r>
            <a:endParaRPr lang="en-US" sz="650" dirty="0"/>
          </a:p>
        </p:txBody>
      </p:sp>
      <p:sp>
        <p:nvSpPr>
          <p:cNvPr id="16" name="Text 14"/>
          <p:cNvSpPr/>
          <p:nvPr/>
        </p:nvSpPr>
        <p:spPr>
          <a:xfrm>
            <a:off x="5074920" y="1645920"/>
            <a:ext cx="3749040" cy="566928"/>
          </a:xfrm>
          <a:prstGeom prst="rect">
            <a:avLst/>
          </a:prstGeom>
          <a:noFill/>
          <a:ln/>
        </p:spPr>
        <p:txBody>
          <a:bodyPr wrap="square" lIns="0" tIns="0" rIns="0" bIns="0" rtlCol="0" anchor="ctr"/>
          <a:lstStyle/>
          <a:p>
            <a:pPr indent="0" marL="0">
              <a:lnSpc>
                <a:spcPct val="120000"/>
              </a:lnSpc>
              <a:buNone/>
            </a:pPr>
            <a:r>
              <a:rPr lang="en-US" sz="780" dirty="0">
                <a:solidFill>
                  <a:srgbClr val="64748B"/>
                </a:solidFill>
              </a:rPr>
              <a:t>Activity log review — trace of who logged in, what was accessed, and what data was downloaded. Regular periodic audit of admin role membership.</a:t>
            </a:r>
            <a:endParaRPr lang="en-US" sz="780" dirty="0"/>
          </a:p>
        </p:txBody>
      </p:sp>
      <p:sp>
        <p:nvSpPr>
          <p:cNvPr id="17" name="Shape 15"/>
          <p:cNvSpPr/>
          <p:nvPr/>
        </p:nvSpPr>
        <p:spPr>
          <a:xfrm>
            <a:off x="4983480" y="1508760"/>
            <a:ext cx="0" cy="640080"/>
          </a:xfrm>
          <a:prstGeom prst="line">
            <a:avLst/>
          </a:prstGeom>
          <a:noFill/>
          <a:ln w="9525">
            <a:solidFill>
              <a:srgbClr val="E8EDF6"/>
            </a:solidFill>
            <a:prstDash val="solid"/>
          </a:ln>
        </p:spPr>
      </p:sp>
      <p:sp>
        <p:nvSpPr>
          <p:cNvPr id="18" name="Shape 16"/>
          <p:cNvSpPr/>
          <p:nvPr/>
        </p:nvSpPr>
        <p:spPr>
          <a:xfrm>
            <a:off x="201168" y="2267712"/>
            <a:ext cx="8741664" cy="1152144"/>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19" name="Shape 17"/>
          <p:cNvSpPr/>
          <p:nvPr/>
        </p:nvSpPr>
        <p:spPr>
          <a:xfrm>
            <a:off x="201168" y="2267712"/>
            <a:ext cx="54864" cy="1152144"/>
          </a:xfrm>
          <a:prstGeom prst="rect">
            <a:avLst/>
          </a:prstGeom>
          <a:solidFill>
            <a:srgbClr val="E67E22"/>
          </a:solidFill>
          <a:ln/>
        </p:spPr>
      </p:sp>
      <p:sp>
        <p:nvSpPr>
          <p:cNvPr id="20" name="Shape 18"/>
          <p:cNvSpPr/>
          <p:nvPr/>
        </p:nvSpPr>
        <p:spPr>
          <a:xfrm>
            <a:off x="256032" y="2331720"/>
            <a:ext cx="475488" cy="347472"/>
          </a:xfrm>
          <a:prstGeom prst="rect">
            <a:avLst/>
          </a:prstGeom>
          <a:solidFill>
            <a:srgbClr val="E67E22"/>
          </a:solidFill>
          <a:ln/>
        </p:spPr>
      </p:sp>
      <p:sp>
        <p:nvSpPr>
          <p:cNvPr id="21" name="Text 19"/>
          <p:cNvSpPr/>
          <p:nvPr/>
        </p:nvSpPr>
        <p:spPr>
          <a:xfrm>
            <a:off x="256032" y="2331720"/>
            <a:ext cx="475488" cy="347472"/>
          </a:xfrm>
          <a:prstGeom prst="rect">
            <a:avLst/>
          </a:prstGeom>
          <a:noFill/>
          <a:ln/>
        </p:spPr>
        <p:txBody>
          <a:bodyPr wrap="square" lIns="0" tIns="0" rIns="0" bIns="0" rtlCol="0" anchor="ctr"/>
          <a:lstStyle/>
          <a:p>
            <a:pPr algn="ctr" indent="0" marL="0">
              <a:buNone/>
            </a:pPr>
            <a:r>
              <a:rPr lang="en-US" sz="1100" b="1" dirty="0">
                <a:solidFill>
                  <a:srgbClr val="FFFFFF"/>
                </a:solidFill>
              </a:rPr>
              <a:t>R2</a:t>
            </a:r>
            <a:endParaRPr lang="en-US" sz="1100" dirty="0"/>
          </a:p>
        </p:txBody>
      </p:sp>
      <p:sp>
        <p:nvSpPr>
          <p:cNvPr id="22" name="Text 20"/>
          <p:cNvSpPr/>
          <p:nvPr/>
        </p:nvSpPr>
        <p:spPr>
          <a:xfrm>
            <a:off x="822960" y="2331720"/>
            <a:ext cx="5943600" cy="347472"/>
          </a:xfrm>
          <a:prstGeom prst="rect">
            <a:avLst/>
          </a:prstGeom>
          <a:noFill/>
          <a:ln/>
        </p:spPr>
        <p:txBody>
          <a:bodyPr wrap="square" lIns="0" tIns="0" rIns="0" bIns="0" rtlCol="0" anchor="ctr"/>
          <a:lstStyle/>
          <a:p>
            <a:pPr indent="0" marL="0">
              <a:buNone/>
            </a:pPr>
            <a:r>
              <a:rPr lang="en-US" sz="1050" b="1" dirty="0">
                <a:solidFill>
                  <a:srgbClr val="1A2340"/>
                </a:solidFill>
              </a:rPr>
              <a:t>Proxy Login Audit Gap — Download Attribution Not Differentiated</a:t>
            </a:r>
            <a:endParaRPr lang="en-US" sz="1050" dirty="0"/>
          </a:p>
        </p:txBody>
      </p:sp>
      <p:sp>
        <p:nvSpPr>
          <p:cNvPr id="23" name="Shape 21"/>
          <p:cNvSpPr/>
          <p:nvPr/>
        </p:nvSpPr>
        <p:spPr>
          <a:xfrm>
            <a:off x="6858000" y="2359152"/>
            <a:ext cx="2011680" cy="292608"/>
          </a:xfrm>
          <a:prstGeom prst="rect">
            <a:avLst/>
          </a:prstGeom>
          <a:solidFill>
            <a:srgbClr val="E67E22"/>
          </a:solidFill>
          <a:ln/>
        </p:spPr>
      </p:sp>
      <p:sp>
        <p:nvSpPr>
          <p:cNvPr id="24" name="Text 22"/>
          <p:cNvSpPr/>
          <p:nvPr/>
        </p:nvSpPr>
        <p:spPr>
          <a:xfrm>
            <a:off x="6858000" y="2359152"/>
            <a:ext cx="2011680" cy="292608"/>
          </a:xfrm>
          <a:prstGeom prst="rect">
            <a:avLst/>
          </a:prstGeom>
          <a:noFill/>
          <a:ln/>
        </p:spPr>
        <p:txBody>
          <a:bodyPr wrap="square" lIns="0" tIns="0" rIns="0" bIns="0" rtlCol="0" anchor="ctr"/>
          <a:lstStyle/>
          <a:p>
            <a:pPr algn="ctr" indent="0" marL="0">
              <a:buNone/>
            </a:pPr>
            <a:r>
              <a:rPr lang="en-US" sz="750" b="1" dirty="0">
                <a:solidFill>
                  <a:srgbClr val="FFFFFF"/>
                </a:solidFill>
              </a:rPr>
              <a:t>Gap — In Discussion</a:t>
            </a:r>
            <a:endParaRPr lang="en-US" sz="750" dirty="0"/>
          </a:p>
        </p:txBody>
      </p:sp>
      <p:sp>
        <p:nvSpPr>
          <p:cNvPr id="25" name="Text 23"/>
          <p:cNvSpPr/>
          <p:nvPr/>
        </p:nvSpPr>
        <p:spPr>
          <a:xfrm>
            <a:off x="822960" y="2724912"/>
            <a:ext cx="457200" cy="146304"/>
          </a:xfrm>
          <a:prstGeom prst="rect">
            <a:avLst/>
          </a:prstGeom>
          <a:noFill/>
          <a:ln/>
        </p:spPr>
        <p:txBody>
          <a:bodyPr wrap="square" lIns="0" tIns="0" rIns="0" bIns="0" rtlCol="0" anchor="ctr"/>
          <a:lstStyle/>
          <a:p>
            <a:pPr indent="0" marL="0">
              <a:buNone/>
            </a:pPr>
            <a:r>
              <a:rPr lang="en-US" sz="650" b="1" spc="100" kern="0" dirty="0">
                <a:solidFill>
                  <a:srgbClr val="E67E22"/>
                </a:solidFill>
              </a:rPr>
              <a:t>RISK</a:t>
            </a:r>
            <a:endParaRPr lang="en-US" sz="650" dirty="0"/>
          </a:p>
        </p:txBody>
      </p:sp>
      <p:sp>
        <p:nvSpPr>
          <p:cNvPr id="26" name="Text 24"/>
          <p:cNvSpPr/>
          <p:nvPr/>
        </p:nvSpPr>
        <p:spPr>
          <a:xfrm>
            <a:off x="822960" y="2862072"/>
            <a:ext cx="4114800" cy="566928"/>
          </a:xfrm>
          <a:prstGeom prst="rect">
            <a:avLst/>
          </a:prstGeom>
          <a:noFill/>
          <a:ln/>
        </p:spPr>
        <p:txBody>
          <a:bodyPr wrap="square" lIns="0" tIns="0" rIns="0" bIns="0" rtlCol="0" anchor="ctr"/>
          <a:lstStyle/>
          <a:p>
            <a:pPr indent="0" marL="0">
              <a:lnSpc>
                <a:spcPct val="120000"/>
              </a:lnSpc>
              <a:buNone/>
            </a:pPr>
            <a:r>
              <a:rPr lang="en-US" sz="780" dirty="0">
                <a:solidFill>
                  <a:srgbClr val="64748B"/>
                </a:solidFill>
              </a:rPr>
              <a:t>When User B proxy logs in to User A's account and downloads data, the activity log records the action against User A's account only. It does not distinguish whether User A or a proxy (User B) performed the download. This creates an audit trail gap for data access accountability.</a:t>
            </a:r>
            <a:endParaRPr lang="en-US" sz="780" dirty="0"/>
          </a:p>
        </p:txBody>
      </p:sp>
      <p:sp>
        <p:nvSpPr>
          <p:cNvPr id="27" name="Text 25"/>
          <p:cNvSpPr/>
          <p:nvPr/>
        </p:nvSpPr>
        <p:spPr>
          <a:xfrm>
            <a:off x="5074920" y="2724912"/>
            <a:ext cx="3749040" cy="146304"/>
          </a:xfrm>
          <a:prstGeom prst="rect">
            <a:avLst/>
          </a:prstGeom>
          <a:noFill/>
          <a:ln/>
        </p:spPr>
        <p:txBody>
          <a:bodyPr wrap="square" lIns="0" tIns="0" rIns="0" bIns="0" rtlCol="0" anchor="ctr"/>
          <a:lstStyle/>
          <a:p>
            <a:pPr indent="0" marL="0">
              <a:buNone/>
            </a:pPr>
            <a:r>
              <a:rPr lang="en-US" sz="650" b="1" spc="100" kern="0" dirty="0">
                <a:solidFill>
                  <a:srgbClr val="E67E22"/>
                </a:solidFill>
              </a:rPr>
              <a:t>CONTROL / MITIGATION</a:t>
            </a:r>
            <a:endParaRPr lang="en-US" sz="650" dirty="0"/>
          </a:p>
        </p:txBody>
      </p:sp>
      <p:sp>
        <p:nvSpPr>
          <p:cNvPr id="28" name="Text 26"/>
          <p:cNvSpPr/>
          <p:nvPr/>
        </p:nvSpPr>
        <p:spPr>
          <a:xfrm>
            <a:off x="5074920" y="2862072"/>
            <a:ext cx="3749040" cy="566928"/>
          </a:xfrm>
          <a:prstGeom prst="rect">
            <a:avLst/>
          </a:prstGeom>
          <a:noFill/>
          <a:ln/>
        </p:spPr>
        <p:txBody>
          <a:bodyPr wrap="square" lIns="0" tIns="0" rIns="0" bIns="0" rtlCol="0" anchor="ctr"/>
          <a:lstStyle/>
          <a:p>
            <a:pPr indent="0" marL="0">
              <a:lnSpc>
                <a:spcPct val="120000"/>
              </a:lnSpc>
              <a:buNone/>
            </a:pPr>
            <a:r>
              <a:rPr lang="en-US" sz="780" dirty="0">
                <a:solidFill>
                  <a:srgbClr val="64748B"/>
                </a:solidFill>
              </a:rPr>
              <a:t>Raised with Microsoft Glint support. Interim: restrict proxy login rights strictly to Colleague Listening team; document all proxy sessions manually in a separate log.</a:t>
            </a:r>
            <a:endParaRPr lang="en-US" sz="780" dirty="0"/>
          </a:p>
        </p:txBody>
      </p:sp>
      <p:sp>
        <p:nvSpPr>
          <p:cNvPr id="29" name="Shape 27"/>
          <p:cNvSpPr/>
          <p:nvPr/>
        </p:nvSpPr>
        <p:spPr>
          <a:xfrm>
            <a:off x="4983480" y="2724912"/>
            <a:ext cx="0" cy="640080"/>
          </a:xfrm>
          <a:prstGeom prst="line">
            <a:avLst/>
          </a:prstGeom>
          <a:noFill/>
          <a:ln w="9525">
            <a:solidFill>
              <a:srgbClr val="E8EDF6"/>
            </a:solidFill>
            <a:prstDash val="solid"/>
          </a:ln>
        </p:spPr>
      </p:sp>
      <p:sp>
        <p:nvSpPr>
          <p:cNvPr id="30" name="Shape 28"/>
          <p:cNvSpPr/>
          <p:nvPr/>
        </p:nvSpPr>
        <p:spPr>
          <a:xfrm>
            <a:off x="201168" y="3483864"/>
            <a:ext cx="8741664" cy="1152144"/>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31" name="Shape 29"/>
          <p:cNvSpPr/>
          <p:nvPr/>
        </p:nvSpPr>
        <p:spPr>
          <a:xfrm>
            <a:off x="201168" y="3483864"/>
            <a:ext cx="54864" cy="1152144"/>
          </a:xfrm>
          <a:prstGeom prst="rect">
            <a:avLst/>
          </a:prstGeom>
          <a:solidFill>
            <a:srgbClr val="8E44AD"/>
          </a:solidFill>
          <a:ln/>
        </p:spPr>
      </p:sp>
      <p:sp>
        <p:nvSpPr>
          <p:cNvPr id="32" name="Shape 30"/>
          <p:cNvSpPr/>
          <p:nvPr/>
        </p:nvSpPr>
        <p:spPr>
          <a:xfrm>
            <a:off x="256032" y="3547872"/>
            <a:ext cx="475488" cy="347472"/>
          </a:xfrm>
          <a:prstGeom prst="rect">
            <a:avLst/>
          </a:prstGeom>
          <a:solidFill>
            <a:srgbClr val="8E44AD"/>
          </a:solidFill>
          <a:ln/>
        </p:spPr>
      </p:sp>
      <p:sp>
        <p:nvSpPr>
          <p:cNvPr id="33" name="Text 31"/>
          <p:cNvSpPr/>
          <p:nvPr/>
        </p:nvSpPr>
        <p:spPr>
          <a:xfrm>
            <a:off x="256032" y="3547872"/>
            <a:ext cx="475488" cy="347472"/>
          </a:xfrm>
          <a:prstGeom prst="rect">
            <a:avLst/>
          </a:prstGeom>
          <a:noFill/>
          <a:ln/>
        </p:spPr>
        <p:txBody>
          <a:bodyPr wrap="square" lIns="0" tIns="0" rIns="0" bIns="0" rtlCol="0" anchor="ctr"/>
          <a:lstStyle/>
          <a:p>
            <a:pPr algn="ctr" indent="0" marL="0">
              <a:buNone/>
            </a:pPr>
            <a:r>
              <a:rPr lang="en-US" sz="1100" b="1" dirty="0">
                <a:solidFill>
                  <a:srgbClr val="FFFFFF"/>
                </a:solidFill>
              </a:rPr>
              <a:t>R3</a:t>
            </a:r>
            <a:endParaRPr lang="en-US" sz="1100" dirty="0"/>
          </a:p>
        </p:txBody>
      </p:sp>
      <p:sp>
        <p:nvSpPr>
          <p:cNvPr id="34" name="Text 32"/>
          <p:cNvSpPr/>
          <p:nvPr/>
        </p:nvSpPr>
        <p:spPr>
          <a:xfrm>
            <a:off x="822960" y="3547872"/>
            <a:ext cx="5943600" cy="347472"/>
          </a:xfrm>
          <a:prstGeom prst="rect">
            <a:avLst/>
          </a:prstGeom>
          <a:noFill/>
          <a:ln/>
        </p:spPr>
        <p:txBody>
          <a:bodyPr wrap="square" lIns="0" tIns="0" rIns="0" bIns="0" rtlCol="0" anchor="ctr"/>
          <a:lstStyle/>
          <a:p>
            <a:pPr indent="0" marL="0">
              <a:buNone/>
            </a:pPr>
            <a:r>
              <a:rPr lang="en-US" sz="1050" b="1" dirty="0">
                <a:solidFill>
                  <a:srgbClr val="1A2340"/>
                </a:solidFill>
              </a:rPr>
              <a:t>Role Deletion Not Permitted — Accidental Roles Cannot Be Removed</a:t>
            </a:r>
            <a:endParaRPr lang="en-US" sz="1050" dirty="0"/>
          </a:p>
        </p:txBody>
      </p:sp>
      <p:sp>
        <p:nvSpPr>
          <p:cNvPr id="35" name="Shape 33"/>
          <p:cNvSpPr/>
          <p:nvPr/>
        </p:nvSpPr>
        <p:spPr>
          <a:xfrm>
            <a:off x="6858000" y="3575304"/>
            <a:ext cx="2011680" cy="292608"/>
          </a:xfrm>
          <a:prstGeom prst="rect">
            <a:avLst/>
          </a:prstGeom>
          <a:solidFill>
            <a:srgbClr val="8E44AD"/>
          </a:solidFill>
          <a:ln/>
        </p:spPr>
      </p:sp>
      <p:sp>
        <p:nvSpPr>
          <p:cNvPr id="36" name="Text 34"/>
          <p:cNvSpPr/>
          <p:nvPr/>
        </p:nvSpPr>
        <p:spPr>
          <a:xfrm>
            <a:off x="6858000" y="3575304"/>
            <a:ext cx="2011680" cy="292608"/>
          </a:xfrm>
          <a:prstGeom prst="rect">
            <a:avLst/>
          </a:prstGeom>
          <a:noFill/>
          <a:ln/>
        </p:spPr>
        <p:txBody>
          <a:bodyPr wrap="square" lIns="0" tIns="0" rIns="0" bIns="0" rtlCol="0" anchor="ctr"/>
          <a:lstStyle/>
          <a:p>
            <a:pPr algn="ctr" indent="0" marL="0">
              <a:buNone/>
            </a:pPr>
            <a:r>
              <a:rPr lang="en-US" sz="750" b="1" dirty="0">
                <a:solidFill>
                  <a:srgbClr val="FFFFFF"/>
                </a:solidFill>
              </a:rPr>
              <a:t>Gap — Escalated to Microsoft</a:t>
            </a:r>
            <a:endParaRPr lang="en-US" sz="750" dirty="0"/>
          </a:p>
        </p:txBody>
      </p:sp>
      <p:sp>
        <p:nvSpPr>
          <p:cNvPr id="37" name="Text 35"/>
          <p:cNvSpPr/>
          <p:nvPr/>
        </p:nvSpPr>
        <p:spPr>
          <a:xfrm>
            <a:off x="822960" y="3941064"/>
            <a:ext cx="457200" cy="146304"/>
          </a:xfrm>
          <a:prstGeom prst="rect">
            <a:avLst/>
          </a:prstGeom>
          <a:noFill/>
          <a:ln/>
        </p:spPr>
        <p:txBody>
          <a:bodyPr wrap="square" lIns="0" tIns="0" rIns="0" bIns="0" rtlCol="0" anchor="ctr"/>
          <a:lstStyle/>
          <a:p>
            <a:pPr indent="0" marL="0">
              <a:buNone/>
            </a:pPr>
            <a:r>
              <a:rPr lang="en-US" sz="650" b="1" spc="100" kern="0" dirty="0">
                <a:solidFill>
                  <a:srgbClr val="8E44AD"/>
                </a:solidFill>
              </a:rPr>
              <a:t>RISK</a:t>
            </a:r>
            <a:endParaRPr lang="en-US" sz="650" dirty="0"/>
          </a:p>
        </p:txBody>
      </p:sp>
      <p:sp>
        <p:nvSpPr>
          <p:cNvPr id="38" name="Text 36"/>
          <p:cNvSpPr/>
          <p:nvPr/>
        </p:nvSpPr>
        <p:spPr>
          <a:xfrm>
            <a:off x="822960" y="4078224"/>
            <a:ext cx="4114800" cy="566928"/>
          </a:xfrm>
          <a:prstGeom prst="rect">
            <a:avLst/>
          </a:prstGeom>
          <a:noFill/>
          <a:ln/>
        </p:spPr>
        <p:txBody>
          <a:bodyPr wrap="square" lIns="0" tIns="0" rIns="0" bIns="0" rtlCol="0" anchor="ctr"/>
          <a:lstStyle/>
          <a:p>
            <a:pPr indent="0" marL="0">
              <a:lnSpc>
                <a:spcPct val="120000"/>
              </a:lnSpc>
              <a:buNone/>
            </a:pPr>
            <a:r>
              <a:rPr lang="en-US" sz="780" dirty="0">
                <a:solidFill>
                  <a:srgbClr val="64748B"/>
                </a:solidFill>
              </a:rPr>
              <a:t>Admin users can create new roles and assign users to them, but the platform does not provide an option to delete roles once created. Roles created in error or no longer needed cannot be removed, leading to role proliferation and potential access governance issues.</a:t>
            </a:r>
            <a:endParaRPr lang="en-US" sz="780" dirty="0"/>
          </a:p>
        </p:txBody>
      </p:sp>
      <p:sp>
        <p:nvSpPr>
          <p:cNvPr id="39" name="Text 37"/>
          <p:cNvSpPr/>
          <p:nvPr/>
        </p:nvSpPr>
        <p:spPr>
          <a:xfrm>
            <a:off x="5074920" y="3941064"/>
            <a:ext cx="3749040" cy="146304"/>
          </a:xfrm>
          <a:prstGeom prst="rect">
            <a:avLst/>
          </a:prstGeom>
          <a:noFill/>
          <a:ln/>
        </p:spPr>
        <p:txBody>
          <a:bodyPr wrap="square" lIns="0" tIns="0" rIns="0" bIns="0" rtlCol="0" anchor="ctr"/>
          <a:lstStyle/>
          <a:p>
            <a:pPr indent="0" marL="0">
              <a:buNone/>
            </a:pPr>
            <a:r>
              <a:rPr lang="en-US" sz="650" b="1" spc="100" kern="0" dirty="0">
                <a:solidFill>
                  <a:srgbClr val="8E44AD"/>
                </a:solidFill>
              </a:rPr>
              <a:t>CONTROL / MITIGATION</a:t>
            </a:r>
            <a:endParaRPr lang="en-US" sz="650" dirty="0"/>
          </a:p>
        </p:txBody>
      </p:sp>
      <p:sp>
        <p:nvSpPr>
          <p:cNvPr id="40" name="Text 38"/>
          <p:cNvSpPr/>
          <p:nvPr/>
        </p:nvSpPr>
        <p:spPr>
          <a:xfrm>
            <a:off x="5074920" y="4078224"/>
            <a:ext cx="3749040" cy="566928"/>
          </a:xfrm>
          <a:prstGeom prst="rect">
            <a:avLst/>
          </a:prstGeom>
          <a:noFill/>
          <a:ln/>
        </p:spPr>
        <p:txBody>
          <a:bodyPr wrap="square" lIns="0" tIns="0" rIns="0" bIns="0" rtlCol="0" anchor="ctr"/>
          <a:lstStyle/>
          <a:p>
            <a:pPr indent="0" marL="0">
              <a:lnSpc>
                <a:spcPct val="120000"/>
              </a:lnSpc>
              <a:buNone/>
            </a:pPr>
            <a:r>
              <a:rPr lang="en-US" sz="780" dirty="0">
                <a:solidFill>
                  <a:srgbClr val="64748B"/>
                </a:solidFill>
              </a:rPr>
              <a:t>Formal change control process before any new role is created. Raised with Microsoft Glint team to add role deletion capability. Pending platform update.</a:t>
            </a:r>
            <a:endParaRPr lang="en-US" sz="780" dirty="0"/>
          </a:p>
        </p:txBody>
      </p:sp>
      <p:sp>
        <p:nvSpPr>
          <p:cNvPr id="41" name="Shape 39"/>
          <p:cNvSpPr/>
          <p:nvPr/>
        </p:nvSpPr>
        <p:spPr>
          <a:xfrm>
            <a:off x="4983480" y="3941064"/>
            <a:ext cx="0" cy="640080"/>
          </a:xfrm>
          <a:prstGeom prst="line">
            <a:avLst/>
          </a:prstGeom>
          <a:noFill/>
          <a:ln w="9525">
            <a:solidFill>
              <a:srgbClr val="E8EDF6"/>
            </a:solidFill>
            <a:prstDash val="solid"/>
          </a:ln>
        </p:spPr>
      </p:sp>
      <p:sp>
        <p:nvSpPr>
          <p:cNvPr id="42" name="Shape 40"/>
          <p:cNvSpPr/>
          <p:nvPr/>
        </p:nvSpPr>
        <p:spPr>
          <a:xfrm>
            <a:off x="201168" y="4736592"/>
            <a:ext cx="8741664" cy="292608"/>
          </a:xfrm>
          <a:prstGeom prst="rect">
            <a:avLst/>
          </a:prstGeom>
          <a:solidFill>
            <a:srgbClr val="FDEDEC"/>
          </a:solidFill>
          <a:ln/>
        </p:spPr>
      </p:sp>
      <p:sp>
        <p:nvSpPr>
          <p:cNvPr id="43" name="Shape 41"/>
          <p:cNvSpPr/>
          <p:nvPr/>
        </p:nvSpPr>
        <p:spPr>
          <a:xfrm>
            <a:off x="201168" y="4736592"/>
            <a:ext cx="54864" cy="292608"/>
          </a:xfrm>
          <a:prstGeom prst="rect">
            <a:avLst/>
          </a:prstGeom>
          <a:solidFill>
            <a:srgbClr val="C0392B"/>
          </a:solidFill>
          <a:ln/>
        </p:spPr>
      </p:sp>
      <p:sp>
        <p:nvSpPr>
          <p:cNvPr id="44" name="Text 42"/>
          <p:cNvSpPr/>
          <p:nvPr/>
        </p:nvSpPr>
        <p:spPr>
          <a:xfrm>
            <a:off x="347472" y="4736592"/>
            <a:ext cx="8503920" cy="292608"/>
          </a:xfrm>
          <a:prstGeom prst="rect">
            <a:avLst/>
          </a:prstGeom>
          <a:noFill/>
          <a:ln/>
        </p:spPr>
        <p:txBody>
          <a:bodyPr wrap="square" lIns="0" tIns="0" rIns="0" bIns="0" rtlCol="0" anchor="ctr"/>
          <a:lstStyle/>
          <a:p>
            <a:pPr indent="0" marL="0">
              <a:buNone/>
            </a:pPr>
            <a:r>
              <a:rPr lang="en-US" sz="820" dirty="0">
                <a:solidFill>
                  <a:srgbClr val="922B21"/>
                </a:solidFill>
              </a:rPr>
              <a:t>⚠  R2 and R3 are active platform gaps. R1 is a structural risk inherent to Glint's admin model. All three require CDO awareness and sign-off on the interim mitigation approach.</a:t>
            </a:r>
            <a:endParaRPr lang="en-US" sz="82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Viva Glint – Role &amp; Access Framework</dc:title>
  <dc:subject>PptxGenJS Presentation</dc:subject>
  <dc:creator>PptxGenJS</dc:creator>
  <cp:lastModifiedBy>PptxGenJS</cp:lastModifiedBy>
  <cp:revision>1</cp:revision>
  <dcterms:created xsi:type="dcterms:W3CDTF">2026-04-10T03:49:48Z</dcterms:created>
  <dcterms:modified xsi:type="dcterms:W3CDTF">2026-04-10T03:49:48Z</dcterms:modified>
</cp:coreProperties>
</file>