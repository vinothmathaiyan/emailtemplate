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Listening  —  Current State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137160"/>
            <a:ext cx="1170432" cy="384048"/>
          </a:xfrm>
          <a:prstGeom prst="roundRect">
            <a:avLst>
              <a:gd name="adj" fmla="val 28571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371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today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555480" y="137160"/>
            <a:ext cx="1170432" cy="384048"/>
          </a:xfrm>
          <a:prstGeom prst="roundRect">
            <a:avLst>
              <a:gd name="adj" fmla="val 28571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1371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 undecided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789920" y="137160"/>
            <a:ext cx="1170432" cy="384048"/>
          </a:xfrm>
          <a:prstGeom prst="roundRect">
            <a:avLst>
              <a:gd name="adj" fmla="val 28571"/>
            </a:avLst>
          </a:prstGeom>
          <a:solidFill>
            <a:srgbClr val="D0E8FB"/>
          </a:solidFill>
          <a:ln w="12700">
            <a:solidFill>
              <a:srgbClr val="D0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0" y="1371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Products total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768096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now  ·  25 listening products mapped end-to-end  ·  Source: Employee Listening Architecture v3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24128"/>
            <a:ext cx="2377440" cy="25603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24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 REQUIREMENTS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237744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53312"/>
            <a:ext cx="27432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533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088" y="13350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" y="148132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products — all planned (P)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1655064"/>
            <a:ext cx="2194560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700784"/>
            <a:ext cx="274320" cy="256032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7007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D17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04088" y="16824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" y="18288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products — all planned (P)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002536"/>
            <a:ext cx="2194560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048256"/>
            <a:ext cx="2743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048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04088" y="2029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CSV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" y="217627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products — only live route today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2350008"/>
            <a:ext cx="2194560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395728"/>
            <a:ext cx="27432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395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4088" y="23774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" y="25237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source target — Q3/Q4 migration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587752"/>
            <a:ext cx="23774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587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GAPS &amp; DECISIONS NEEDED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843784"/>
            <a:ext cx="23774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" y="2953512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9864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WD or SN connections — both fully planned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2336" y="31729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118104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tool undecided for 13 of 25 products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2336" y="339242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3375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HRDP migration needed before full automation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2336" y="361188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55701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need data owner + GDPR sign-off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2336" y="3831336"/>
            <a:ext cx="91440" cy="914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7647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CSV is only confirmed live data path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858768"/>
            <a:ext cx="2377440" cy="2560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STATUS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4114800"/>
            <a:ext cx="2377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" y="4206240"/>
            <a:ext cx="91440" cy="914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15137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≥5 set across confirmed products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02336" y="4407408"/>
            <a:ext cx="91440" cy="914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3525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confirmed: Your View, Exit, Barometers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02336" y="4608576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55371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review in progress for most products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" y="4809744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754880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 Microsoft Fabric / OneLake not yet live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880360" y="1024128"/>
            <a:ext cx="9006840" cy="25603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71800" y="1024128"/>
            <a:ext cx="8915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25 LISTENING PRODUCTS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95160" y="1024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active   ·   P = planned   ·   ? = tool TBD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880360" y="1280160"/>
            <a:ext cx="90068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81728" y="1316736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35224" y="1929384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71800" y="13350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971800" y="146304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View Spring 2026 (Pilot)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971800" y="165506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71800" y="16550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611880" y="165506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11880" y="1655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483096" y="1316736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36592" y="1929384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73168" y="13350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773168" y="146304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View Spring 2026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73168" y="165506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73168" y="16550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413248" y="165506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13248" y="1655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284464" y="1316736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37960" y="1929384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74536" y="13350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574536" y="146304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View Autumn 2026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574536" y="165506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74536" y="16550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7214616" y="165506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14616" y="1655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0085832" y="1316736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39328" y="1929384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75904" y="13350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8375904" y="146304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– Recruitment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375904" y="165506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75904" y="16550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9015984" y="165506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015984" y="1655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Glint??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0140696" y="1929384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177272" y="13350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10177272" y="146304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– Onboarding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0177272" y="165506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177272" y="16550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10817352" y="165506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817352" y="1655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Glint??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4681728" y="1965960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35224" y="2578608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971800" y="19842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971800" y="211226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Training Survey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971800" y="230428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971800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611880" y="2304288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11880" y="2304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Glint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483096" y="1965960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36592" y="2578608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73168" y="19842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4773168" y="211226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Satisfaction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773168" y="230428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773168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5413248" y="2304288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13248" y="2304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Qlt/Glint?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8284464" y="1965960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37960" y="2578608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74536" y="19842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6574536" y="211226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Experience H1 2026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6574536" y="230428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574536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214616" y="2304288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214616" y="2304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Glint??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10085832" y="1965960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39328" y="2578608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375904" y="19842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8375904" y="211226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Experience H2 2026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8375904" y="230428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75904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9015984" y="2304288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015984" y="2304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Forms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10140696" y="2578608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177272" y="19842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10177272" y="211226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Exit Survey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10177272" y="230428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177272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10817352" y="2304288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817352" y="2304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Forms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4681728" y="2615184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935224" y="3227832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971800" y="263347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2971800" y="276148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Exit – Female Colleagues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2971800" y="295351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971800" y="2953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3611880" y="2953512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611880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Forms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6483096" y="2615184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36592" y="3227832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773168" y="263347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4773168" y="276148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Barometer – Global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4773168" y="295351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773168" y="2953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5413248" y="2953512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413248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Forms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8284464" y="2615184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537960" y="3227832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574536" y="263347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6574536" y="276148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Barometer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6574536" y="295351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574536" y="2953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7214616" y="2953512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214616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Glint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10085832" y="2615184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39328" y="3227832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375904" y="263347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8375904" y="276148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Survey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8375904" y="295351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375904" y="2953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9015984" y="2953512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015984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10140696" y="3227832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0177272" y="263347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0177272" y="276148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Case Experience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10177272" y="295351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177272" y="2953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10817352" y="2953512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817352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Pulse??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4681728" y="3264408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935224" y="3877056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971800" y="328269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2971800" y="341071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Satisfaction (Speak Up)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971800" y="360273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971800" y="36027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3611880" y="3602736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611880" y="3602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Glint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6483096" y="3264408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736592" y="3877056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773168" y="328269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4773168" y="341071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Effectiveness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4773168" y="360273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773168" y="36027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192" name="Shape 190"/>
          <p:cNvSpPr/>
          <p:nvPr/>
        </p:nvSpPr>
        <p:spPr>
          <a:xfrm>
            <a:off x="5413248" y="3602736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413248" y="3602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Forms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8284464" y="3264408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537960" y="3877056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574536" y="328269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6574536" y="341071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Adjustment Satisfaction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6574536" y="360273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574536" y="36027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7214616" y="3602736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214616" y="3602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Pulse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10085832" y="3264408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39328" y="3877056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375904" y="328269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700" dirty="0"/>
          </a:p>
        </p:txBody>
      </p:sp>
      <p:sp>
        <p:nvSpPr>
          <p:cNvPr id="205" name="Text 203"/>
          <p:cNvSpPr/>
          <p:nvPr/>
        </p:nvSpPr>
        <p:spPr>
          <a:xfrm>
            <a:off x="8375904" y="341071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(Redeployment)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8375904" y="360273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8375904" y="36027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9015984" y="3602736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015984" y="3602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Glint</a:t>
            </a:r>
            <a:endParaRPr lang="en-US" sz="650" dirty="0"/>
          </a:p>
        </p:txBody>
      </p:sp>
      <p:sp>
        <p:nvSpPr>
          <p:cNvPr id="210" name="Shape 208"/>
          <p:cNvSpPr/>
          <p:nvPr/>
        </p:nvSpPr>
        <p:spPr>
          <a:xfrm>
            <a:off x="10140696" y="3877056"/>
            <a:ext cx="1746504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177272" y="328269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10177272" y="341071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Assessment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0177272" y="360273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0177272" y="36027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10817352" y="3602736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817352" y="3602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4681728" y="3913632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2971800" y="39319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700" dirty="0"/>
          </a:p>
        </p:txBody>
      </p:sp>
      <p:sp>
        <p:nvSpPr>
          <p:cNvPr id="219" name="Text 217"/>
          <p:cNvSpPr/>
          <p:nvPr/>
        </p:nvSpPr>
        <p:spPr>
          <a:xfrm>
            <a:off x="2971800" y="4059936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Assessment (SHL)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2971800" y="425196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2971800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222" name="Shape 220"/>
          <p:cNvSpPr/>
          <p:nvPr/>
        </p:nvSpPr>
        <p:spPr>
          <a:xfrm>
            <a:off x="3611880" y="4251960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3611880" y="4251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650" dirty="0"/>
          </a:p>
        </p:txBody>
      </p:sp>
      <p:sp>
        <p:nvSpPr>
          <p:cNvPr id="224" name="Shape 222"/>
          <p:cNvSpPr/>
          <p:nvPr/>
        </p:nvSpPr>
        <p:spPr>
          <a:xfrm>
            <a:off x="6483096" y="3913632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4773168" y="39319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700" dirty="0"/>
          </a:p>
        </p:txBody>
      </p:sp>
      <p:sp>
        <p:nvSpPr>
          <p:cNvPr id="226" name="Text 224"/>
          <p:cNvSpPr/>
          <p:nvPr/>
        </p:nvSpPr>
        <p:spPr>
          <a:xfrm>
            <a:off x="4773168" y="4059936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Comms Pulse</a:t>
            </a:r>
            <a:endParaRPr lang="en-US" sz="850" dirty="0"/>
          </a:p>
        </p:txBody>
      </p:sp>
      <p:sp>
        <p:nvSpPr>
          <p:cNvPr id="227" name="Shape 225"/>
          <p:cNvSpPr/>
          <p:nvPr/>
        </p:nvSpPr>
        <p:spPr>
          <a:xfrm>
            <a:off x="4773168" y="425196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773168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229" name="Shape 227"/>
          <p:cNvSpPr/>
          <p:nvPr/>
        </p:nvSpPr>
        <p:spPr>
          <a:xfrm>
            <a:off x="5413248" y="4251960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5413248" y="4251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650" dirty="0"/>
          </a:p>
        </p:txBody>
      </p:sp>
      <p:sp>
        <p:nvSpPr>
          <p:cNvPr id="231" name="Shape 229"/>
          <p:cNvSpPr/>
          <p:nvPr/>
        </p:nvSpPr>
        <p:spPr>
          <a:xfrm>
            <a:off x="8284464" y="3913632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6574536" y="39319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700" dirty="0"/>
          </a:p>
        </p:txBody>
      </p:sp>
      <p:sp>
        <p:nvSpPr>
          <p:cNvPr id="233" name="Text 231"/>
          <p:cNvSpPr/>
          <p:nvPr/>
        </p:nvSpPr>
        <p:spPr>
          <a:xfrm>
            <a:off x="6574536" y="4059936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Experience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6574536" y="425196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6574536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236" name="Shape 234"/>
          <p:cNvSpPr/>
          <p:nvPr/>
        </p:nvSpPr>
        <p:spPr>
          <a:xfrm>
            <a:off x="7214616" y="4251960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7214616" y="4251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650" dirty="0"/>
          </a:p>
        </p:txBody>
      </p:sp>
      <p:sp>
        <p:nvSpPr>
          <p:cNvPr id="238" name="Shape 236"/>
          <p:cNvSpPr/>
          <p:nvPr/>
        </p:nvSpPr>
        <p:spPr>
          <a:xfrm>
            <a:off x="10085832" y="3913632"/>
            <a:ext cx="0" cy="612648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375904" y="39319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700" dirty="0"/>
          </a:p>
        </p:txBody>
      </p:sp>
      <p:sp>
        <p:nvSpPr>
          <p:cNvPr id="240" name="Text 238"/>
          <p:cNvSpPr/>
          <p:nvPr/>
        </p:nvSpPr>
        <p:spPr>
          <a:xfrm>
            <a:off x="8375904" y="4059936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850" dirty="0"/>
          </a:p>
        </p:txBody>
      </p:sp>
      <p:sp>
        <p:nvSpPr>
          <p:cNvPr id="241" name="Shape 239"/>
          <p:cNvSpPr/>
          <p:nvPr/>
        </p:nvSpPr>
        <p:spPr>
          <a:xfrm>
            <a:off x="8375904" y="425196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8375904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TBD</a:t>
            </a:r>
            <a:endParaRPr lang="en-US" sz="650" dirty="0"/>
          </a:p>
        </p:txBody>
      </p:sp>
      <p:sp>
        <p:nvSpPr>
          <p:cNvPr id="243" name="Shape 241"/>
          <p:cNvSpPr/>
          <p:nvPr/>
        </p:nvSpPr>
        <p:spPr>
          <a:xfrm>
            <a:off x="9015984" y="4251960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9015984" y="4251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650" dirty="0"/>
          </a:p>
        </p:txBody>
      </p:sp>
      <p:sp>
        <p:nvSpPr>
          <p:cNvPr id="245" name="Text 243"/>
          <p:cNvSpPr/>
          <p:nvPr/>
        </p:nvSpPr>
        <p:spPr>
          <a:xfrm>
            <a:off x="10177272" y="39319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700" dirty="0"/>
          </a:p>
        </p:txBody>
      </p:sp>
      <p:sp>
        <p:nvSpPr>
          <p:cNvPr id="246" name="Text 244"/>
          <p:cNvSpPr/>
          <p:nvPr/>
        </p:nvSpPr>
        <p:spPr>
          <a:xfrm>
            <a:off x="10177272" y="4059936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App</a:t>
            </a:r>
            <a:endParaRPr lang="en-US" sz="850" dirty="0"/>
          </a:p>
        </p:txBody>
      </p:sp>
      <p:sp>
        <p:nvSpPr>
          <p:cNvPr id="247" name="Shape 245"/>
          <p:cNvSpPr/>
          <p:nvPr/>
        </p:nvSpPr>
        <p:spPr>
          <a:xfrm>
            <a:off x="10177272" y="425196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0177272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Planned</a:t>
            </a:r>
            <a:endParaRPr lang="en-US" sz="650" dirty="0"/>
          </a:p>
        </p:txBody>
      </p:sp>
      <p:sp>
        <p:nvSpPr>
          <p:cNvPr id="249" name="Shape 247"/>
          <p:cNvSpPr/>
          <p:nvPr/>
        </p:nvSpPr>
        <p:spPr>
          <a:xfrm>
            <a:off x="10817352" y="4251960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0817352" y="4251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Glint</a:t>
            </a:r>
            <a:endParaRPr lang="en-US" sz="650" dirty="0"/>
          </a:p>
        </p:txBody>
      </p:sp>
      <p:sp>
        <p:nvSpPr>
          <p:cNvPr id="251" name="Shape 249"/>
          <p:cNvSpPr/>
          <p:nvPr/>
        </p:nvSpPr>
        <p:spPr>
          <a:xfrm>
            <a:off x="2880360" y="4636008"/>
            <a:ext cx="9006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2990088" y="468172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DATA IN</a:t>
            </a:r>
            <a:endParaRPr lang="en-US" sz="650" dirty="0"/>
          </a:p>
        </p:txBody>
      </p:sp>
      <p:sp>
        <p:nvSpPr>
          <p:cNvPr id="253" name="Text 251"/>
          <p:cNvSpPr/>
          <p:nvPr/>
        </p:nvSpPr>
        <p:spPr>
          <a:xfrm>
            <a:off x="2990088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· SN · CSV · HRDP</a:t>
            </a:r>
            <a:endParaRPr lang="en-US" sz="800" dirty="0"/>
          </a:p>
        </p:txBody>
      </p:sp>
      <p:sp>
        <p:nvSpPr>
          <p:cNvPr id="254" name="Text 252"/>
          <p:cNvSpPr/>
          <p:nvPr/>
        </p:nvSpPr>
        <p:spPr>
          <a:xfrm>
            <a:off x="2990088" y="4974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CSV live today</a:t>
            </a:r>
            <a:endParaRPr lang="en-US" sz="700" dirty="0"/>
          </a:p>
        </p:txBody>
      </p:sp>
      <p:sp>
        <p:nvSpPr>
          <p:cNvPr id="255" name="Shape 253"/>
          <p:cNvSpPr/>
          <p:nvPr/>
        </p:nvSpPr>
        <p:spPr>
          <a:xfrm>
            <a:off x="4681728" y="4690872"/>
            <a:ext cx="0" cy="41148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572000" y="4777740"/>
            <a:ext cx="219456" cy="219456"/>
          </a:xfrm>
          <a:prstGeom prst="ellipse">
            <a:avLst/>
          </a:prstGeom>
          <a:solidFill>
            <a:srgbClr val="ECEAE4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572000" y="47777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58" name="Text 256"/>
          <p:cNvSpPr/>
          <p:nvPr/>
        </p:nvSpPr>
        <p:spPr>
          <a:xfrm>
            <a:off x="4791456" y="468172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TRIGGER</a:t>
            </a:r>
            <a:endParaRPr lang="en-US" sz="650" dirty="0"/>
          </a:p>
        </p:txBody>
      </p:sp>
      <p:sp>
        <p:nvSpPr>
          <p:cNvPr id="259" name="Text 257"/>
          <p:cNvSpPr/>
          <p:nvPr/>
        </p:nvSpPr>
        <p:spPr>
          <a:xfrm>
            <a:off x="4791456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· Bi-Annual · Adhoc</a:t>
            </a:r>
            <a:endParaRPr lang="en-US" sz="800" dirty="0"/>
          </a:p>
        </p:txBody>
      </p:sp>
      <p:sp>
        <p:nvSpPr>
          <p:cNvPr id="260" name="Text 258"/>
          <p:cNvSpPr/>
          <p:nvPr/>
        </p:nvSpPr>
        <p:spPr>
          <a:xfrm>
            <a:off x="4791456" y="4974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cadences</a:t>
            </a:r>
            <a:endParaRPr lang="en-US" sz="700" dirty="0"/>
          </a:p>
        </p:txBody>
      </p:sp>
      <p:sp>
        <p:nvSpPr>
          <p:cNvPr id="261" name="Shape 259"/>
          <p:cNvSpPr/>
          <p:nvPr/>
        </p:nvSpPr>
        <p:spPr>
          <a:xfrm>
            <a:off x="6483096" y="4690872"/>
            <a:ext cx="0" cy="41148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373368" y="4777740"/>
            <a:ext cx="219456" cy="219456"/>
          </a:xfrm>
          <a:prstGeom prst="ellipse">
            <a:avLst/>
          </a:prstGeom>
          <a:solidFill>
            <a:srgbClr val="ECEAE4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373368" y="47777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64" name="Text 262"/>
          <p:cNvSpPr/>
          <p:nvPr/>
        </p:nvSpPr>
        <p:spPr>
          <a:xfrm>
            <a:off x="6592824" y="468172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COLLECT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6592824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· Glint · Forms · Pulse</a:t>
            </a:r>
            <a:endParaRPr lang="en-US" sz="800" dirty="0"/>
          </a:p>
        </p:txBody>
      </p:sp>
      <p:sp>
        <p:nvSpPr>
          <p:cNvPr id="266" name="Text 264"/>
          <p:cNvSpPr/>
          <p:nvPr/>
        </p:nvSpPr>
        <p:spPr>
          <a:xfrm>
            <a:off x="6592824" y="4974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</a:t>
            </a:r>
            <a:endParaRPr lang="en-US" sz="700" dirty="0"/>
          </a:p>
        </p:txBody>
      </p:sp>
      <p:sp>
        <p:nvSpPr>
          <p:cNvPr id="267" name="Shape 265"/>
          <p:cNvSpPr/>
          <p:nvPr/>
        </p:nvSpPr>
        <p:spPr>
          <a:xfrm>
            <a:off x="8284464" y="4690872"/>
            <a:ext cx="0" cy="41148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174736" y="4777740"/>
            <a:ext cx="219456" cy="219456"/>
          </a:xfrm>
          <a:prstGeom prst="ellipse">
            <a:avLst/>
          </a:prstGeom>
          <a:solidFill>
            <a:srgbClr val="ECEAE4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8174736" y="47777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70" name="Text 268"/>
          <p:cNvSpPr/>
          <p:nvPr/>
        </p:nvSpPr>
        <p:spPr>
          <a:xfrm>
            <a:off x="8394192" y="468172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PROCESS</a:t>
            </a:r>
            <a:endParaRPr lang="en-US" sz="650" dirty="0"/>
          </a:p>
        </p:txBody>
      </p:sp>
      <p:sp>
        <p:nvSpPr>
          <p:cNvPr id="271" name="Text 269"/>
          <p:cNvSpPr/>
          <p:nvPr/>
        </p:nvSpPr>
        <p:spPr>
          <a:xfrm>
            <a:off x="8394192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 Microsoft Fabric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8394192" y="4974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+ Purview</a:t>
            </a:r>
            <a:endParaRPr lang="en-US" sz="700" dirty="0"/>
          </a:p>
        </p:txBody>
      </p:sp>
      <p:sp>
        <p:nvSpPr>
          <p:cNvPr id="273" name="Shape 271"/>
          <p:cNvSpPr/>
          <p:nvPr/>
        </p:nvSpPr>
        <p:spPr>
          <a:xfrm>
            <a:off x="10085832" y="4690872"/>
            <a:ext cx="0" cy="41148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76104" y="4777740"/>
            <a:ext cx="219456" cy="219456"/>
          </a:xfrm>
          <a:prstGeom prst="ellipse">
            <a:avLst/>
          </a:prstGeom>
          <a:solidFill>
            <a:srgbClr val="ECEAE4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9976104" y="47777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76" name="Text 274"/>
          <p:cNvSpPr/>
          <p:nvPr/>
        </p:nvSpPr>
        <p:spPr>
          <a:xfrm>
            <a:off x="10195560" y="468172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INSIGHTS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10195560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Copilot · Qlik</a:t>
            </a:r>
            <a:endParaRPr lang="en-US" sz="800" dirty="0"/>
          </a:p>
        </p:txBody>
      </p:sp>
      <p:sp>
        <p:nvSpPr>
          <p:cNvPr id="278" name="Text 276"/>
          <p:cNvSpPr/>
          <p:nvPr/>
        </p:nvSpPr>
        <p:spPr>
          <a:xfrm>
            <a:off x="10195560" y="4974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planned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274320" y="5193792"/>
            <a:ext cx="11612880" cy="0"/>
          </a:xfrm>
          <a:prstGeom prst="line">
            <a:avLst/>
          </a:prstGeom>
          <a:noFill/>
          <a:ln w="6350">
            <a:solidFill>
              <a:srgbClr val="E0DDD5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74320" y="5239512"/>
            <a:ext cx="109728" cy="109728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429768" y="52303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Confirmed</a:t>
            </a:r>
            <a:endParaRPr lang="en-US" sz="750" dirty="0"/>
          </a:p>
        </p:txBody>
      </p:sp>
      <p:sp>
        <p:nvSpPr>
          <p:cNvPr id="282" name="Shape 280"/>
          <p:cNvSpPr/>
          <p:nvPr/>
        </p:nvSpPr>
        <p:spPr>
          <a:xfrm>
            <a:off x="1847088" y="5239512"/>
            <a:ext cx="109728" cy="10972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2002536" y="52303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(P)</a:t>
            </a:r>
            <a:endParaRPr lang="en-US" sz="750" dirty="0"/>
          </a:p>
        </p:txBody>
      </p:sp>
      <p:sp>
        <p:nvSpPr>
          <p:cNvPr id="284" name="Shape 282"/>
          <p:cNvSpPr/>
          <p:nvPr/>
        </p:nvSpPr>
        <p:spPr>
          <a:xfrm>
            <a:off x="3419856" y="5239512"/>
            <a:ext cx="109728" cy="109728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3575304" y="52303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TBD / Undecided</a:t>
            </a:r>
            <a:endParaRPr lang="en-US" sz="750" dirty="0"/>
          </a:p>
        </p:txBody>
      </p:sp>
      <p:sp>
        <p:nvSpPr>
          <p:cNvPr id="286" name="Text 284"/>
          <p:cNvSpPr/>
          <p:nvPr/>
        </p:nvSpPr>
        <p:spPr>
          <a:xfrm>
            <a:off x="6858000" y="523036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Employee Listening Architecture v3   ·   25 products   ·   4 data sources   ·   March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2026-03-30T08:40:00Z</dcterms:created>
  <dcterms:modified xsi:type="dcterms:W3CDTF">2026-03-30T08:40:00Z</dcterms:modified>
</cp:coreProperties>
</file>