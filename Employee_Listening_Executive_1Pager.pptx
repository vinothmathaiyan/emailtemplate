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example.com/Employee_Listening_Architecture_v3.xlsx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132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Employee Listening  —  Architecture: Current State &amp; Roadmap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75320" y="128016"/>
            <a:ext cx="950976" cy="329184"/>
          </a:xfrm>
          <a:prstGeom prst="roundRect">
            <a:avLst>
              <a:gd name="adj" fmla="val 27778"/>
            </a:avLst>
          </a:prstGeom>
          <a:solidFill>
            <a:srgbClr val="D1EAD8"/>
          </a:solidFill>
          <a:ln w="12700">
            <a:solidFill>
              <a:srgbClr val="D1EA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128016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6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Active today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9262872" y="128016"/>
            <a:ext cx="950976" cy="329184"/>
          </a:xfrm>
          <a:prstGeom prst="roundRect">
            <a:avLst>
              <a:gd name="adj" fmla="val 27778"/>
            </a:avLst>
          </a:prstGeom>
          <a:solidFill>
            <a:srgbClr val="FFF0CC"/>
          </a:solidFill>
          <a:ln w="12700">
            <a:solidFill>
              <a:srgbClr val="FFF0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62872" y="128016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Tool undecided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0250424" y="128016"/>
            <a:ext cx="950976" cy="329184"/>
          </a:xfrm>
          <a:prstGeom prst="roundRect">
            <a:avLst>
              <a:gd name="adj" fmla="val 27778"/>
            </a:avLst>
          </a:prstGeom>
          <a:solidFill>
            <a:srgbClr val="EAE6FA"/>
          </a:solidFill>
          <a:ln w="12700">
            <a:solidFill>
              <a:srgbClr val="EAE6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50424" y="128016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B2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MODIS Preview Jul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1237976" y="128016"/>
            <a:ext cx="950976" cy="329184"/>
          </a:xfrm>
          <a:prstGeom prst="roundRect">
            <a:avLst>
              <a:gd name="adj" fmla="val 27778"/>
            </a:avLst>
          </a:prstGeom>
          <a:solidFill>
            <a:srgbClr val="D0E8FB"/>
          </a:solidFill>
          <a:ln w="12700">
            <a:solidFill>
              <a:srgbClr val="D0E8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37976" y="128016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Products total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20040" y="7315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know now  ·  25 listening products  ·  End-to-end architecture overview</a:t>
            </a:r>
            <a:endParaRPr lang="en-US" sz="750" dirty="0"/>
          </a:p>
        </p:txBody>
      </p:sp>
      <p:sp>
        <p:nvSpPr>
          <p:cNvPr id="14" name="Text 12">
            <a:hlinkClick r:id="rId1" tooltip=""/>
          </p:cNvPr>
          <p:cNvSpPr/>
          <p:nvPr/>
        </p:nvSpPr>
        <p:spPr>
          <a:xfrm>
            <a:off x="8778240" y="7315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u="sng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full detail spreadsheet →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56032" y="987552"/>
            <a:ext cx="2487168" cy="237744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987552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SOURCE REQUIREMENTS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56032" y="1225296"/>
            <a:ext cx="2487168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BD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" y="1298448"/>
            <a:ext cx="256032" cy="237744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129844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40A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WD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67512" y="1289304"/>
            <a:ext cx="1984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Workday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7512" y="1426464"/>
            <a:ext cx="1984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products — all planned (P)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47472" y="1609344"/>
            <a:ext cx="2304288" cy="0"/>
          </a:xfrm>
          <a:prstGeom prst="line">
            <a:avLst/>
          </a:prstGeom>
          <a:noFill/>
          <a:ln w="6350">
            <a:solidFill>
              <a:srgbClr val="DDDBD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" y="1673352"/>
            <a:ext cx="256032" cy="237744"/>
          </a:xfrm>
          <a:prstGeom prst="rect">
            <a:avLst/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167335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D17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SN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67512" y="1664208"/>
            <a:ext cx="1984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67512" y="1801368"/>
            <a:ext cx="1984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products — all planned (P)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47472" y="1984248"/>
            <a:ext cx="2304288" cy="0"/>
          </a:xfrm>
          <a:prstGeom prst="line">
            <a:avLst/>
          </a:prstGeom>
          <a:noFill/>
          <a:ln w="6350">
            <a:solidFill>
              <a:srgbClr val="DDDBD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" y="2048256"/>
            <a:ext cx="256032" cy="237744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2048256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5F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67512" y="2039112"/>
            <a:ext cx="1984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/ CSV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67512" y="2176272"/>
            <a:ext cx="1984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products — only live route today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47472" y="2359152"/>
            <a:ext cx="2304288" cy="0"/>
          </a:xfrm>
          <a:prstGeom prst="line">
            <a:avLst/>
          </a:prstGeom>
          <a:noFill/>
          <a:ln w="6350">
            <a:solidFill>
              <a:srgbClr val="DDDBD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7472" y="2423160"/>
            <a:ext cx="256032" cy="237744"/>
          </a:xfrm>
          <a:prstGeom prst="rect">
            <a:avLst/>
          </a:prstGeom>
          <a:solidFill>
            <a:srgbClr val="FFF3CD"/>
          </a:solidFill>
          <a:ln w="12700">
            <a:solidFill>
              <a:srgbClr val="FFF3C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242316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2400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HP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67512" y="2414016"/>
            <a:ext cx="1984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HRDP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67512" y="2551176"/>
            <a:ext cx="1984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source — migration Q3/Q4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56032" y="2852928"/>
            <a:ext cx="2487168" cy="23774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2852928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GAPS &amp; DECISIONS NEEDED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256032" y="3090672"/>
            <a:ext cx="2487168" cy="1152144"/>
          </a:xfrm>
          <a:prstGeom prst="rect">
            <a:avLst/>
          </a:prstGeom>
          <a:solidFill>
            <a:srgbClr val="FFFFFF"/>
          </a:solidFill>
          <a:ln w="6350">
            <a:solidFill>
              <a:srgbClr val="DDDBD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74904" y="3182112"/>
            <a:ext cx="91440" cy="914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2064" y="3127248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WD or SN connections yet — both fully planned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74904" y="3401568"/>
            <a:ext cx="91440" cy="914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2064" y="3346704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tool undecided for 13 of 25 products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74904" y="3621024"/>
            <a:ext cx="91440" cy="914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" y="3566160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HRDP migration required before full automation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74904" y="3840480"/>
            <a:ext cx="91440" cy="914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2064" y="3785616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products still need data owner + GDPR sign-off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74904" y="4059936"/>
            <a:ext cx="91440" cy="9144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2064" y="4005072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CSV is the only confirmed live data path today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56032" y="4315968"/>
            <a:ext cx="2487168" cy="969264"/>
          </a:xfrm>
          <a:prstGeom prst="rect">
            <a:avLst/>
          </a:prstGeom>
          <a:solidFill>
            <a:srgbClr val="EAE6FA"/>
          </a:solidFill>
          <a:ln w="12700">
            <a:solidFill>
              <a:srgbClr val="C4BA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56032" y="4315968"/>
            <a:ext cx="146304" cy="969264"/>
          </a:xfrm>
          <a:prstGeom prst="rect">
            <a:avLst/>
          </a:prstGeom>
          <a:solidFill>
            <a:srgbClr val="3B2F8A"/>
          </a:solidFill>
          <a:ln w="12700">
            <a:solidFill>
              <a:srgbClr val="3B2F8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5488" y="4352544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2F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MODIS Plugin — Preview July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75488" y="4553712"/>
            <a:ext cx="22128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A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MODIS will be added for preview in July. We will </a:t>
            </a:r>
            <a:pPr indent="0" marL="0">
              <a:buNone/>
            </a:pPr>
            <a:r>
              <a:rPr lang="en-US" sz="800" b="1" dirty="0">
                <a:solidFill>
                  <a:srgbClr val="2A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plugin with our systems</a:t>
            </a:r>
            <a:pPr indent="0" marL="0">
              <a:buNone/>
            </a:pPr>
            <a:r>
              <a:rPr lang="en-US" sz="800" dirty="0">
                <a:solidFill>
                  <a:srgbClr val="2A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align integration with WD, SN and HRDP data flows before full rollout.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926080" y="987552"/>
            <a:ext cx="897940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017520" y="987552"/>
            <a:ext cx="8887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END-TO-END LISTENING FLOW  —  HOW IT WORKS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2926080" y="1261872"/>
            <a:ext cx="1795882" cy="4005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BD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926080" y="1261872"/>
            <a:ext cx="1795882" cy="27432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017520" y="129844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3346704" y="1298448"/>
            <a:ext cx="129296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6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IN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3017520" y="1591056"/>
            <a:ext cx="16312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Sources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3017520" y="1810512"/>
            <a:ext cx="163129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data is pulled from Workday (workforce), ServiceNow (HR cases &amp; transactions) and Manual CSV uploads. HRDP will become the single golden source post-migration (Q3/Q4). Until then, CSV is the only active live feed.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017520" y="4919472"/>
            <a:ext cx="1613002" cy="237744"/>
          </a:xfrm>
          <a:prstGeom prst="roundRect">
            <a:avLst>
              <a:gd name="adj" fmla="val 23077"/>
            </a:avLst>
          </a:prstGeom>
          <a:solidFill>
            <a:srgbClr val="FFF0CC"/>
          </a:solidFill>
          <a:ln w="12700">
            <a:solidFill>
              <a:srgbClr val="FFF0C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017520" y="4919472"/>
            <a:ext cx="16130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live · WD &amp; SN planned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4593946" y="3136392"/>
            <a:ext cx="256032" cy="256032"/>
          </a:xfrm>
          <a:prstGeom prst="ellipse">
            <a:avLst/>
          </a:prstGeom>
          <a:solidFill>
            <a:srgbClr val="F5F4F0"/>
          </a:solidFill>
          <a:ln w="6350">
            <a:solidFill>
              <a:srgbClr val="DDDBD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93946" y="31363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4721962" y="1261872"/>
            <a:ext cx="1795882" cy="4005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BD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721962" y="1261872"/>
            <a:ext cx="1795882" cy="274320"/>
          </a:xfrm>
          <a:prstGeom prst="rect">
            <a:avLst/>
          </a:prstGeom>
          <a:solidFill>
            <a:srgbClr val="1A4A6E"/>
          </a:solidFill>
          <a:ln w="12700">
            <a:solidFill>
              <a:srgbClr val="1A4A6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813402" y="129844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142586" y="1298448"/>
            <a:ext cx="129296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6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SURVEY TRIGGER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4813402" y="1591056"/>
            <a:ext cx="16312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Trigger Logic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4813402" y="1810512"/>
            <a:ext cx="163129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Surveys fire based on lifecycle events and schedules: Always On (real-time e.g. exit, onboarding), Bi-Annual (Your View, engagement), Weekly (org effectiveness), Adhoc (redeployment, strategic). BNow Task Cards are used for distribution across Glint-based products.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4813402" y="4919472"/>
            <a:ext cx="1613002" cy="237744"/>
          </a:xfrm>
          <a:prstGeom prst="roundRect">
            <a:avLst>
              <a:gd name="adj" fmla="val 23077"/>
            </a:avLst>
          </a:prstGeom>
          <a:solidFill>
            <a:srgbClr val="D0E8FB"/>
          </a:solidFill>
          <a:ln w="12700">
            <a:solidFill>
              <a:srgbClr val="D0E8F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813402" y="4919472"/>
            <a:ext cx="16130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Multi-cadence · BNow task cards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6389827" y="3136392"/>
            <a:ext cx="256032" cy="256032"/>
          </a:xfrm>
          <a:prstGeom prst="ellipse">
            <a:avLst/>
          </a:prstGeom>
          <a:solidFill>
            <a:srgbClr val="F5F4F0"/>
          </a:solidFill>
          <a:ln w="6350">
            <a:solidFill>
              <a:srgbClr val="DDDBD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389827" y="31363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6517843" y="1261872"/>
            <a:ext cx="1795882" cy="4005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BD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517843" y="1261872"/>
            <a:ext cx="1795882" cy="274320"/>
          </a:xfrm>
          <a:prstGeom prst="rect">
            <a:avLst/>
          </a:prstGeom>
          <a:solidFill>
            <a:srgbClr val="145A4A"/>
          </a:solidFill>
          <a:ln w="12700">
            <a:solidFill>
              <a:srgbClr val="145A4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609283" y="129844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6938467" y="1298448"/>
            <a:ext cx="129296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6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COLLECTION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6609283" y="1591056"/>
            <a:ext cx="16312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Survey Platforms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6609283" y="1810512"/>
            <a:ext cx="163129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four platforms in play: Qualtrics (active — Your View, Learning), Viva Glint (active — Training; planned for Barometer, Team Satisfaction), Microsoft Forms (planned — Exit, Barometer Global), Viva Pulse (planned — Workplace, HR Case). Tool rationalisation decision is outstanding for 13 products.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6609283" y="4919472"/>
            <a:ext cx="1613002" cy="237744"/>
          </a:xfrm>
          <a:prstGeom prst="roundRect">
            <a:avLst>
              <a:gd name="adj" fmla="val 23077"/>
            </a:avLst>
          </a:prstGeom>
          <a:solidFill>
            <a:srgbClr val="FFF0CC"/>
          </a:solidFill>
          <a:ln w="12700">
            <a:solidFill>
              <a:srgbClr val="FFF0C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609283" y="4919472"/>
            <a:ext cx="16130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platforms · 13 tools TBD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8185709" y="3136392"/>
            <a:ext cx="256032" cy="256032"/>
          </a:xfrm>
          <a:prstGeom prst="ellipse">
            <a:avLst/>
          </a:prstGeom>
          <a:solidFill>
            <a:srgbClr val="F5F4F0"/>
          </a:solidFill>
          <a:ln w="6350">
            <a:solidFill>
              <a:srgbClr val="DDDBD3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185709" y="31363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8313725" y="1261872"/>
            <a:ext cx="1795882" cy="4005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BD3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313725" y="1261872"/>
            <a:ext cx="1795882" cy="274320"/>
          </a:xfrm>
          <a:prstGeom prst="rect">
            <a:avLst/>
          </a:prstGeom>
          <a:solidFill>
            <a:srgbClr val="5A1A2A"/>
          </a:solidFill>
          <a:ln w="12700">
            <a:solidFill>
              <a:srgbClr val="5A1A2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405165" y="129844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8734349" y="1298448"/>
            <a:ext cx="129296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6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PROCESSING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8405165" y="1591056"/>
            <a:ext cx="16312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ETL &amp; Storage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8405165" y="1810512"/>
            <a:ext cx="163129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survey responses flow via ETL pipeline into Microsoft Fabric / OneLake. Anonymisation is applied at ≥5 respondent threshold. Microsoft Purview handles data classification and lineage. GDPR legal review is complete for Your View and Barometers; in progress for remaining products.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8405165" y="4919472"/>
            <a:ext cx="1613002" cy="237744"/>
          </a:xfrm>
          <a:prstGeom prst="roundRect">
            <a:avLst>
              <a:gd name="adj" fmla="val 23077"/>
            </a:avLst>
          </a:prstGeom>
          <a:solidFill>
            <a:srgbClr val="D1EAD8"/>
          </a:solidFill>
          <a:ln w="12700">
            <a:solidFill>
              <a:srgbClr val="D1EAD8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405165" y="4919472"/>
            <a:ext cx="16130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6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→ Fabric · Purview governance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9981590" y="3136392"/>
            <a:ext cx="256032" cy="256032"/>
          </a:xfrm>
          <a:prstGeom prst="ellipse">
            <a:avLst/>
          </a:prstGeom>
          <a:solidFill>
            <a:srgbClr val="F5F4F0"/>
          </a:solidFill>
          <a:ln w="6350">
            <a:solidFill>
              <a:srgbClr val="DDDBD3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981590" y="31363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10109606" y="1261872"/>
            <a:ext cx="1795882" cy="4005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BD3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0109606" y="1261872"/>
            <a:ext cx="1795882" cy="274320"/>
          </a:xfrm>
          <a:prstGeom prst="rect">
            <a:avLst/>
          </a:prstGeom>
          <a:solidFill>
            <a:srgbClr val="3A1A5A"/>
          </a:solidFill>
          <a:ln w="12700">
            <a:solidFill>
              <a:srgbClr val="3A1A5A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0201046" y="129844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100" dirty="0"/>
          </a:p>
        </p:txBody>
      </p:sp>
      <p:sp>
        <p:nvSpPr>
          <p:cNvPr id="99" name="Text 97"/>
          <p:cNvSpPr/>
          <p:nvPr/>
        </p:nvSpPr>
        <p:spPr>
          <a:xfrm>
            <a:off x="10530230" y="1298448"/>
            <a:ext cx="129296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6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INSIGHTS</a:t>
            </a:r>
            <a:endParaRPr lang="en-US" sz="700" dirty="0"/>
          </a:p>
        </p:txBody>
      </p:sp>
      <p:sp>
        <p:nvSpPr>
          <p:cNvPr id="100" name="Text 98"/>
          <p:cNvSpPr/>
          <p:nvPr/>
        </p:nvSpPr>
        <p:spPr>
          <a:xfrm>
            <a:off x="10201046" y="1591056"/>
            <a:ext cx="16312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0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Outputs &amp; Reporting</a:t>
            </a:r>
            <a:endParaRPr lang="en-US" sz="1000" dirty="0"/>
          </a:p>
        </p:txBody>
      </p:sp>
      <p:sp>
        <p:nvSpPr>
          <p:cNvPr id="101" name="Text 99"/>
          <p:cNvSpPr/>
          <p:nvPr/>
        </p:nvSpPr>
        <p:spPr>
          <a:xfrm>
            <a:off x="10201046" y="1810512"/>
            <a:ext cx="163129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delivered via Power BI dashboards (active for Your View; planned for all 25 products), Copilot / AI summaries (active for 4 products), and Qlik Sense OE App. SharePoint and Teams used for action planning. Executive reporting through the OE App and MMR App (Qlik output confirmed live).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10201046" y="4919472"/>
            <a:ext cx="1613002" cy="237744"/>
          </a:xfrm>
          <a:prstGeom prst="roundRect">
            <a:avLst>
              <a:gd name="adj" fmla="val 23077"/>
            </a:avLst>
          </a:prstGeom>
          <a:solidFill>
            <a:srgbClr val="EAE6FA"/>
          </a:solidFill>
          <a:ln w="12700">
            <a:solidFill>
              <a:srgbClr val="EAE6F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0201046" y="4919472"/>
            <a:ext cx="16130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2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Copilot · Qlik OE App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2926080" y="5358384"/>
            <a:ext cx="8979408" cy="512064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063240" y="53949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 SURVEY PRODUCTS ACROSS 4 TYPES:</a:t>
            </a:r>
            <a:endParaRPr lang="en-US" sz="700" dirty="0"/>
          </a:p>
        </p:txBody>
      </p:sp>
      <p:sp>
        <p:nvSpPr>
          <p:cNvPr id="106" name="Shape 104"/>
          <p:cNvSpPr/>
          <p:nvPr/>
        </p:nvSpPr>
        <p:spPr>
          <a:xfrm>
            <a:off x="5532120" y="5431536"/>
            <a:ext cx="1188720" cy="310896"/>
          </a:xfrm>
          <a:prstGeom prst="roundRect">
            <a:avLst>
              <a:gd name="adj" fmla="val 23529"/>
            </a:avLst>
          </a:prstGeom>
          <a:solidFill>
            <a:srgbClr val="D0E8FB"/>
          </a:solidFill>
          <a:ln w="12700">
            <a:solidFill>
              <a:srgbClr val="D0E8FB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532120" y="543153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Engagement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6793992" y="5431536"/>
            <a:ext cx="1188720" cy="310896"/>
          </a:xfrm>
          <a:prstGeom prst="roundRect">
            <a:avLst>
              <a:gd name="adj" fmla="val 23529"/>
            </a:avLst>
          </a:prstGeom>
          <a:solidFill>
            <a:srgbClr val="FFF0CC"/>
          </a:solidFill>
          <a:ln w="12700">
            <a:solidFill>
              <a:srgbClr val="FFF0CC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793992" y="543153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Transactional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8055864" y="5431536"/>
            <a:ext cx="1188720" cy="310896"/>
          </a:xfrm>
          <a:prstGeom prst="roundRect">
            <a:avLst>
              <a:gd name="adj" fmla="val 23529"/>
            </a:avLst>
          </a:prstGeom>
          <a:solidFill>
            <a:srgbClr val="EAE6FA"/>
          </a:solidFill>
          <a:ln w="12700">
            <a:solidFill>
              <a:srgbClr val="EAE6FA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8055864" y="543153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2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Strategic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9317736" y="5431536"/>
            <a:ext cx="1188720" cy="310896"/>
          </a:xfrm>
          <a:prstGeom prst="roundRect">
            <a:avLst>
              <a:gd name="adj" fmla="val 23529"/>
            </a:avLst>
          </a:prstGeom>
          <a:solidFill>
            <a:srgbClr val="D1EAD8"/>
          </a:solidFill>
          <a:ln w="12700">
            <a:solidFill>
              <a:srgbClr val="D1EAD8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9317736" y="543153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6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Tactical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10671048" y="5468112"/>
            <a:ext cx="1399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i="1" dirty="0">
                <a:solidFill>
                  <a:srgbClr val="EA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MODIS preview Jul · Full rollout post system alignment</a:t>
            </a:r>
            <a:endParaRPr lang="en-US" sz="750" dirty="0"/>
          </a:p>
        </p:txBody>
      </p:sp>
      <p:sp>
        <p:nvSpPr>
          <p:cNvPr id="115" name="Shape 113"/>
          <p:cNvSpPr/>
          <p:nvPr/>
        </p:nvSpPr>
        <p:spPr>
          <a:xfrm>
            <a:off x="256032" y="6565392"/>
            <a:ext cx="11649456" cy="0"/>
          </a:xfrm>
          <a:prstGeom prst="line">
            <a:avLst/>
          </a:prstGeom>
          <a:noFill/>
          <a:ln w="6350">
            <a:solidFill>
              <a:srgbClr val="DDDBD3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256032" y="6620256"/>
            <a:ext cx="109728" cy="109728"/>
          </a:xfrm>
          <a:prstGeom prst="rect">
            <a:avLst/>
          </a:prstGeom>
          <a:solidFill>
            <a:srgbClr val="D1EAD8"/>
          </a:solidFill>
          <a:ln w="12700">
            <a:solidFill>
              <a:srgbClr val="D1EAD8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411480" y="661111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/ Confirmed</a:t>
            </a:r>
            <a:endParaRPr lang="en-US" sz="750" dirty="0"/>
          </a:p>
        </p:txBody>
      </p:sp>
      <p:sp>
        <p:nvSpPr>
          <p:cNvPr id="118" name="Shape 116"/>
          <p:cNvSpPr/>
          <p:nvPr/>
        </p:nvSpPr>
        <p:spPr>
          <a:xfrm>
            <a:off x="1719072" y="6620256"/>
            <a:ext cx="109728" cy="109728"/>
          </a:xfrm>
          <a:prstGeom prst="rect">
            <a:avLst/>
          </a:prstGeom>
          <a:solidFill>
            <a:srgbClr val="FFF0CC"/>
          </a:solidFill>
          <a:ln w="12700">
            <a:solidFill>
              <a:srgbClr val="FFF0CC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1874520" y="661111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(P)</a:t>
            </a:r>
            <a:endParaRPr lang="en-US" sz="750" dirty="0"/>
          </a:p>
        </p:txBody>
      </p:sp>
      <p:sp>
        <p:nvSpPr>
          <p:cNvPr id="120" name="Shape 118"/>
          <p:cNvSpPr/>
          <p:nvPr/>
        </p:nvSpPr>
        <p:spPr>
          <a:xfrm>
            <a:off x="3182112" y="6620256"/>
            <a:ext cx="109728" cy="109728"/>
          </a:xfrm>
          <a:prstGeom prst="rect">
            <a:avLst/>
          </a:prstGeom>
          <a:solidFill>
            <a:srgbClr val="EAE6FA"/>
          </a:solidFill>
          <a:ln w="12700">
            <a:solidFill>
              <a:srgbClr val="EAE6FA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3337560" y="661111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MODIS / Preview</a:t>
            </a:r>
            <a:endParaRPr lang="en-US" sz="750" dirty="0"/>
          </a:p>
        </p:txBody>
      </p:sp>
      <p:sp>
        <p:nvSpPr>
          <p:cNvPr id="122" name="Text 120"/>
          <p:cNvSpPr/>
          <p:nvPr/>
        </p:nvSpPr>
        <p:spPr>
          <a:xfrm>
            <a:off x="6400800" y="6611112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6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Employee Listening Architecture v3   ·   March 2026   ·   Internal — Confidential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2026-03-30T10:41:43Z</dcterms:created>
  <dcterms:modified xsi:type="dcterms:W3CDTF">2026-03-30T10:41:43Z</dcterms:modified>
</cp:coreProperties>
</file>