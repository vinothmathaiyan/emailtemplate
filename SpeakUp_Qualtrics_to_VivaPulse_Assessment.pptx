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463040"/>
            <a:ext cx="4754880" cy="475488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222B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731520"/>
            <a:ext cx="3291840" cy="329184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2B3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-45720"/>
            <a:ext cx="1920240" cy="192024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3544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85800"/>
            <a:ext cx="566928" cy="566928"/>
          </a:xfrm>
          <a:prstGeom prst="ellipse">
            <a:avLst/>
          </a:prstGeom>
          <a:solidFill>
            <a:srgbClr val="2B377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32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417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·  PLATFORM ASSESSMENT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SpeakUp Deep-Dive Survey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66928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to Microsoft Viva Pulse — Test Outcomes &amp; Stakeholder Decisions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66928" y="3703320"/>
            <a:ext cx="4023360" cy="0"/>
          </a:xfrm>
          <a:prstGeom prst="line">
            <a:avLst/>
          </a:prstGeom>
          <a:noFill/>
          <a:ln w="9525">
            <a:solidFill>
              <a:srgbClr val="B9CC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Colleague Listening Team and Stakeholder Review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 we need from this session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309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driver: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Qualtrics licence covering colleague listening expires in December 2026, so the SpeakUp manager-led deep-dive survey needs a confirmed path forward.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candidate: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Viva Pulse, within the Glint / Pulse / Forms ecosystem, is being tested as the SpeakUp replacement. Colleague Listening holds Author-level Pulse access for this purpose.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proven: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GTIS has confirmed two key technical asks — replicating the current template and disabling Microsoft's predefined templates — in the non-production EngCOP environment.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yet proven: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surfaced real differences in rating scale, scoring methodology, and reporting depth — most notably, no native consolidated/enterprise-level report.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today: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direction on a defined set of open decisions before Colleague Listening commits to a migration approach.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60920" y="1691640"/>
            <a:ext cx="2025396" cy="1481328"/>
          </a:xfrm>
          <a:prstGeom prst="roundRect">
            <a:avLst>
              <a:gd name="adj" fmla="val 4938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1856232"/>
            <a:ext cx="2025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0" y="2532888"/>
            <a:ext cx="1751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licence expiry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87484" y="1691640"/>
            <a:ext cx="2025396" cy="1481328"/>
          </a:xfrm>
          <a:prstGeom prst="roundRect">
            <a:avLst>
              <a:gd name="adj" fmla="val 4938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87484" y="1856232"/>
            <a:ext cx="2025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724644" y="2532888"/>
            <a:ext cx="1751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GTIS technical asks confirmed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3374136"/>
            <a:ext cx="2025396" cy="1481328"/>
          </a:xfrm>
          <a:prstGeom prst="roundRect">
            <a:avLst>
              <a:gd name="adj" fmla="val 4938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3538728"/>
            <a:ext cx="2025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0" y="4215384"/>
            <a:ext cx="1751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channels tested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87484" y="3374136"/>
            <a:ext cx="2025396" cy="1481328"/>
          </a:xfrm>
          <a:prstGeom prst="roundRect">
            <a:avLst>
              <a:gd name="adj" fmla="val 4938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87484" y="3538728"/>
            <a:ext cx="2025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724644" y="4215384"/>
            <a:ext cx="1751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consolidated reports in Pulse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SpeakUp fits into the colleague listening journey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122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651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Voice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1248" y="31089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pulse listening across the colleague lifecycle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04" y="268833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15968" y="169164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0288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11226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2651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View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590288" y="31089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Bi-annual organisation-wide engagement survey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244" y="268833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065008" y="169164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339328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112264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39328" y="2651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SpeakUp Deep-Dive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8339328" y="31089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Manager-triggered, voluntary follow-up survey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66928" y="434340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41248" y="4526280"/>
            <a:ext cx="1050919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logic: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manager's Your View score sits notably below the organisation benchmark, the manager may choose to run a SpeakUp deep-dive — this is voluntary, never mandatory.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SpeakUp deep-dive mechanics in Qualtrics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379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36776"/>
            <a:ext cx="10436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across 4 categories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0–10 rating template (11-point scale); grouped 2 / 2 / 3 / 3 by theme; managers cannot edit or delete questions.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06624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505456"/>
            <a:ext cx="10436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threshold of 4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report only opens once at least 4 responses are received, to protect respondent anonymity.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66928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7530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374136"/>
            <a:ext cx="10436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score, not favorability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score is the mean of all responses per question/category — e.g. two ratings of 8 and two of 7 average to 7.5.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66928" y="4297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44398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242816"/>
            <a:ext cx="10436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reporting above 50 responses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with 50+ respondents receive all responses consolidated into a single report.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66928" y="5166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312664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5111496"/>
            <a:ext cx="10436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code-built workflow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questions, categories or report design requires a development change cycle.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assessing alternatives to Qualtrics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751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1773936"/>
            <a:ext cx="103811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licence expires December 2026</a:t>
            </a:r>
            <a:endParaRPr lang="en-US" sz="1550" dirty="0"/>
          </a:p>
          <a:p>
            <a:pPr indent="0" marL="0">
              <a:buNone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decision is needed well ahead of expiry to avoid disruption to colleague listening.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30632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0954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3584" y="3008376"/>
            <a:ext cx="103811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listening ecosystem is the candidate landing zone</a:t>
            </a:r>
            <a:endParaRPr lang="en-US" sz="1550" dirty="0"/>
          </a:p>
          <a:p>
            <a:pPr indent="0" marL="0">
              <a:buNone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Glint is proposed for the annual engagement survey; Viva Pulse, via Microsoft Forms, is proposed for manager-led deep dives such as SpeakUp.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4297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4398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3584" y="4242816"/>
            <a:ext cx="103811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Author-level Pulse access granted for this assessment</a:t>
            </a:r>
            <a:endParaRPr lang="en-US" sz="1550" dirty="0"/>
          </a:p>
          <a:p>
            <a:pPr indent="0" marL="0">
              <a:buNone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was given Author (not Admin) access — the same level managers would have — specifically to test feasibility and run a like-for-like comparison.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assessment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00320" cy="4160520"/>
          </a:xfrm>
          <a:prstGeom prst="roundRect">
            <a:avLst>
              <a:gd name="adj" fmla="val 1758"/>
            </a:avLst>
          </a:prstGeom>
          <a:solidFill>
            <a:srgbClr val="E3F3EC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475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directly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4751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Duplicating / building SpeakUp-style templates in Pulse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real survey links end-to-end with our own team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distribution methods — targeted email, open link, QR code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Threshold-gated reporting, including resending for trend 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691640"/>
            <a:ext cx="5300320" cy="4160520"/>
          </a:xfrm>
          <a:prstGeom prst="roundRect">
            <a:avLst>
              <a:gd name="adj" fmla="val 1758"/>
            </a:avLst>
          </a:prstGeom>
          <a:solidFill>
            <a:srgbClr val="FBEEDD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98768" y="1920240"/>
            <a:ext cx="475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tested / out of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8768" y="2377440"/>
            <a:ext cx="4751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Admin-level configuration — our access is Author-level only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Production-environment behaviour — template replication and disabling default templates were confirmed by GTIS in non-production EngCOP, not hands-on by 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consolidated reporting (no native Pulse capability to test)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“success” means for this assessment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01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1288" y="1709928"/>
            <a:ext cx="1046347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access &amp; distribution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can access a template, run a survey, and share the link — without edit or delete rights — exactly as in Qualtrics today.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825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1288" y="2734056"/>
            <a:ext cx="1046347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Threshold-gated reporting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opens automatically once the minimum anonymity threshold is met, showing the same core metrics in the same order as today.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8496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61288" y="3758184"/>
            <a:ext cx="1046347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consistency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reported score reflects today's averaging approach, not a different methodology.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873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" y="4782312"/>
            <a:ext cx="1046347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Manager-only initiation (stretch goal)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mechanism to restrict who can create/run a survey to managers only, with others remaining participants-only. Not a hard success metric, but a standing ask.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PARTNER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GTIS engagement — confirmations to date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39112"/>
            <a:ext cx="457200" cy="457200"/>
          </a:xfrm>
          <a:prstGeom prst="ellipse">
            <a:avLst/>
          </a:prstGeom>
          <a:solidFill>
            <a:srgbClr val="0F6B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85416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947672"/>
            <a:ext cx="8131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existing SpeakUp template be replicated in Pulse?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35608" y="2441448"/>
            <a:ext cx="813175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GTIS — replicated in the non-production EngCOP environment.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887407" y="23317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3F3EC"/>
          </a:solidFill>
          <a:ln/>
        </p:spPr>
      </p:sp>
      <p:sp>
        <p:nvSpPr>
          <p:cNvPr id="10" name="Text 7"/>
          <p:cNvSpPr/>
          <p:nvPr/>
        </p:nvSpPr>
        <p:spPr>
          <a:xfrm>
            <a:off x="9887407" y="2331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347472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5528" y="3730752"/>
            <a:ext cx="457200" cy="457200"/>
          </a:xfrm>
          <a:prstGeom prst="ellipse">
            <a:avLst/>
          </a:prstGeom>
          <a:solidFill>
            <a:srgbClr val="0F6B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877056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35608" y="3639312"/>
            <a:ext cx="8131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Microsoft's 20 predefined templates be disabled if not required?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35608" y="4133088"/>
            <a:ext cx="813175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GTIS — disabled at template level in EngCOP; can be re-enabled if needed.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887407" y="40233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3F3EC"/>
          </a:solidFill>
          <a:ln/>
        </p:spPr>
      </p:sp>
      <p:sp>
        <p:nvSpPr>
          <p:cNvPr id="17" name="Text 13"/>
          <p:cNvSpPr/>
          <p:nvPr/>
        </p:nvSpPr>
        <p:spPr>
          <a:xfrm>
            <a:off x="9887407" y="4023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both confirmations are at template/environment level via GTIS. Colleague Listening's own Author-level access does not yet reflect these settings directly.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test scenarios executed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846320"/>
                <a:gridCol w="33192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we did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Default Pulse template, as-is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Duplicated the existing template and circulated unedited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Functioned end-to-end; report returned as favorability score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Default template + added questions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Duplicated the template, added extra questions, then circulated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Functioned end-to-end; same favorability-based reporting model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Built from scratch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Created a new question set (1–7 and 1–10 rating scales) and circulated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Functioned end-to-end; same favorability-based reporting model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Distribution channels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Tested targeted email (sent by Pulse), open link (sent by manager), and QR code (generated by Pulse)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All three channels worked as expected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Anonymity threshold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Tested the configurable threshold (set to 4; minimum allowed is 3)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Report opened only once the threshold was met, as designed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0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 well in Viva Pulse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6040" cy="1170432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20240"/>
            <a:ext cx="420624" cy="420624"/>
          </a:xfrm>
          <a:prstGeom prst="ellipse">
            <a:avLst/>
          </a:prstGeom>
          <a:solidFill>
            <a:srgbClr val="0F6B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66544"/>
            <a:ext cx="128016" cy="1280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56232"/>
            <a:ext cx="443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navigation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training needed — 2–3 steps to create, distribute and release a survey.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8728" y="1737360"/>
            <a:ext cx="5346040" cy="1170432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920240"/>
            <a:ext cx="420624" cy="420624"/>
          </a:xfrm>
          <a:prstGeom prst="ellipse">
            <a:avLst/>
          </a:prstGeom>
          <a:solidFill>
            <a:srgbClr val="0F6B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2066544"/>
            <a:ext cx="128016" cy="1280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1960" y="1856232"/>
            <a:ext cx="443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template creation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 sets can be built in minutes — no development change cycle.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3063240"/>
            <a:ext cx="5346040" cy="1170432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3246120"/>
            <a:ext cx="420624" cy="420624"/>
          </a:xfrm>
          <a:prstGeom prst="ellipse">
            <a:avLst/>
          </a:prstGeom>
          <a:solidFill>
            <a:srgbClr val="0F6B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392424"/>
            <a:ext cx="128016" cy="1280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182112"/>
            <a:ext cx="443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PDF generation or email dispatch; reports update live.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78728" y="3063240"/>
            <a:ext cx="5346040" cy="1170432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61608" y="3246120"/>
            <a:ext cx="420624" cy="420624"/>
          </a:xfrm>
          <a:prstGeom prst="ellipse">
            <a:avLst/>
          </a:prstGeom>
          <a:solidFill>
            <a:srgbClr val="0F6B4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3392424"/>
            <a:ext cx="128016" cy="1280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1960" y="3182112"/>
            <a:ext cx="443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trend analysis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a survey shows trend over time, including at question level — not available in Qualtrics today.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66928" y="4389120"/>
            <a:ext cx="5346040" cy="1170432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572000"/>
            <a:ext cx="420624" cy="420624"/>
          </a:xfrm>
          <a:prstGeom prst="ellipse">
            <a:avLst/>
          </a:prstGeom>
          <a:solidFill>
            <a:srgbClr val="0F6B4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718304"/>
            <a:ext cx="128016" cy="1280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507992"/>
            <a:ext cx="443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distribution options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email, open link, or QR code, vs. link-only in Qualtrics.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78728" y="4389120"/>
            <a:ext cx="5346040" cy="1170432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61608" y="4572000"/>
            <a:ext cx="420624" cy="420624"/>
          </a:xfrm>
          <a:prstGeom prst="ellipse">
            <a:avLst/>
          </a:prstGeom>
          <a:solidFill>
            <a:srgbClr val="0F6B4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912" y="4718304"/>
            <a:ext cx="128016" cy="1280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1960" y="4507992"/>
            <a:ext cx="443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anonymity threshold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down to a minimum of 3 responses, depending on need.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Gap: scoring and scale mismatch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01368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47672"/>
            <a:ext cx="128016" cy="128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28216"/>
            <a:ext cx="1043604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0-based rating option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uses an 11-point 0–10 scale; Pulse rating questions only support 1–5, 1–7 or 1–10 — there is no zero-anchored option.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2852928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99232"/>
            <a:ext cx="128016" cy="1280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779776"/>
            <a:ext cx="1043604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vs. favorability percentage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reports an average score; Pulse reports a favorability percentage. These are not directly comparable without an agreed conversion methodology.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66928" y="3904488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50792"/>
            <a:ext cx="128016" cy="1280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831336"/>
            <a:ext cx="1043604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favorability definition across Microsoft's own ecosystem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treats ratings of 8, 9 and 10 as favorable; Glint (proposed for Your View) treats only 9 and 10 as favorable — so SpeakUp and Your View results would not be comparable like-for-like.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37760"/>
          <a:ext cx="11057839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566160"/>
                <a:gridCol w="36850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Scoring shown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“Favorable” means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Qualtrics (SpeakUp today)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Average score (0–10)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n/a — uses average, not favorability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Viva Pulse (SpeakUp, tested)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Favorability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Ratings of 8, 9 or 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Glint (proposed for Your View)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Favorability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4A"/>
                          </a:solidFill>
                        </a:rPr>
                        <a:t>Ratings of 9 or 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Gap: reporting limitations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01368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47672"/>
            <a:ext cx="128016" cy="128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28216"/>
            <a:ext cx="1043604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 customization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and metrics are fixed by Pulse and cannot be reshaped to match today's manager report format.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2852928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99232"/>
            <a:ext cx="128016" cy="1280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779776"/>
            <a:ext cx="1043604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/ enterprise-level report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lets Colleague Listening aggregate across all managers — by demographic, business unit and time. Pulse has no native equivalent; whether an Excel extract could substitute is unconfirmed.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66928" y="3904488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50792"/>
            <a:ext cx="128016" cy="1280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831336"/>
            <a:ext cx="1043604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manager-only access control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(4+ direct reports) and “managers-only” initiation are not enforced by the system today.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66928" y="5074920"/>
            <a:ext cx="5346040" cy="1097280"/>
          </a:xfrm>
          <a:prstGeom prst="roundRect">
            <a:avLst>
              <a:gd name="adj" fmla="val 6667"/>
            </a:avLst>
          </a:prstGeom>
          <a:solidFill>
            <a:srgbClr val="FBEEDD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95528" y="519379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1,500+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2304288" y="5193792"/>
            <a:ext cx="342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across 50 managers consolidated in Qualtrics (illustrative scale)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78728" y="5074920"/>
            <a:ext cx="5346040" cy="1097280"/>
          </a:xfrm>
          <a:prstGeom prst="roundRect">
            <a:avLst>
              <a:gd name="adj" fmla="val 6667"/>
            </a:avLst>
          </a:prstGeom>
          <a:solidFill>
            <a:srgbClr val="FBEEDD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07328" y="519379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8016088" y="5193792"/>
            <a:ext cx="342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consolidated views currently available in Pulse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Qualtrics vs. Viva Pulse — at a glance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840480"/>
                <a:gridCol w="4050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Qualtrics (today)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Viva Pulse (tested)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324A"/>
                          </a:solidFill>
                        </a:rPr>
                        <a:t>Rating scale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0–10 (11-point)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1–5, 1–7 or 1–10 — no zero option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324A"/>
                          </a:solidFill>
                        </a:rPr>
                        <a:t>Scoring shown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Average score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Favorability % (8–9–10 favorable)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324A"/>
                          </a:solidFill>
                        </a:rPr>
                        <a:t>Report customization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Fixed, code-built layout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Fixed; not customizable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324A"/>
                          </a:solidFill>
                        </a:rPr>
                        <a:t>Consolidated / enterprise reporting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Native, by manager / demographic / time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Not yet available; Excel extract unconfirmed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324A"/>
                          </a:solidFill>
                        </a:rPr>
                        <a:t>Trend analysis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Manual — separate report per run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Native — automatic across repeated runs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324A"/>
                          </a:solidFill>
                        </a:rPr>
                        <a:t>Template creation &amp; changes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Code-based change request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Self-service duplication &amp; editing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324A"/>
                          </a:solidFill>
                        </a:rPr>
                        <a:t>Distribution options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Link only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Targeted email, open link, or QR code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324A"/>
                          </a:solidFill>
                        </a:rPr>
                        <a:t>Anonymity threshold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Fixed at 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4A"/>
                          </a:solidFill>
                        </a:rPr>
                        <a:t>Configurable (minimum 3)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GTIS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raised — status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83080"/>
            <a:ext cx="868039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existing SpeakUp template be replicated?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58807" y="2020824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E3F3EC"/>
          </a:solidFill>
          <a:ln/>
        </p:spPr>
      </p:sp>
      <p:sp>
        <p:nvSpPr>
          <p:cNvPr id="7" name="Text 5"/>
          <p:cNvSpPr/>
          <p:nvPr/>
        </p:nvSpPr>
        <p:spPr>
          <a:xfrm>
            <a:off x="9658807" y="202082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697480"/>
            <a:ext cx="868039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20 predefined templates be disabled?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58807" y="2935224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E3F3EC"/>
          </a:solidFill>
          <a:ln/>
        </p:spPr>
      </p:sp>
      <p:sp>
        <p:nvSpPr>
          <p:cNvPr id="11" name="Text 9"/>
          <p:cNvSpPr/>
          <p:nvPr/>
        </p:nvSpPr>
        <p:spPr>
          <a:xfrm>
            <a:off x="9658807" y="293522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611880"/>
            <a:ext cx="868039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enterprise-level consolidated report achievable — even via Excel extract?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58807" y="3849624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BEEDD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807" y="384962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526280"/>
            <a:ext cx="868039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reports be customized to match today's format (average score, layout)? Raised as a DCR with Microsoft.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58807" y="4764024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BEEDD"/>
          </a:solidFill>
          <a:ln/>
        </p:spPr>
      </p:sp>
      <p:sp>
        <p:nvSpPr>
          <p:cNvPr id="19" name="Text 17"/>
          <p:cNvSpPr/>
          <p:nvPr/>
        </p:nvSpPr>
        <p:spPr>
          <a:xfrm>
            <a:off x="9658807" y="476402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5440680"/>
            <a:ext cx="868039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survey creation be restricted to managers only?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58807" y="5678424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BEEDD"/>
          </a:solidFill>
          <a:ln/>
        </p:spPr>
      </p:sp>
      <p:sp>
        <p:nvSpPr>
          <p:cNvPr id="23" name="Text 21"/>
          <p:cNvSpPr/>
          <p:nvPr/>
        </p:nvSpPr>
        <p:spPr>
          <a:xfrm>
            <a:off x="9658807" y="567842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AWARENESS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open issues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01368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47672"/>
            <a:ext cx="91440" cy="91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" y="1719072"/>
            <a:ext cx="1049091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continuity at risk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scoring incompatibility could break trend comparisons for teams with SpeakUp history in Qualtrics.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269748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43784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2615184"/>
            <a:ext cx="1049091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enterprise visibility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reporting limits Colleague Listening's ability to brief leadership at an organisation level — flagged internally as a must-have, with criticality (blocker vs. manageable gap) to be confirmed by stakeholders.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66928" y="3593592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39896"/>
            <a:ext cx="91440" cy="914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3511296"/>
            <a:ext cx="1049091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 not system-enforced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“4+ direct reports” population rule relies on manual governance, not native Pulse controls.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66928" y="4489704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636008"/>
            <a:ext cx="91440" cy="914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33856" y="4407408"/>
            <a:ext cx="1049091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ownership unresolved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whether template changes sit with Colleague Listening or with the RTB (Run-the-Bank) team.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66928" y="5385816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532120"/>
            <a:ext cx="91440" cy="914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33856" y="5303520"/>
            <a:ext cx="1049091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governance undecided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anonymity threshold is configurable, but who sets and approves it — in line with Data Privacy requirements — is not yet agreed.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STAKEHOLDER INPUT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 from stakeholders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24128" y="1673352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change ownership — Colleague Listening, or the RTB team?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5968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96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" y="2514600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level — does Colleague Listening need Admin access, or is Author-level sufficient?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" y="3355848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design intent — should Pulse reporting aim to match Your View's format, or can it diverge?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279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4197096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definition — what does “good enough” look like beyond template replication?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12064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120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5038344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reporting — confirm it's a must-have, and define its criticality (blocker vs. phased gap)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175564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78728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35928" y="1673352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Population/eligibility rule — how is “4+ direct reports” enforced if not native to Pulse?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8728" y="25968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278728" y="2596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35928" y="2514600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threshold governance — set jointly with the Data Privacy team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8728" y="34381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78728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35928" y="3355848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templates — disable entirely, or leave open for other teams?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78728" y="427939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78728" y="4279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35928" y="4197096"/>
            <a:ext cx="4888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ownership — who owns this capability long-term, and how does that align with how Glint is run?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023360"/>
            <a:ext cx="3291840" cy="329184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222B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57200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2B3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074920"/>
            <a:ext cx="118872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3544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review approach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232C61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103120"/>
            <a:ext cx="475488" cy="475488"/>
          </a:xfrm>
          <a:prstGeom prst="ellipse">
            <a:avLst/>
          </a:prstGeom>
          <a:solidFill>
            <a:srgbClr val="3C4F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49424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2743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528" y="324612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Colleague Listening and stakeholders on test outcomes and open decisions.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292150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64992" y="18745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232C61"/>
          </a:solidFill>
          <a:ln/>
        </p:spPr>
      </p:sp>
      <p:sp>
        <p:nvSpPr>
          <p:cNvPr id="14" name="Shape 10"/>
          <p:cNvSpPr/>
          <p:nvPr/>
        </p:nvSpPr>
        <p:spPr>
          <a:xfrm>
            <a:off x="3593592" y="2103120"/>
            <a:ext cx="475488" cy="475488"/>
          </a:xfrm>
          <a:prstGeom prst="ellipse">
            <a:avLst/>
          </a:prstGeom>
          <a:solidFill>
            <a:srgbClr val="3C4F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2249424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93592" y="2743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GTIS items as formal asks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593592" y="324612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reporting, report customization, and access control logged as DCRs.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921508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63056" y="18745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232C61"/>
          </a:solidFill>
          <a:ln/>
        </p:spPr>
      </p:sp>
      <p:sp>
        <p:nvSpPr>
          <p:cNvPr id="20" name="Shape 14"/>
          <p:cNvSpPr/>
          <p:nvPr/>
        </p:nvSpPr>
        <p:spPr>
          <a:xfrm>
            <a:off x="6391656" y="2103120"/>
            <a:ext cx="475488" cy="475488"/>
          </a:xfrm>
          <a:prstGeom prst="ellipse">
            <a:avLst/>
          </a:prstGeom>
          <a:solidFill>
            <a:srgbClr val="3C4FA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249424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91656" y="2743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stakeholder responses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391656" y="324612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slide 16 recorded against each open item.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232" y="2921508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961120" y="18745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232C61"/>
          </a:solidFill>
          <a:ln/>
        </p:spPr>
      </p:sp>
      <p:sp>
        <p:nvSpPr>
          <p:cNvPr id="26" name="Shape 18"/>
          <p:cNvSpPr/>
          <p:nvPr/>
        </p:nvSpPr>
        <p:spPr>
          <a:xfrm>
            <a:off x="9189720" y="2103120"/>
            <a:ext cx="475488" cy="475488"/>
          </a:xfrm>
          <a:prstGeom prst="ellipse">
            <a:avLst/>
          </a:prstGeom>
          <a:solidFill>
            <a:srgbClr val="3C4FA6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2249424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189720" y="2743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recommendation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9189720" y="324612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 recommendation ahead of the Qualtrics licence deadline, December 2026.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66928" y="4617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scenario detail, question category mapping, and terminology notes are provided in the appendix.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40080"/>
            <a:ext cx="5486400" cy="548640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222B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463040"/>
            <a:ext cx="3840480" cy="384048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2B3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28600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3544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referenced from the main deck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SpeakUp template — question category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6040" cy="1554480"/>
          </a:xfrm>
          <a:prstGeom prst="roundRect">
            <a:avLst>
              <a:gd name="adj" fmla="val 4706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65960"/>
            <a:ext cx="479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423160"/>
            <a:ext cx="479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479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label to be reconfirmed against the live template (e.g. leadership, barriers)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46040" cy="1554480"/>
          </a:xfrm>
          <a:prstGeom prst="roundRect">
            <a:avLst>
              <a:gd name="adj" fmla="val 4706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965960"/>
            <a:ext cx="479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3048" y="2423160"/>
            <a:ext cx="479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questions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53048" y="2788920"/>
            <a:ext cx="479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label to be reconfirmed against the live template (e.g. leadership, barriers)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346040" cy="1554480"/>
          </a:xfrm>
          <a:prstGeom prst="roundRect">
            <a:avLst>
              <a:gd name="adj" fmla="val 4706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94760"/>
            <a:ext cx="479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" y="4251960"/>
            <a:ext cx="479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4617720"/>
            <a:ext cx="479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label to be reconfirmed against the live template (e.g. leadership, barriers)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8728" y="3611880"/>
            <a:ext cx="5346040" cy="1554480"/>
          </a:xfrm>
          <a:prstGeom prst="roundRect">
            <a:avLst>
              <a:gd name="adj" fmla="val 4706"/>
            </a:avLst>
          </a:prstGeom>
          <a:solidFill>
            <a:srgbClr val="EEF2FB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3048" y="3794760"/>
            <a:ext cx="479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3048" y="4251960"/>
            <a:ext cx="479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53048" y="4617720"/>
            <a:ext cx="479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label to be reconfirmed against the live template (e.g. leadership, barriers)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 questions, 11-point (0–10) rating scale, fixed and non-editable by managers. Category labels above are placeholders pending confirmation from the source template.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channels — detail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03066" cy="356616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11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5798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697480"/>
            <a:ext cx="2954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email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3108960"/>
            <a:ext cx="29544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by: Pulse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1248" y="3474720"/>
            <a:ext cx="295442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enters specific email addresses; Pulse sends invitations directly — no manager Outlook involvement.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4314" y="1783080"/>
            <a:ext cx="3503066" cy="356616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8634" y="2011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38" y="215798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697480"/>
            <a:ext cx="2954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link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8634" y="3108960"/>
            <a:ext cx="29544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by: Manager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18634" y="3474720"/>
            <a:ext cx="295442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shares a generic link via their own Outlook or other channel; broader reach, less control over who responds.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1701" y="1783080"/>
            <a:ext cx="3503066" cy="356616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9525">
            <a:solidFill>
              <a:srgbClr val="B9CCEF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6021" y="2011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21579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6021" y="2697480"/>
            <a:ext cx="2954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code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96021" y="3108960"/>
            <a:ext cx="29544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by: Pulse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96021" y="3474720"/>
            <a:ext cx="295442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in-person or team settings; scanned access to the same open survey link.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Terminology and assumptions used in this deck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View”: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as Barclays' bi-annual colleague engagement survey, consistent with Barclays' own public reporting.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“RTB team”: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as the Run-the-Bank technology delivery team; recommend confirming the exact team name and remit with stakeholders.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rating scale: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consistently as 0–10 (an 11-point scale), aligned with the SpeakUp template description.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category labels: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placeholders (Category A–D) pending confirmation of exact topic names from the live Qualtrics template.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“GTIS”: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to throughout as Colleague Listening's technical delivery partner for this assessment.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035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is provided for transparency on interpretive choices made while compiling spoken/dictated input into this document.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SpeakUp Deep-Dive Survey: Qualtrics to Microsoft Viva Pulse Assessment</dc:title>
  <dc:subject>PptxGenJS Presentation</dc:subject>
  <dc:creator>Colleague Listening Team</dc:creator>
  <cp:lastModifiedBy>Colleague Listening Team</cp:lastModifiedBy>
  <cp:revision>1</cp:revision>
  <dcterms:created xsi:type="dcterms:W3CDTF">2026-06-21T15:42:20Z</dcterms:created>
  <dcterms:modified xsi:type="dcterms:W3CDTF">2026-06-21T15:42:20Z</dcterms:modified>
</cp:coreProperties>
</file>