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rect">
            <a:avLst>
              <a:gd name="adj" fmla="val 50000"/>
            </a:avLst>
          </a:prstGeom>
          <a:solidFill>
            <a:srgbClr val="0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5852160" y="-548640"/>
            <a:ext cx="3840480" cy="3840480"/>
          </a:xfrm>
          <a:prstGeom prst="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91440"/>
            <a:ext cx="2560320" cy="2560320"/>
          </a:xfrm>
          <a:prstGeom prst="rect">
            <a:avLst>
              <a:gd name="adj" fmla="val 50000"/>
            </a:avLst>
          </a:prstGeom>
          <a:solidFill>
            <a:srgbClr val="0F2D5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1645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7205472" y="1645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7552944" y="1645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7900416" y="1645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8247888" y="1645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51206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7205472" y="51206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552944" y="51206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0416" y="51206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47888" y="51206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85953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205472" y="85953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552944" y="85953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900416" y="85953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47888" y="85953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0" y="120700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205472" y="120700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552944" y="120700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0416" y="120700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47888" y="120700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BARCLAYS  |  COLLEAGUE LISTENING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82296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Survey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02920" y="2423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 →  Microsoft Viva Pulse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02920" y="3154680"/>
            <a:ext cx="2697480" cy="914400"/>
          </a:xfrm>
          <a:prstGeom prst="rect">
            <a:avLst/>
          </a:prstGeom>
          <a:solidFill>
            <a:srgbClr val="005A9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154680"/>
            <a:ext cx="64008" cy="91440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" y="32186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Deadline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7512" y="34747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3429000" y="3154680"/>
            <a:ext cx="2697480" cy="914400"/>
          </a:xfrm>
          <a:prstGeom prst="rect">
            <a:avLst/>
          </a:prstGeom>
          <a:solidFill>
            <a:srgbClr val="005A9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29000" y="3154680"/>
            <a:ext cx="64008" cy="91440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3593592" y="32186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Complete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93592" y="34747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355080" y="3154680"/>
            <a:ext cx="2697480" cy="914400"/>
          </a:xfrm>
          <a:prstGeom prst="rect">
            <a:avLst/>
          </a:prstGeom>
          <a:solidFill>
            <a:srgbClr val="005A9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5080" y="3154680"/>
            <a:ext cx="64008" cy="91440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6519672" y="32186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519672" y="34747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Pulse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0292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HR Leadership &amp; Culture Team  |  2026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0" y="2834640"/>
            <a:ext cx="2514600" cy="2103120"/>
          </a:xfrm>
          <a:prstGeom prst="rect">
            <a:avLst/>
          </a:prstGeom>
          <a:solidFill>
            <a:srgbClr val="0A2744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0" y="2834640"/>
            <a:ext cx="2514600" cy="2926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28346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92240" y="321868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Qualtrics license ends Dec 2027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92240" y="354787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 code = high maintenance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92240" y="387705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Viva Pulse: best-fit in MS ecosystem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92240" y="420624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Already licensed via Microsoft 365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92240" y="453542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Decision needed by June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Manager-Led Survey Works in Qualtrics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164592"/>
            <a:ext cx="2057400" cy="54864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0" y="1645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Culture Team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by: Colleague Listening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663440" cy="2743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51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TODAY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347472" cy="347472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1810512"/>
            <a:ext cx="36576" cy="265176"/>
          </a:xfrm>
          <a:prstGeom prst="rect">
            <a:avLst/>
          </a:prstGeom>
          <a:solidFill>
            <a:srgbClr val="D2D0CE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4447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Requests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6642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submits a request form to run a team survey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347472" cy="347472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121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2468880"/>
            <a:ext cx="36576" cy="265176"/>
          </a:xfrm>
          <a:prstGeom prst="rect">
            <a:avLst/>
          </a:prstGeom>
          <a:solidFill>
            <a:srgbClr val="D2D0C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10312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Duplicated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23225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code duplicates existing Barclays-standard template and generates a unique survey link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347472" cy="347472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2779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" y="3127248"/>
            <a:ext cx="36576" cy="265176"/>
          </a:xfrm>
          <a:prstGeom prst="rect">
            <a:avLst/>
          </a:prstGeom>
          <a:solidFill>
            <a:srgbClr val="D2D0CE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276148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Distributed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29809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distributes the link freely — no restriction on recipients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438144"/>
            <a:ext cx="347472" cy="347472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438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" y="3785616"/>
            <a:ext cx="36576" cy="265176"/>
          </a:xfrm>
          <a:prstGeom prst="rect">
            <a:avLst/>
          </a:prstGeom>
          <a:solidFill>
            <a:srgbClr val="D2D0CE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4198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Collected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" y="36393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is fully anonymous. Same user can respond multiple times after clearing cookies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096512"/>
            <a:ext cx="347472" cy="347472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4096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407822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Met → PDF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minimum response threshold is met, a summary PDF report is auto-generated for the manager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4663440" cy="292608"/>
          </a:xfrm>
          <a:prstGeom prst="rect">
            <a:avLst/>
          </a:prstGeom>
          <a:solidFill>
            <a:srgbClr val="C7E0F4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" y="46634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Manager Eligibility Gate: System checks manager status — must have 4+ direct reports to run a survey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166360" y="1051560"/>
            <a:ext cx="3749040" cy="274320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36" name="Text 34"/>
          <p:cNvSpPr/>
          <p:nvPr/>
        </p:nvSpPr>
        <p:spPr>
          <a:xfrm>
            <a:off x="5285232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&amp; LIMITATIONS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66360" y="1444752"/>
            <a:ext cx="37490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166360" y="1444752"/>
            <a:ext cx="54864" cy="621792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39" name="Text 37"/>
          <p:cNvSpPr/>
          <p:nvPr/>
        </p:nvSpPr>
        <p:spPr>
          <a:xfrm>
            <a:off x="5257800" y="15179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687568" y="1499616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Overhead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87568" y="171907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code-based — new template creation requires ~1 FTE for 3 months including build, testing, and rollout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66360" y="2130552"/>
            <a:ext cx="37490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66360" y="2130552"/>
            <a:ext cx="54864" cy="621792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44" name="Text 42"/>
          <p:cNvSpPr/>
          <p:nvPr/>
        </p:nvSpPr>
        <p:spPr>
          <a:xfrm>
            <a:off x="5257800" y="22037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687568" y="2185416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Race Condition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87568" y="240487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submissions can cause the threshold trigger to miscount, requiring manual intervention to generate the PDF report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166360" y="2816352"/>
            <a:ext cx="37490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166360" y="2816352"/>
            <a:ext cx="54864" cy="621792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49" name="Text 47"/>
          <p:cNvSpPr/>
          <p:nvPr/>
        </p:nvSpPr>
        <p:spPr>
          <a:xfrm>
            <a:off x="5257800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687568" y="2871216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Recipient Control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687568" y="309067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distributes the link to anyone — no enforcement of who receives the survey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166360" y="3502152"/>
            <a:ext cx="37490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166360" y="3502152"/>
            <a:ext cx="54864" cy="621792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35753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687568" y="3557016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Submissions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687568" y="377647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respondent can submit multiple times by clearing cookies — undermines response integrity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166360" y="4187952"/>
            <a:ext cx="37490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66360" y="4187952"/>
            <a:ext cx="54864" cy="621792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59" name="Text 57"/>
          <p:cNvSpPr/>
          <p:nvPr/>
        </p:nvSpPr>
        <p:spPr>
          <a:xfrm>
            <a:off x="5257800" y="4261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687568" y="4242816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Self-Service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687568" y="446227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template changes, fixes, and new builds require developer effort — zero self-service for Culture Team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Pulse: Capability Assessment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testing confirmed — capabilities, gaps, and open questions for Microsoft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77640" cy="27432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CONFIRMED IN TESTING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54864" cy="82296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14356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Templates &amp; Custom Creation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" y="17373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Barclays-standard templates (e.g. Speak Up, Team Effectiveness) can be created. Managers can use as-is or edit. Surveys can also be built from scratch.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04288" y="137160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04288" y="1371600"/>
            <a:ext cx="54864" cy="82296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3" name="Text 11"/>
          <p:cNvSpPr/>
          <p:nvPr/>
        </p:nvSpPr>
        <p:spPr>
          <a:xfrm>
            <a:off x="2432304" y="14356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Automated Distribution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32304" y="17373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sends survey emails automatically on a scheduled date to targeted participants — no manual send required by manager. Open link option also available.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67712"/>
            <a:ext cx="54864" cy="82296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2331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Threshold-Gated Reporting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63347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only accessible once minimum response threshold (tested at 4) is met. Managers can view and share full reports and collaborate with designated colleagues.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304288" y="2267712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04288" y="2267712"/>
            <a:ext cx="54864" cy="82296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1" name="Text 19"/>
          <p:cNvSpPr/>
          <p:nvPr/>
        </p:nvSpPr>
        <p:spPr>
          <a:xfrm>
            <a:off x="2432304" y="2331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Series &amp; Resend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32304" y="263347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 schedule a series of surveys and resend to the same group after a defined period. Question-level tracking enables trend analysis.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3163824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163824"/>
            <a:ext cx="54864" cy="82296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" y="3227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Delegation Feature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2336" y="352958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 delegate access to up to 5 colleagues — useful for team leads. Feature can also be turned off centrally if not required.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304288" y="3163824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304288" y="3163824"/>
            <a:ext cx="54864" cy="82296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9" name="Text 27"/>
          <p:cNvSpPr/>
          <p:nvPr/>
        </p:nvSpPr>
        <p:spPr>
          <a:xfrm>
            <a:off x="2432304" y="3227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One Response Per Participant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432304" y="352958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can only respond once — addresses the multiple-submission risk in Qualtrics. Note: confidential, not fully anonymous (awaiting Microsoft clarification).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17720" y="1005840"/>
            <a:ext cx="4251960" cy="274320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GAPS &amp; OPEN QUESTIONS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17720" y="1371600"/>
            <a:ext cx="4251960" cy="566928"/>
          </a:xfrm>
          <a:prstGeom prst="rect">
            <a:avLst/>
          </a:prstGeom>
          <a:solidFill>
            <a:srgbClr val="FDE7E9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1371600"/>
            <a:ext cx="54864" cy="566928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35" name="Shape 33"/>
          <p:cNvSpPr/>
          <p:nvPr/>
        </p:nvSpPr>
        <p:spPr>
          <a:xfrm>
            <a:off x="4709160" y="1444752"/>
            <a:ext cx="502920" cy="182880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144475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285232" y="142646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Creator Access Not Controlled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166420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Pulse-enabled user can create a survey — not restricted to managers. Manager eligibility check (4+ direct reports) cannot currently be enforced natively.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4617720" y="1984248"/>
            <a:ext cx="4251960" cy="566928"/>
          </a:xfrm>
          <a:prstGeom prst="rect">
            <a:avLst/>
          </a:prstGeom>
          <a:solidFill>
            <a:srgbClr val="FDE7E9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1984248"/>
            <a:ext cx="54864" cy="566928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41" name="Shape 39"/>
          <p:cNvSpPr/>
          <p:nvPr/>
        </p:nvSpPr>
        <p:spPr>
          <a:xfrm>
            <a:off x="4709160" y="2057400"/>
            <a:ext cx="502920" cy="182880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205740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285232" y="203911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Customisation Limited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227685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colours and branding cannot be aligned to Barclays standards. Partial report sharing is not possible — full report shared or nothing.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617720" y="2596896"/>
            <a:ext cx="4251960" cy="566928"/>
          </a:xfrm>
          <a:prstGeom prst="rect">
            <a:avLst/>
          </a:prstGeom>
          <a:solidFill>
            <a:srgbClr val="FDE7E9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17720" y="2596896"/>
            <a:ext cx="54864" cy="566928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670048"/>
            <a:ext cx="502920" cy="182880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48" name="Text 46"/>
          <p:cNvSpPr/>
          <p:nvPr/>
        </p:nvSpPr>
        <p:spPr>
          <a:xfrm>
            <a:off x="4709160" y="267004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5285232" y="265176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Scope Not Controllable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09160" y="288950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delegation is enabled, delegated colleague gains access to ALL surveys and reports — cannot be restricted to a specific survey.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4617720" y="3209544"/>
            <a:ext cx="4251960" cy="566928"/>
          </a:xfrm>
          <a:prstGeom prst="rect">
            <a:avLst/>
          </a:prstGeom>
          <a:solidFill>
            <a:srgbClr val="FFF4C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17720" y="3209544"/>
            <a:ext cx="54864" cy="566928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53" name="Shape 51"/>
          <p:cNvSpPr/>
          <p:nvPr/>
        </p:nvSpPr>
        <p:spPr>
          <a:xfrm>
            <a:off x="4709160" y="3282696"/>
            <a:ext cx="502920" cy="18288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54" name="Text 52"/>
          <p:cNvSpPr/>
          <p:nvPr/>
        </p:nvSpPr>
        <p:spPr>
          <a:xfrm>
            <a:off x="4709160" y="328269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285232" y="326440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Thresholds by Question Type?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09160" y="350215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open-text threshold be set to 10 and closed-ended to 4 separately? Awaiting Microsoft confirmation.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4617720" y="3822192"/>
            <a:ext cx="4251960" cy="566928"/>
          </a:xfrm>
          <a:prstGeom prst="rect">
            <a:avLst/>
          </a:prstGeom>
          <a:solidFill>
            <a:srgbClr val="FFF4C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617720" y="3822192"/>
            <a:ext cx="54864" cy="566928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59" name="Shape 57"/>
          <p:cNvSpPr/>
          <p:nvPr/>
        </p:nvSpPr>
        <p:spPr>
          <a:xfrm>
            <a:off x="4709160" y="3895344"/>
            <a:ext cx="502920" cy="18288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60" name="Text 58"/>
          <p:cNvSpPr/>
          <p:nvPr/>
        </p:nvSpPr>
        <p:spPr>
          <a:xfrm>
            <a:off x="4709160" y="389534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285232" y="387705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vs Confidential?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09160" y="41148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prevents resubmission even after clearing cookies — is this fully anonymous or confidential? Awaiting Microsoft clarification.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4617720" y="4434840"/>
            <a:ext cx="4251960" cy="566928"/>
          </a:xfrm>
          <a:prstGeom prst="rect">
            <a:avLst/>
          </a:prstGeom>
          <a:solidFill>
            <a:srgbClr val="FFF4C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17720" y="4434840"/>
            <a:ext cx="54864" cy="566928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65" name="Shape 63"/>
          <p:cNvSpPr/>
          <p:nvPr/>
        </p:nvSpPr>
        <p:spPr>
          <a:xfrm>
            <a:off x="4709160" y="4507992"/>
            <a:ext cx="502920" cy="18288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66" name="Text 64"/>
          <p:cNvSpPr/>
          <p:nvPr/>
        </p:nvSpPr>
        <p:spPr>
          <a:xfrm>
            <a:off x="4709160" y="45079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5285232" y="448970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&amp; Question Controls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709160" y="47274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predefined Microsoft templates be selectively disabled? Can question editing by authors be restricted? Can new custom questions require admin + data privacy approval? Awaiting Microsoft.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Scope &amp; Success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requirements for go-live and how we will measure success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69080" cy="2926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005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— REQUIRED FOR GO-LIVE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40690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89888"/>
            <a:ext cx="54864" cy="6583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1481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45389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Barclays-Standard Templates Ready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16916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Up and Team Effectiveness templates created, quality-assured, and published. Unwanted Microsoft default templates disabled or hidden.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0690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03120"/>
            <a:ext cx="54864" cy="6583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2194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16712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Manager-Only Access Enforced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24048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managers with 4+ direct reports can create and send surveys. Mechanism to be confirmed with Microsoft / GTS team — critical dependency.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816352"/>
            <a:ext cx="40690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16352"/>
            <a:ext cx="54864" cy="6583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" y="2907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88036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Governance Process in Place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311810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new custom question must go through admin review and Data Privacy approval before being added. Process defined and communicated.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529584"/>
            <a:ext cx="40690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29584"/>
            <a:ext cx="54864" cy="6583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59359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Access Provisioned at Scale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" y="383133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eligible managers onboarded to Pulse at launch. Only users in the Pulse database can run surveys — full enablement list required from HR systems.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4242816"/>
            <a:ext cx="40690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242816"/>
            <a:ext cx="54864" cy="6583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430682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Oversight Active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" y="45445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team receives notifications of all survey activity. RTB team holds platform; Colleague Listening provides support.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7720" y="1005840"/>
            <a:ext cx="4251960" cy="292608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1005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1389888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1389888"/>
            <a:ext cx="475488" cy="5486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138988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66360" y="143560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Migration of Existing Data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166360" y="16642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historical survey data from Qualtrics exported and preserved. Existing templates replicated to Barclays standard in Pulse.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4617720" y="1984248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1984248"/>
            <a:ext cx="475488" cy="5486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198424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66360" y="202996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Access at Scale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66360" y="22585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eligible managers (4+ direct reports) successfully onboarded and able to send surveys on Day 1 without IT support.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617720" y="2578608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17720" y="2578608"/>
            <a:ext cx="475488" cy="5486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46" name="Text 44"/>
          <p:cNvSpPr/>
          <p:nvPr/>
        </p:nvSpPr>
        <p:spPr>
          <a:xfrm>
            <a:off x="4617720" y="257860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166360" y="262432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Threshold-Gated Reporting Operational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166360" y="28529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 correctly once response thresholds are met — no manual intervention required (unlike current Qualtrics race condition).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4617720" y="3172968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17720" y="3172968"/>
            <a:ext cx="475488" cy="5486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51" name="Text 49"/>
          <p:cNvSpPr/>
          <p:nvPr/>
        </p:nvSpPr>
        <p:spPr>
          <a:xfrm>
            <a:off x="4617720" y="317296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166360" y="321868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Aggregated Reporting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66360" y="34472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produce a combined summary report across multiple managers' surveys for senior / decision-level analysis. (Dependency: confirm Pulse capability or workaround.)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4617720" y="3767328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17720" y="3767328"/>
            <a:ext cx="475488" cy="5486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56" name="Text 54"/>
          <p:cNvSpPr/>
          <p:nvPr/>
        </p:nvSpPr>
        <p:spPr>
          <a:xfrm>
            <a:off x="4617720" y="376732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166360" y="381304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Governance Confirmed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166360" y="40416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authorised managers can create surveys. No unauthorised users can launch surveys. Verified and signed off by Data Privacy and RTB.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4617720" y="4361688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17720" y="4361688"/>
            <a:ext cx="475488" cy="5486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61" name="Text 59"/>
          <p:cNvSpPr/>
          <p:nvPr/>
        </p:nvSpPr>
        <p:spPr>
          <a:xfrm>
            <a:off x="4617720" y="436168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166360" y="440740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Decommissioned by Q4 2027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166360" y="46360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manager-led surveys fully migrated and operational in Pulse before Qualtrics license termination in December 2027.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Path Forward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dependencies, what we can live with, and the recommended approach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417320" cy="256032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789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47088" y="106070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Foundation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47088" y="13258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 manager-access control feasibility with GTS &amp; Microsoft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47088" y="152704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Resolve open questions on anonymity, thresholds, template controls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47088" y="172821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Obtain CDO / HR leadership sign-off to proceed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01368" y="1143000"/>
            <a:ext cx="109728" cy="109728"/>
          </a:xfrm>
          <a:prstGeom prst="rect">
            <a:avLst>
              <a:gd name="adj" fmla="val 50000"/>
            </a:avLst>
          </a:prstGeom>
          <a:solidFill>
            <a:srgbClr val="F4A623"/>
          </a:solidFill>
          <a:ln/>
        </p:spPr>
      </p:sp>
      <p:sp>
        <p:nvSpPr>
          <p:cNvPr id="12" name="Shape 10"/>
          <p:cNvSpPr/>
          <p:nvPr/>
        </p:nvSpPr>
        <p:spPr>
          <a:xfrm>
            <a:off x="1837944" y="1252728"/>
            <a:ext cx="36576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975104"/>
            <a:ext cx="1417320" cy="2560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9751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47088" y="195681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Configure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47088" y="222199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Barclays-standard templates (Speak Up, Team Effectiveness)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47088" y="242316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Configure governance: question approval process, admin oversight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47088" y="262432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Pilot with small manager cohort — validate threshold, reporting, access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01368" y="2039112"/>
            <a:ext cx="109728" cy="109728"/>
          </a:xfrm>
          <a:prstGeom prst="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20" name="Shape 18"/>
          <p:cNvSpPr/>
          <p:nvPr/>
        </p:nvSpPr>
        <p:spPr>
          <a:xfrm>
            <a:off x="1837944" y="2148840"/>
            <a:ext cx="36576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871216"/>
            <a:ext cx="1417320" cy="256032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87121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– Q3 2027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847088" y="285292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47088" y="31181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Phase 1: Full manager enablement in Pulse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47088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Colleague Listening training and support model live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47088" y="35204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Parallel run with Qualtrics until confidence confirmed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01368" y="2935224"/>
            <a:ext cx="109728" cy="109728"/>
          </a:xfrm>
          <a:prstGeom prst="rect">
            <a:avLst>
              <a:gd name="adj" fmla="val 50000"/>
            </a:avLst>
          </a:prstGeom>
          <a:solidFill>
            <a:srgbClr val="107C10"/>
          </a:solidFill>
          <a:ln/>
        </p:spPr>
      </p:sp>
      <p:sp>
        <p:nvSpPr>
          <p:cNvPr id="28" name="Shape 26"/>
          <p:cNvSpPr/>
          <p:nvPr/>
        </p:nvSpPr>
        <p:spPr>
          <a:xfrm>
            <a:off x="1837944" y="3044952"/>
            <a:ext cx="36576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3767328"/>
            <a:ext cx="1417320" cy="256032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76732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847088" y="374904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Decommission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47088" y="401421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manager-led surveys migrated to Pulse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47088" y="421538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Qualtrics license terminated — migration complete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01368" y="3831336"/>
            <a:ext cx="109728" cy="109728"/>
          </a:xfrm>
          <a:prstGeom prst="rect">
            <a:avLst>
              <a:gd name="adj" fmla="val 50000"/>
            </a:avLst>
          </a:prstGeom>
          <a:solidFill>
            <a:srgbClr val="D83B01"/>
          </a:solidFill>
          <a:ln/>
        </p:spPr>
      </p:sp>
      <p:sp>
        <p:nvSpPr>
          <p:cNvPr id="35" name="Shape 33"/>
          <p:cNvSpPr/>
          <p:nvPr/>
        </p:nvSpPr>
        <p:spPr>
          <a:xfrm>
            <a:off x="5806440" y="164592"/>
            <a:ext cx="3154680" cy="2560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6" name="Text 34"/>
          <p:cNvSpPr/>
          <p:nvPr/>
        </p:nvSpPr>
        <p:spPr>
          <a:xfrm>
            <a:off x="5925312" y="164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DEPENDENCIES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806440" y="530352"/>
            <a:ext cx="3154680" cy="603504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06440" y="530352"/>
            <a:ext cx="54864" cy="6035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58521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GTS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7955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manager-access control, anonymity model, template disable options, threshold split by question type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5806440" y="1188720"/>
            <a:ext cx="3154680" cy="603504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806440" y="1188720"/>
            <a:ext cx="54864" cy="6035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0" y="124358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RTB Team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0" y="14538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ownership, provisioning at scale, ongoing governance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5806440" y="1847088"/>
            <a:ext cx="3154680" cy="603504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806440" y="1847088"/>
            <a:ext cx="54864" cy="6035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0" y="19019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43600" y="21122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creation, QA, admin oversight, manager support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5806440" y="2505456"/>
            <a:ext cx="3154680" cy="603504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806440" y="2505456"/>
            <a:ext cx="54864" cy="6035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0" y="25603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43600" y="2770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question governance process and confidentiality model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806440" y="3163824"/>
            <a:ext cx="3154680" cy="603504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806440" y="3163824"/>
            <a:ext cx="54864" cy="6035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0" y="32186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Systems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94360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full list of eligible managers (4+ direct reports) for Day 1 provisioning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806440" y="3822192"/>
            <a:ext cx="3154680" cy="603504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806440" y="3822192"/>
            <a:ext cx="54864" cy="6035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9" name="Text 57"/>
          <p:cNvSpPr/>
          <p:nvPr/>
        </p:nvSpPr>
        <p:spPr>
          <a:xfrm>
            <a:off x="5943600" y="38770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Team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43600" y="4087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sign-off, success metric validation, executive reporting requirements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2" name="Text 60"/>
          <p:cNvSpPr/>
          <p:nvPr/>
        </p:nvSpPr>
        <p:spPr>
          <a:xfrm>
            <a:off x="320040" y="4663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920240" y="46634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Viva Pulse as the replacement for the Qualtrics manager-led survey. Resolve open access-control and anonymity questions with Microsoft before committing to go-live date. Initial rollout in one phase following GTS alignment.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Manager-Led Survey Migration: Qualtrics to Viva Pulse</dc:title>
  <dc:subject>PptxGenJS Presentation</dc:subject>
  <dc:creator>PptxGenJS</dc:creator>
  <cp:lastModifiedBy>PptxGenJS</cp:lastModifiedBy>
  <cp:revision>1</cp:revision>
  <dcterms:created xsi:type="dcterms:W3CDTF">2026-06-02T08:24:46Z</dcterms:created>
  <dcterms:modified xsi:type="dcterms:W3CDTF">2026-06-02T08:24:46Z</dcterms:modified>
</cp:coreProperties>
</file>