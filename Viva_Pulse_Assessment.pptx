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feasibility test of running the SpeakUp manager-led deep-dive on Viva Pulse, not a recommendation. Audience is both our own team (to show what we tested) and stakeholders (to make the calls only they can make). Skip the 'why we're moving off Qualtrics' background — they already know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one-slide story. Lead with the verdict: the manager journey works and is easier than Qualtrics, but three things differ enough that you (stakeholders) need to make a call. Close on the three asks — that's the purpose of the meeting. Scope caveat: GTIS-built controls in EngCOP (non-prod) were confirmed by them but we haven't independently validated them yet because access wasn't granted.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Result column: the core mechanics (1–3) pass cleanly. Criterion 4 is partial only because the report renders fine but the metric inside it is different. Criterion 5 is the real miss — favorability instead of the average score we use today. Criterion 6 (manager-only creation) was a secondary ask and stays open. Threshold of 4 is our setting, not a Pulse limit — minimum is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read. The left column is genuinely positive — Pulse is easier and adds trend tracking we don't have today. The right column is the day-to-day limitations. Keep this tactical; the strategic 'why it matters' lives on the next slide, so don't over-explain consolidation or scale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the crux — each needs an explicit stakeholder ruling. Gap 1 is the most important: because Pulse and Glint count favorability differently (8–9–10 vs 9–10), a deep-dive result can't be compared like-for-like to the annual score that triggered the deep-dive in the first place. Gaps 2 and 3 are about the metric managers see and the enterprise/XCOM view we'd 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what's settled — but flag clearly that 'confirmed' means GTIS confirmed it in the non-prod environment; we still need our own access to verify. Right is the open queue with Microsoft, led by the report-customization DCR and the consolidation question. Tie back: the template-control items the stakeholders raised last week are the two confirmed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deck on the ask. The left card frames risk; the wider right card is the decision list — walk through each one and name an owner if you can. The dark strip is the immediate next step: get direction today, then secure our own test access and keep pushing the Microsoft queue. These decisions are deliberately stakeholder calls — we're not the decision-maker on parity, blockers, or operating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table for line-by-line questions. The rows that matter most for the decisions are rating scale, primary metric, and consolidated reporting — everything else is broadly neutral or favours Pulse (trend analysis, real-time delivery).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trail. Left proves the testing was thorough across every creation path, and that all of them produced the same favorability-only result. Right consolidates every open question by owner — Microsoft (capability) and stakeholders (decision) — so nothing is lost after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3A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229600" y="1051560"/>
            <a:ext cx="338328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·  PLATFORM ASSESSMENT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77824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Manager-Led Survey on Viva Pulse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feasibility test of the SpeakUp manager-led deep-dive — outcomes, gaps and the decisions we need from stakeholders.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5166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team &amp; stakeholder review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 — and where it landed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5F9FC"/>
          </a:solidFill>
          <a:ln w="9525">
            <a:solidFill>
              <a:srgbClr val="DCE6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8132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whether Viva Pulse can deliver the SpeakUp manager-led deep-dive run today on Qualtrics, using hands-on, Author-level access to the manager experience.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514344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877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315468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journey is viable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04672" y="3630168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setup, distribution and threshold-gated reporting all work — and are simpler to operate than today's code-based workflow.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37304" y="2331720"/>
            <a:ext cx="3514344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336" y="25877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3336" y="315468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differences need a decision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93336" y="3630168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metric, scale / favorability comparability, and enterprise consolidation all differ from Qualtrics.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25968" y="2331720"/>
            <a:ext cx="3514344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5877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15468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confirmed, capabilities open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82000" y="3630168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controls are confirmed with GTIS; report customization and consolidation remain open with Microsoft.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626864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0A2A43"/>
          </a:solidFill>
          <a:ln/>
          <a:effectLst>
            <a:outerShdw sx="100000" sy="100000" kx="0" ky="0" algn="bl" rotWithShape="0" blurRad="88900" dist="38100" dir="5400000">
              <a:srgbClr val="9AAEC0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68680" y="4809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THIS SESSION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68680" y="517550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&amp; scale tolerance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68680" y="550468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Favorability-only on 1–10, or parity with Qualtrics?</a:t>
            </a:r>
            <a:endParaRPr lang="en-US" sz="980" dirty="0"/>
          </a:p>
        </p:txBody>
      </p:sp>
      <p:sp>
        <p:nvSpPr>
          <p:cNvPr id="24" name="Text 18"/>
          <p:cNvSpPr/>
          <p:nvPr/>
        </p:nvSpPr>
        <p:spPr>
          <a:xfrm>
            <a:off x="4352544" y="517550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352544" y="550468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requirement — and is its absence a blocker?</a:t>
            </a:r>
            <a:endParaRPr lang="en-US" sz="980" dirty="0"/>
          </a:p>
        </p:txBody>
      </p:sp>
      <p:sp>
        <p:nvSpPr>
          <p:cNvPr id="26" name="Text 20"/>
          <p:cNvSpPr/>
          <p:nvPr/>
        </p:nvSpPr>
        <p:spPr>
          <a:xfrm>
            <a:off x="7836408" y="517550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operating model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836408" y="550468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vs Admin; who owns template creation?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 ·  TEST RESULTS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Viva Pulse meet our test criteria?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669280"/>
                <a:gridCol w="1417320"/>
                <a:gridCol w="36850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Success criterion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 / note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E8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Manager can access and duplicate the survey template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Template duplicated and run as a live survey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E8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Manager can run the survey and share it with chosen participants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Three modes: targeted email, open link, QR code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E8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Report opens once the anonymity threshold is met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Threshold configurable (minimum 3); set to 4 in test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E8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Manager-facing metrics shown in the expected order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83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Report is viewable, but the metric type differs — see 5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E8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Report shows the average score, matching Qualtrics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 met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Pulse shows favorability % only — no average, not customizable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E8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Survey creation restricted to managers only (secondary ask)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E9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No control mechanism confirmed during testing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280160" y="608990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E8E5A"/>
          </a:solidFill>
          <a:ln/>
        </p:spPr>
      </p:sp>
      <p:sp>
        <p:nvSpPr>
          <p:cNvPr id="9" name="Text 5"/>
          <p:cNvSpPr/>
          <p:nvPr/>
        </p:nvSpPr>
        <p:spPr>
          <a:xfrm>
            <a:off x="1527048" y="6035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97480" y="608990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9831A"/>
          </a:solidFill>
          <a:ln/>
        </p:spPr>
      </p:sp>
      <p:sp>
        <p:nvSpPr>
          <p:cNvPr id="11" name="Text 7"/>
          <p:cNvSpPr/>
          <p:nvPr/>
        </p:nvSpPr>
        <p:spPr>
          <a:xfrm>
            <a:off x="2944368" y="6035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0" y="608990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23A30"/>
          </a:solidFill>
          <a:ln/>
        </p:spPr>
      </p:sp>
      <p:sp>
        <p:nvSpPr>
          <p:cNvPr id="13" name="Text 9"/>
          <p:cNvSpPr/>
          <p:nvPr/>
        </p:nvSpPr>
        <p:spPr>
          <a:xfrm>
            <a:off x="4361688" y="6035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532120" y="608990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6E92"/>
          </a:solidFill>
          <a:ln/>
        </p:spPr>
      </p:sp>
      <p:sp>
        <p:nvSpPr>
          <p:cNvPr id="15" name="Text 11"/>
          <p:cNvSpPr/>
          <p:nvPr/>
        </p:nvSpPr>
        <p:spPr>
          <a:xfrm>
            <a:off x="5779008" y="6035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TESTING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Viva Pulse performs in practice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2956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83080"/>
            <a:ext cx="4905756" cy="457200"/>
          </a:xfrm>
          <a:prstGeom prst="roundRect">
            <a:avLst>
              <a:gd name="adj" fmla="val 12000"/>
            </a:avLst>
          </a:prstGeom>
          <a:solidFill>
            <a:srgbClr val="E7F3E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928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1016" y="1783080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41248" y="2423160"/>
            <a:ext cx="47777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authoring — new question sets and deep-dive topics can be stood up quickly, with no code change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operate — create → duplicate → distribute → release; little technical skill needed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— results update live in-tool once the threshold is met (no manual PDF)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trend tracking — a survey can be re-issued to follow movement over time, at survey and question level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distribution — targeted email (sent by Pulse), open link (sent by the manager), or QR code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77356" y="1554480"/>
            <a:ext cx="5362956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05956" y="1783080"/>
            <a:ext cx="4905756" cy="457200"/>
          </a:xfrm>
          <a:prstGeom prst="roundRect">
            <a:avLst>
              <a:gd name="adj" fmla="val 12000"/>
            </a:avLst>
          </a:prstGeom>
          <a:solidFill>
            <a:srgbClr val="F7EE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8928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9732" y="1783080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B9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569964" y="2423160"/>
            <a:ext cx="47777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 is fixed to 1–5 / 1–7 / 1–10 — there is no 0–10 option as used today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favorability % only — no average-score view and no report customization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Barclays theming or branding controls were observed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 / consolidated reporting within Pulse (detailed on the next slide)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way to limit survey creation to managers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THAT NEED A DECISION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differences that change how results are read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3514344" cy="443484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28800"/>
            <a:ext cx="457200" cy="457200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414016"/>
            <a:ext cx="3002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favorability basis don't line up with the annual survey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3328416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" y="3547872"/>
            <a:ext cx="300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Glint (annual) counts 9–10 as favorable; Pulse counts 8–9–10. The same answers score differently in each tool.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804672" y="4572000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9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" y="4791456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0–10 also dropping to 1–10, a SpeakUp result can't be read on the same basis as the Glint score that prompted it.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337304" y="1572768"/>
            <a:ext cx="3514344" cy="443484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3336" y="1828800"/>
            <a:ext cx="457200" cy="457200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45933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3336" y="2414016"/>
            <a:ext cx="3002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metric changes from average to favorability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93336" y="3328416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93336" y="3547872"/>
            <a:ext cx="300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managers see an average score plus leader / barrier category averages. Pulse gives a favorability % only.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4593336" y="4572000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9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93336" y="4791456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toggle to average and no customization, which affects how managers interpret and how we explain the change.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8125968" y="1572768"/>
            <a:ext cx="3514344" cy="443484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382000" y="1828800"/>
            <a:ext cx="457200" cy="457200"/>
          </a:xfrm>
          <a:prstGeom prst="ellipse">
            <a:avLst/>
          </a:prstGeom>
          <a:solidFill>
            <a:srgbClr val="0A2A43"/>
          </a:solidFill>
          <a:ln/>
        </p:spPr>
      </p:sp>
      <p:sp>
        <p:nvSpPr>
          <p:cNvPr id="24" name="Text 21"/>
          <p:cNvSpPr/>
          <p:nvPr/>
        </p:nvSpPr>
        <p:spPr>
          <a:xfrm>
            <a:off x="8382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82000" y="2414016"/>
            <a:ext cx="3002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enterprise consolidation across managers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82000" y="3328416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382000" y="3547872"/>
            <a:ext cx="300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rolls every manager run into one view — who ran it, demographics, threshold and response rates, plus question-level aggregates.</a:t>
            </a:r>
            <a:endParaRPr lang="en-US" sz="1030" dirty="0"/>
          </a:p>
        </p:txBody>
      </p:sp>
      <p:sp>
        <p:nvSpPr>
          <p:cNvPr id="28" name="Text 25"/>
          <p:cNvSpPr/>
          <p:nvPr/>
        </p:nvSpPr>
        <p:spPr>
          <a:xfrm>
            <a:off x="8382000" y="4572000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9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82000" y="4791456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 exists in Pulse and Excel-extract feasibility is unconfirmed. Assessed as a must-have, not nice-to-have.</a:t>
            </a:r>
            <a:endParaRPr lang="en-US" sz="103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 ·  OPEN ITEMS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Settled with the technical partner; open with Microsoft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2956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83080"/>
            <a:ext cx="4905756" cy="457200"/>
          </a:xfrm>
          <a:prstGeom prst="roundRect">
            <a:avLst>
              <a:gd name="adj" fmla="val 12000"/>
            </a:avLst>
          </a:prstGeom>
          <a:solidFill>
            <a:srgbClr val="E7F3E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928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1016" y="1783080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GTIS  ·  ENGCOP (NON-PROD)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41248" y="2450592"/>
            <a:ext cx="47777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SpeakUp template can be replicated in Viva Pulse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Microsoft predefined templates can be disabled — and selectively re-enabled if needed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4251960"/>
            <a:ext cx="4814316" cy="1097280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/>
        </p:spPr>
      </p:sp>
      <p:sp>
        <p:nvSpPr>
          <p:cNvPr id="12" name="Text 8"/>
          <p:cNvSpPr/>
          <p:nvPr/>
        </p:nvSpPr>
        <p:spPr>
          <a:xfrm>
            <a:off x="987552" y="4361688"/>
            <a:ext cx="44851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pending. 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points were confirmed by the technical partner. The Colleague Listening team has not yet independently validated them — test access to EngCOP was not granted.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77356" y="1554480"/>
            <a:ext cx="5362956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05956" y="1783080"/>
            <a:ext cx="4905756" cy="457200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8928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9732" y="1783080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3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MICROSOFT  ·  RESPONSES AWAITED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569964" y="2450592"/>
            <a:ext cx="47777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customization / an average-score option — raised as a design change request (DCR)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supported route to consolidated enterprise reporting, or an Excel extract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Barclays themes and branding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mechanism to restrict survey creation to managers (4+ direct reports)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algn="l" indent="0" marL="0">
              <a:buNone/>
            </a:pPr>
            <a:r>
              <a:rPr lang="en-US" sz="100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week's stakeholder questions on template control were actioned with GTIS and are reflected in the Confirmed column.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·  DECISIONS  ·  NEXT STEPS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stakeholders to decide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443484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755648"/>
            <a:ext cx="4032504" cy="420624"/>
          </a:xfrm>
          <a:prstGeom prst="roundRect">
            <a:avLst>
              <a:gd name="adj" fmla="val 13043"/>
            </a:avLst>
          </a:prstGeom>
          <a:solidFill>
            <a:srgbClr val="F6E9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470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3584" y="17556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B2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RISKS &amp; ISSUES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22960" y="2340864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6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Comparability — deep-dive results not directly relatable to the annual Glint score on current settings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6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parity — losing the average score may affect interpretation and change management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6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view — the consolidation gap would limit XCOM-level reporting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6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GTIS confirmations not yet independently verified by the team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6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— anonymity threshold to be agreed with Data Privacy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template / admin ownership and access level (Colleague Listening vs RTB) undefined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5303520" y="1554480"/>
            <a:ext cx="6336792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04688" y="1755648"/>
            <a:ext cx="5934456" cy="420624"/>
          </a:xfrm>
          <a:prstGeom prst="roundRect">
            <a:avLst>
              <a:gd name="adj" fmla="val 13043"/>
            </a:avLst>
          </a:prstGeom>
          <a:solidFill>
            <a:srgbClr val="0A2A4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470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98464" y="1755648"/>
            <a:ext cx="5385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FOR STAKEHOLDERS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596128" y="2377440"/>
            <a:ext cx="57881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&amp; scale — </a:t>
            </a:r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favorability-only (8–9–10) on a 1–10 scale acceptable, or is average-score / 0–10 parity required?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 — </a:t>
            </a:r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requirement, and whether its absence is a critical blocker.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operating model — </a:t>
            </a:r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for our team (Author vs Admin) and who owns template creation (Colleague Listening vs RTB).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governance — </a:t>
            </a:r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predefined templates, or leave them available?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basis —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on which we proceed with Viva Pulse.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68756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0A2A43"/>
          </a:solidFill>
          <a:ln/>
          <a:effectLst>
            <a:outerShdw sx="100000" sy="100000" kx="0" ky="0" algn="bl" rotWithShape="0" blurRad="88900" dist="38100" dir="5400000">
              <a:srgbClr val="9AAEC0">
                <a:alpha val="14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2960" y="5687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2194560" y="5687568"/>
            <a:ext cx="9262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outcomes jointly for direction</a:t>
            </a:r>
            <a:pPr algn="l" indent="0" marL="0">
              <a:buNone/>
            </a:pPr>
            <a:r>
              <a:rPr lang="en-US" sz="1050" dirty="0">
                <a:solidFill>
                  <a:srgbClr val="6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secure our own test access and pursue the open items with Microsoft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 ·  FEATURE COMPARISON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Qualtrics (current) vs Viva Pulse (tested)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574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43251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Qualtrics — current</a:t>
                      </a:r>
                      <a:endParaRPr lang="en-US" sz="11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Viva Pulse — tested</a:t>
                      </a:r>
                      <a:endParaRPr lang="en-US" sz="11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Rating scale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0–10 (11-point)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1–5 / 1–7 / 1–10 only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Primary metric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Average score (+ category averages)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Favorability % (top-3: 8–9–10)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Report format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Built-in, code-based, fixed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Real-time online, fixed (not customizable)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Report delivery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Manual PDF to manager's inbox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Live in-tool, threshold-gated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Anonymity threshold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Configurable (minimum 3); set to 4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Trend analysis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Not supported (separate report each run)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Supported — re-issue; survey &amp; question level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Distribution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Link generated from template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Targeted email / open link / QR code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Branding / themes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Barclays-aligned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Not available / unconfirmed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43"/>
                          </a:solidFill>
                        </a:rPr>
                        <a:t>Consolidated reporting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Yes — manager &amp; question level, demographic cuts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Not available / unconfirmed</a:t>
                      </a:r>
                      <a:endParaRPr lang="en-US" sz="1000" dirty="0"/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A2A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 ·  TEST LOG &amp; QUESTION REGISTER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07592" y="6766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 executed and the full question set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07492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83080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EEF5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7452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1016" y="178308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EXECUTED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41248" y="2377440"/>
            <a:ext cx="4489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the existing template and ran it unchanged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question sets from scratch on 1–5, 1–7 and 1–10 scales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a template and added questions to it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report appears only once 4 responses were received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Exercised all three distribution methods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re-issue / trend behaviour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5074920"/>
            <a:ext cx="4526280" cy="731520"/>
          </a:xfrm>
          <a:prstGeom prst="roundRect">
            <a:avLst>
              <a:gd name="adj" fmla="val 6250"/>
            </a:avLst>
          </a:prstGeom>
          <a:solidFill>
            <a:srgbClr val="F7EEDB"/>
          </a:solidFill>
          <a:ln/>
        </p:spPr>
      </p:sp>
      <p:sp>
        <p:nvSpPr>
          <p:cNvPr id="12" name="Text 8"/>
          <p:cNvSpPr/>
          <p:nvPr/>
        </p:nvSpPr>
        <p:spPr>
          <a:xfrm>
            <a:off x="969264" y="51206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B9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algn="l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 the report returned a favorability % and could not be customized.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5989320" y="1554480"/>
            <a:ext cx="565099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755648"/>
            <a:ext cx="5193792" cy="402336"/>
          </a:xfrm>
          <a:prstGeom prst="roundRect">
            <a:avLst>
              <a:gd name="adj" fmla="val 13636"/>
            </a:avLst>
          </a:prstGeom>
          <a:solidFill>
            <a:srgbClr val="E9F1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3794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11696" y="1755648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3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MICROSOFT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81928" y="230428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3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customization / average score (DCR)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3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 or Excel extract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3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branding and themes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survey creation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5989320" y="3566160"/>
            <a:ext cx="5650992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9AAEC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3767328"/>
            <a:ext cx="5193792" cy="402336"/>
          </a:xfrm>
          <a:prstGeom prst="roundRect">
            <a:avLst>
              <a:gd name="adj" fmla="val 13636"/>
            </a:avLst>
          </a:prstGeom>
          <a:solidFill>
            <a:srgbClr val="E9F1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84962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11696" y="3767328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3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STAKEHOLDERS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281928" y="4315968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4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degree of parity with Qualtrics (scale, metric, reporting)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4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consolidation gap is a critical blocker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4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for Colleague Listening (Author vs Admin) and template-creation ownership (vs RTB)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4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or retain the predefined templates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spcAft>
                <a:spcPts val="450"/>
              </a:spcAft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threshold (with Data Privacy)</a:t>
            </a:r>
            <a:endParaRPr lang="en-US" sz="103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03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for the go / no-go decision</a:t>
            </a:r>
            <a:endParaRPr lang="en-US" sz="103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  ·  Viva Pulse Feasibility Assessment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Colleague Listening ·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Manager-Led Survey — Viva Pulse Feasibility Assessment</dc:title>
  <dc:subject>PptxGenJS Presentation</dc:subject>
  <dc:creator>Colleague Listening</dc:creator>
  <cp:lastModifiedBy>Colleague Listening</cp:lastModifiedBy>
  <cp:revision>1</cp:revision>
  <dcterms:created xsi:type="dcterms:W3CDTF">2026-06-21T16:35:09Z</dcterms:created>
  <dcterms:modified xsi:type="dcterms:W3CDTF">2026-06-21T16:35:09Z</dcterms:modified>
</cp:coreProperties>
</file>