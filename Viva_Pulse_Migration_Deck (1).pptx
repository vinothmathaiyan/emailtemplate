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D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0" y="0"/>
            <a:ext cx="3108960" cy="514350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3" name="Shape 1"/>
          <p:cNvSpPr/>
          <p:nvPr/>
        </p:nvSpPr>
        <p:spPr>
          <a:xfrm>
            <a:off x="8412480" y="0"/>
            <a:ext cx="731520" cy="514350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92608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C7E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BARCLAYS  |  COLLEAGUE LISTENING  |  2026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54864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Manager-Led Survey</a:t>
            </a:r>
            <a:endParaRPr lang="en-US" sz="3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to Viva Pulse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57200" y="2176272"/>
            <a:ext cx="1097280" cy="45720"/>
          </a:xfrm>
          <a:prstGeom prst="rect">
            <a:avLst/>
          </a:prstGeom>
          <a:solidFill>
            <a:srgbClr val="F4A623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304288"/>
            <a:ext cx="53035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C7E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Barclays currently runs manager-led surveys through a custom-coded Qualtrics workflow. With the Qualtrics license ending December 2027, we are evaluating Microsoft Viva Pulse — the best-fit replacement within our existing Microsoft ecosystem — to replicate and improve this capability.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20040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to: HR Leadership  &amp;  Culture Team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3657600"/>
            <a:ext cx="1572768" cy="1261872"/>
          </a:xfrm>
          <a:prstGeom prst="rect">
            <a:avLst/>
          </a:prstGeom>
          <a:solidFill>
            <a:srgbClr val="005A9E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3657600"/>
            <a:ext cx="1572768" cy="54864"/>
          </a:xfrm>
          <a:prstGeom prst="rect">
            <a:avLst/>
          </a:prstGeom>
          <a:solidFill>
            <a:srgbClr val="F4A623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749040"/>
            <a:ext cx="1417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20" kern="0" dirty="0">
                <a:solidFill>
                  <a:srgbClr val="C7E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BY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548640" y="3950208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8640" y="4352544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8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Sign-off to proceed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2176272" y="3657600"/>
            <a:ext cx="1572768" cy="1261872"/>
          </a:xfrm>
          <a:prstGeom prst="rect">
            <a:avLst/>
          </a:prstGeom>
          <a:solidFill>
            <a:srgbClr val="005A9E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176272" y="3657600"/>
            <a:ext cx="1572768" cy="54864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16" name="Text 14"/>
          <p:cNvSpPr/>
          <p:nvPr/>
        </p:nvSpPr>
        <p:spPr>
          <a:xfrm>
            <a:off x="2267712" y="3749040"/>
            <a:ext cx="1417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20" kern="0" dirty="0">
                <a:solidFill>
                  <a:srgbClr val="C7E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COMPLETE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2267712" y="3950208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2027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267712" y="4352544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8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licence termination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3895344" y="3657600"/>
            <a:ext cx="1572768" cy="1261872"/>
          </a:xfrm>
          <a:prstGeom prst="rect">
            <a:avLst/>
          </a:prstGeom>
          <a:solidFill>
            <a:srgbClr val="005A9E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895344" y="3657600"/>
            <a:ext cx="1572768" cy="54864"/>
          </a:xfrm>
          <a:prstGeom prst="rect">
            <a:avLst/>
          </a:prstGeom>
          <a:solidFill>
            <a:srgbClr val="107C10"/>
          </a:solidFill>
          <a:ln/>
        </p:spPr>
      </p:sp>
      <p:sp>
        <p:nvSpPr>
          <p:cNvPr id="21" name="Text 19"/>
          <p:cNvSpPr/>
          <p:nvPr/>
        </p:nvSpPr>
        <p:spPr>
          <a:xfrm>
            <a:off x="3986784" y="3749040"/>
            <a:ext cx="1417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20" kern="0" dirty="0">
                <a:solidFill>
                  <a:srgbClr val="C7E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PLATFORM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3986784" y="3950208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Viva Pulse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986784" y="4352544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8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Best-fit in Microsoft ecosystem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172200" y="320040"/>
            <a:ext cx="2103120" cy="4480560"/>
          </a:xfrm>
          <a:prstGeom prst="rect">
            <a:avLst/>
          </a:prstGeom>
          <a:solidFill>
            <a:srgbClr val="005A9E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72200" y="320040"/>
            <a:ext cx="2103120" cy="292608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26" name="Text 24"/>
          <p:cNvSpPr/>
          <p:nvPr/>
        </p:nvSpPr>
        <p:spPr>
          <a:xfrm>
            <a:off x="6272784" y="32004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DECISION NOW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6291072" y="749808"/>
            <a:ext cx="237744" cy="237744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28" name="Text 26"/>
          <p:cNvSpPr/>
          <p:nvPr/>
        </p:nvSpPr>
        <p:spPr>
          <a:xfrm>
            <a:off x="6291072" y="749808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601968" y="731520"/>
            <a:ext cx="157276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C7E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Qualtrics licence ending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C7E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December 2027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291072" y="1499616"/>
            <a:ext cx="237744" cy="237744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1" name="Text 29"/>
          <p:cNvSpPr/>
          <p:nvPr/>
        </p:nvSpPr>
        <p:spPr>
          <a:xfrm>
            <a:off x="6291072" y="1499616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601968" y="1481328"/>
            <a:ext cx="157276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C7E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solution is entirely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C7E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custom-coded — ~1 FTE per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C7E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to build &amp; maintain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291072" y="2249424"/>
            <a:ext cx="237744" cy="237744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4" name="Text 32"/>
          <p:cNvSpPr/>
          <p:nvPr/>
        </p:nvSpPr>
        <p:spPr>
          <a:xfrm>
            <a:off x="6291072" y="2249424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601968" y="2231136"/>
            <a:ext cx="157276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C7E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Viva Pulse already included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C7E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Barclays Microsoft licence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C7E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(bundled with Viva Glint)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291072" y="2999232"/>
            <a:ext cx="237744" cy="237744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7" name="Text 35"/>
          <p:cNvSpPr/>
          <p:nvPr/>
        </p:nvSpPr>
        <p:spPr>
          <a:xfrm>
            <a:off x="6291072" y="2999232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601968" y="2980944"/>
            <a:ext cx="157276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C7E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 is purpose-built for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C7E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manager-led surveys within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C7E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Teams / M365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291072" y="3749040"/>
            <a:ext cx="237744" cy="237744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40" name="Text 38"/>
          <p:cNvSpPr/>
          <p:nvPr/>
        </p:nvSpPr>
        <p:spPr>
          <a:xfrm>
            <a:off x="6291072" y="374904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601968" y="3730752"/>
            <a:ext cx="157276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C7E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needed by June 2026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C7E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allow sufficient build &amp;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C7E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 time before Q4 2027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D5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 — Qualtrics Manager-Led Survey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7E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programme works today, what must be preserved, and the limitations driving migration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675120" y="128016"/>
            <a:ext cx="2286000" cy="621792"/>
          </a:xfrm>
          <a:prstGeom prst="rect">
            <a:avLst/>
          </a:prstGeom>
          <a:solidFill>
            <a:srgbClr val="005A9E"/>
          </a:solidFill>
          <a:ln/>
        </p:spPr>
      </p:sp>
      <p:sp>
        <p:nvSpPr>
          <p:cNvPr id="6" name="Text 4"/>
          <p:cNvSpPr/>
          <p:nvPr/>
        </p:nvSpPr>
        <p:spPr>
          <a:xfrm>
            <a:off x="6784848" y="128016"/>
            <a:ext cx="21031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Culture Team</a:t>
            </a:r>
            <a:endParaRPr lang="en-US" sz="7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by: Colleague Listening</a:t>
            </a:r>
            <a:endParaRPr lang="en-US" sz="7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Future: RTB Team (platform)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74320" y="1005840"/>
            <a:ext cx="4114800" cy="256032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8" name="Text 6"/>
          <p:cNvSpPr/>
          <p:nvPr/>
        </p:nvSpPr>
        <p:spPr>
          <a:xfrm>
            <a:off x="384048" y="10058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TODAY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74320" y="1353312"/>
            <a:ext cx="329184" cy="310896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1353312"/>
            <a:ext cx="3291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0624" y="1664208"/>
            <a:ext cx="36576" cy="384048"/>
          </a:xfrm>
          <a:prstGeom prst="rect">
            <a:avLst/>
          </a:prstGeom>
          <a:solidFill>
            <a:srgbClr val="C8C6C4"/>
          </a:solidFill>
          <a:ln/>
        </p:spPr>
      </p:sp>
      <p:sp>
        <p:nvSpPr>
          <p:cNvPr id="12" name="Text 10"/>
          <p:cNvSpPr/>
          <p:nvPr/>
        </p:nvSpPr>
        <p:spPr>
          <a:xfrm>
            <a:off x="694944" y="1371600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Requests Survey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94944" y="160020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submits a request form. System checks eligibility: must be a confirmed manager with 4 or more direct reports.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74320" y="2048256"/>
            <a:ext cx="329184" cy="310896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2048256"/>
            <a:ext cx="3291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20624" y="2359152"/>
            <a:ext cx="36576" cy="384048"/>
          </a:xfrm>
          <a:prstGeom prst="rect">
            <a:avLst/>
          </a:prstGeom>
          <a:solidFill>
            <a:srgbClr val="C8C6C4"/>
          </a:solidFill>
          <a:ln/>
        </p:spPr>
      </p:sp>
      <p:sp>
        <p:nvSpPr>
          <p:cNvPr id="17" name="Text 15"/>
          <p:cNvSpPr/>
          <p:nvPr/>
        </p:nvSpPr>
        <p:spPr>
          <a:xfrm>
            <a:off x="694944" y="2066544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Duplicated (Custom Code)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94944" y="2295144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Back-end code duplicates the existing Barclays-standard template and generates a unique survey link for that manager.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74320" y="2743200"/>
            <a:ext cx="329184" cy="310896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2743200"/>
            <a:ext cx="3291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20624" y="3054096"/>
            <a:ext cx="36576" cy="384048"/>
          </a:xfrm>
          <a:prstGeom prst="rect">
            <a:avLst/>
          </a:prstGeom>
          <a:solidFill>
            <a:srgbClr val="C8C6C4"/>
          </a:solidFill>
          <a:ln/>
        </p:spPr>
      </p:sp>
      <p:sp>
        <p:nvSpPr>
          <p:cNvPr id="22" name="Text 20"/>
          <p:cNvSpPr/>
          <p:nvPr/>
        </p:nvSpPr>
        <p:spPr>
          <a:xfrm>
            <a:off x="694944" y="2761488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Distributes Link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94944" y="2990088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sends the link to their team. No platform-level control over who receives it — entirely at manager discretion.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74320" y="3438144"/>
            <a:ext cx="329184" cy="310896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25" name="Text 23"/>
          <p:cNvSpPr/>
          <p:nvPr/>
        </p:nvSpPr>
        <p:spPr>
          <a:xfrm>
            <a:off x="274320" y="3438144"/>
            <a:ext cx="3291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20624" y="3749040"/>
            <a:ext cx="36576" cy="384048"/>
          </a:xfrm>
          <a:prstGeom prst="rect">
            <a:avLst/>
          </a:prstGeom>
          <a:solidFill>
            <a:srgbClr val="C8C6C4"/>
          </a:solidFill>
          <a:ln/>
        </p:spPr>
      </p:sp>
      <p:sp>
        <p:nvSpPr>
          <p:cNvPr id="27" name="Text 25"/>
          <p:cNvSpPr/>
          <p:nvPr/>
        </p:nvSpPr>
        <p:spPr>
          <a:xfrm>
            <a:off x="694944" y="3456432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Responses Collected Anonymously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94944" y="3685032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is fully anonymous. Same user can respond multiple times after clearing cookies.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274320" y="4133088"/>
            <a:ext cx="329184" cy="310896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0" name="Text 28"/>
          <p:cNvSpPr/>
          <p:nvPr/>
        </p:nvSpPr>
        <p:spPr>
          <a:xfrm>
            <a:off x="274320" y="4133088"/>
            <a:ext cx="3291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94944" y="4151376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Met — PDF Report Generated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94944" y="4379976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the minimum response threshold is met, a summary PDF report is auto-generated and provided to the manager.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274320" y="4773168"/>
            <a:ext cx="4114800" cy="256032"/>
          </a:xfrm>
          <a:prstGeom prst="rect">
            <a:avLst/>
          </a:prstGeom>
          <a:solidFill>
            <a:srgbClr val="C7E0F4"/>
          </a:solidFill>
          <a:ln/>
        </p:spPr>
      </p:sp>
      <p:sp>
        <p:nvSpPr>
          <p:cNvPr id="34" name="Text 32"/>
          <p:cNvSpPr/>
          <p:nvPr/>
        </p:nvSpPr>
        <p:spPr>
          <a:xfrm>
            <a:off x="402336" y="477316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PRESERVE IN PULSE:  Manager eligibility gate — system must verify 4+ direct reports before access is granted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663440" y="1005840"/>
            <a:ext cx="4251960" cy="256032"/>
          </a:xfrm>
          <a:prstGeom prst="rect">
            <a:avLst/>
          </a:prstGeom>
          <a:solidFill>
            <a:srgbClr val="C13515"/>
          </a:solidFill>
          <a:ln/>
        </p:spPr>
      </p:sp>
      <p:sp>
        <p:nvSpPr>
          <p:cNvPr id="36" name="Text 34"/>
          <p:cNvSpPr/>
          <p:nvPr/>
        </p:nvSpPr>
        <p:spPr>
          <a:xfrm>
            <a:off x="4773168" y="100584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POINTS DRIVING MIGRATION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663440" y="1353312"/>
            <a:ext cx="425196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663440" y="1353312"/>
            <a:ext cx="54864" cy="640080"/>
          </a:xfrm>
          <a:prstGeom prst="rect">
            <a:avLst/>
          </a:prstGeom>
          <a:solidFill>
            <a:srgbClr val="C13515"/>
          </a:solidFill>
          <a:ln/>
        </p:spPr>
      </p:sp>
      <p:sp>
        <p:nvSpPr>
          <p:cNvPr id="39" name="Shape 37"/>
          <p:cNvSpPr/>
          <p:nvPr/>
        </p:nvSpPr>
        <p:spPr>
          <a:xfrm>
            <a:off x="4754880" y="1426464"/>
            <a:ext cx="475488" cy="182880"/>
          </a:xfrm>
          <a:prstGeom prst="rect">
            <a:avLst/>
          </a:prstGeom>
          <a:solidFill>
            <a:srgbClr val="C13515"/>
          </a:solidFill>
          <a:ln/>
        </p:spPr>
      </p:sp>
      <p:sp>
        <p:nvSpPr>
          <p:cNvPr id="40" name="Text 38"/>
          <p:cNvSpPr/>
          <p:nvPr/>
        </p:nvSpPr>
        <p:spPr>
          <a:xfrm>
            <a:off x="4754880" y="1426464"/>
            <a:ext cx="4754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650" dirty="0"/>
          </a:p>
        </p:txBody>
      </p:sp>
      <p:sp>
        <p:nvSpPr>
          <p:cNvPr id="41" name="Text 39"/>
          <p:cNvSpPr/>
          <p:nvPr/>
        </p:nvSpPr>
        <p:spPr>
          <a:xfrm>
            <a:off x="5303520" y="1408176"/>
            <a:ext cx="3520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Maintenance Overhead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754880" y="1645920"/>
            <a:ext cx="4069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Entirely code-based — each new template requires ~1 FTE for 3 months of build, test, and rollout. Zero self-service for the Culture Team.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4663440" y="2048256"/>
            <a:ext cx="425196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663440" y="2048256"/>
            <a:ext cx="54864" cy="640080"/>
          </a:xfrm>
          <a:prstGeom prst="rect">
            <a:avLst/>
          </a:prstGeom>
          <a:solidFill>
            <a:srgbClr val="B7320A"/>
          </a:solidFill>
          <a:ln/>
        </p:spPr>
      </p:sp>
      <p:sp>
        <p:nvSpPr>
          <p:cNvPr id="45" name="Shape 43"/>
          <p:cNvSpPr/>
          <p:nvPr/>
        </p:nvSpPr>
        <p:spPr>
          <a:xfrm>
            <a:off x="4754880" y="2121408"/>
            <a:ext cx="475488" cy="182880"/>
          </a:xfrm>
          <a:prstGeom prst="rect">
            <a:avLst/>
          </a:prstGeom>
          <a:solidFill>
            <a:srgbClr val="B7320A"/>
          </a:solidFill>
          <a:ln/>
        </p:spPr>
      </p:sp>
      <p:sp>
        <p:nvSpPr>
          <p:cNvPr id="46" name="Text 44"/>
          <p:cNvSpPr/>
          <p:nvPr/>
        </p:nvSpPr>
        <p:spPr>
          <a:xfrm>
            <a:off x="4754880" y="2121408"/>
            <a:ext cx="4754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650" dirty="0"/>
          </a:p>
        </p:txBody>
      </p:sp>
      <p:sp>
        <p:nvSpPr>
          <p:cNvPr id="47" name="Text 45"/>
          <p:cNvSpPr/>
          <p:nvPr/>
        </p:nvSpPr>
        <p:spPr>
          <a:xfrm>
            <a:off x="5303520" y="2103120"/>
            <a:ext cx="3520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Quota Race Condition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4754880" y="2340864"/>
            <a:ext cx="4069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Simultaneous submissions at threshold boundary can cause miscounting — PDF report does not generate and requires manual intervention.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4663440" y="2743200"/>
            <a:ext cx="425196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4663440" y="2743200"/>
            <a:ext cx="54864" cy="640080"/>
          </a:xfrm>
          <a:prstGeom prst="rect">
            <a:avLst/>
          </a:prstGeom>
          <a:solidFill>
            <a:srgbClr val="B7320A"/>
          </a:solidFill>
          <a:ln/>
        </p:spPr>
      </p:sp>
      <p:sp>
        <p:nvSpPr>
          <p:cNvPr id="51" name="Shape 49"/>
          <p:cNvSpPr/>
          <p:nvPr/>
        </p:nvSpPr>
        <p:spPr>
          <a:xfrm>
            <a:off x="4754880" y="2816352"/>
            <a:ext cx="475488" cy="182880"/>
          </a:xfrm>
          <a:prstGeom prst="rect">
            <a:avLst/>
          </a:prstGeom>
          <a:solidFill>
            <a:srgbClr val="B7320A"/>
          </a:solidFill>
          <a:ln/>
        </p:spPr>
      </p:sp>
      <p:sp>
        <p:nvSpPr>
          <p:cNvPr id="52" name="Text 50"/>
          <p:cNvSpPr/>
          <p:nvPr/>
        </p:nvSpPr>
        <p:spPr>
          <a:xfrm>
            <a:off x="4754880" y="2816352"/>
            <a:ext cx="4754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650" dirty="0"/>
          </a:p>
        </p:txBody>
      </p:sp>
      <p:sp>
        <p:nvSpPr>
          <p:cNvPr id="53" name="Text 51"/>
          <p:cNvSpPr/>
          <p:nvPr/>
        </p:nvSpPr>
        <p:spPr>
          <a:xfrm>
            <a:off x="5303520" y="2798064"/>
            <a:ext cx="3520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Recipient Control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4754880" y="3035808"/>
            <a:ext cx="4069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distributes the link to anyone freely. No platform enforcement of who should or should not receive the survey.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4663440" y="3438144"/>
            <a:ext cx="425196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4663440" y="3438144"/>
            <a:ext cx="54864" cy="640080"/>
          </a:xfrm>
          <a:prstGeom prst="rect">
            <a:avLst/>
          </a:prstGeom>
          <a:solidFill>
            <a:srgbClr val="C13515"/>
          </a:solidFill>
          <a:ln/>
        </p:spPr>
      </p:sp>
      <p:sp>
        <p:nvSpPr>
          <p:cNvPr id="57" name="Shape 55"/>
          <p:cNvSpPr/>
          <p:nvPr/>
        </p:nvSpPr>
        <p:spPr>
          <a:xfrm>
            <a:off x="4754880" y="3511296"/>
            <a:ext cx="475488" cy="182880"/>
          </a:xfrm>
          <a:prstGeom prst="rect">
            <a:avLst/>
          </a:prstGeom>
          <a:solidFill>
            <a:srgbClr val="C13515"/>
          </a:solidFill>
          <a:ln/>
        </p:spPr>
      </p:sp>
      <p:sp>
        <p:nvSpPr>
          <p:cNvPr id="58" name="Text 56"/>
          <p:cNvSpPr/>
          <p:nvPr/>
        </p:nvSpPr>
        <p:spPr>
          <a:xfrm>
            <a:off x="4754880" y="3511296"/>
            <a:ext cx="4754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650" dirty="0"/>
          </a:p>
        </p:txBody>
      </p:sp>
      <p:sp>
        <p:nvSpPr>
          <p:cNvPr id="59" name="Text 57"/>
          <p:cNvSpPr/>
          <p:nvPr/>
        </p:nvSpPr>
        <p:spPr>
          <a:xfrm>
            <a:off x="5303520" y="3493008"/>
            <a:ext cx="3520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Submissions Possible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4754880" y="3730752"/>
            <a:ext cx="4069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respondent can submit multiple times by clearing browser cookies, undermining response integrity and threshold accuracy.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4663440" y="4133088"/>
            <a:ext cx="425196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4663440" y="4133088"/>
            <a:ext cx="54864" cy="640080"/>
          </a:xfrm>
          <a:prstGeom prst="rect">
            <a:avLst/>
          </a:prstGeom>
          <a:solidFill>
            <a:srgbClr val="8A4000"/>
          </a:solidFill>
          <a:ln/>
        </p:spPr>
      </p:sp>
      <p:sp>
        <p:nvSpPr>
          <p:cNvPr id="63" name="Shape 61"/>
          <p:cNvSpPr/>
          <p:nvPr/>
        </p:nvSpPr>
        <p:spPr>
          <a:xfrm>
            <a:off x="4754880" y="4206240"/>
            <a:ext cx="475488" cy="182880"/>
          </a:xfrm>
          <a:prstGeom prst="rect">
            <a:avLst/>
          </a:prstGeom>
          <a:solidFill>
            <a:srgbClr val="8A4000"/>
          </a:solidFill>
          <a:ln/>
        </p:spPr>
      </p:sp>
      <p:sp>
        <p:nvSpPr>
          <p:cNvPr id="64" name="Text 62"/>
          <p:cNvSpPr/>
          <p:nvPr/>
        </p:nvSpPr>
        <p:spPr>
          <a:xfrm>
            <a:off x="4754880" y="4206240"/>
            <a:ext cx="4754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</a:t>
            </a:r>
            <a:endParaRPr lang="en-US" sz="650" dirty="0"/>
          </a:p>
        </p:txBody>
      </p:sp>
      <p:sp>
        <p:nvSpPr>
          <p:cNvPr id="65" name="Text 63"/>
          <p:cNvSpPr/>
          <p:nvPr/>
        </p:nvSpPr>
        <p:spPr>
          <a:xfrm>
            <a:off x="5303520" y="4187952"/>
            <a:ext cx="3520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Self-Service Template Creation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4754880" y="4425696"/>
            <a:ext cx="4069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new survey topic requires developer involvement. Culture Team and Colleague Listening are entirely dependent on technical resource.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D5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Viva Pulse — Capability Assessment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7E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results: what works, what is limited, and what is still awaiting Microsoft confirmation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0" y="914400"/>
            <a:ext cx="9144000" cy="219456"/>
          </a:xfrm>
          <a:prstGeom prst="rect">
            <a:avLst/>
          </a:prstGeom>
          <a:solidFill>
            <a:srgbClr val="005A9E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14400"/>
            <a:ext cx="8686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As of October 2025, Viva Pulse is bundled with Viva Glint at no additional cost — Barclays already has access as part of its existing Microsoft licence.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74320" y="1207008"/>
            <a:ext cx="4069080" cy="237744"/>
          </a:xfrm>
          <a:prstGeom prst="rect">
            <a:avLst/>
          </a:prstGeom>
          <a:solidFill>
            <a:srgbClr val="107C10"/>
          </a:solidFill>
          <a:ln/>
        </p:spPr>
      </p:sp>
      <p:sp>
        <p:nvSpPr>
          <p:cNvPr id="8" name="Text 6"/>
          <p:cNvSpPr/>
          <p:nvPr/>
        </p:nvSpPr>
        <p:spPr>
          <a:xfrm>
            <a:off x="384048" y="1207008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IN TESTING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74320" y="1517904"/>
            <a:ext cx="4069080" cy="53949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517904"/>
            <a:ext cx="54864" cy="539496"/>
          </a:xfrm>
          <a:prstGeom prst="rect">
            <a:avLst/>
          </a:prstGeom>
          <a:solidFill>
            <a:srgbClr val="107C10"/>
          </a:solidFill>
          <a:ln/>
        </p:spPr>
      </p:sp>
      <p:sp>
        <p:nvSpPr>
          <p:cNvPr id="11" name="Shape 9"/>
          <p:cNvSpPr/>
          <p:nvPr/>
        </p:nvSpPr>
        <p:spPr>
          <a:xfrm>
            <a:off x="365760" y="1591056"/>
            <a:ext cx="658368" cy="164592"/>
          </a:xfrm>
          <a:prstGeom prst="rect">
            <a:avLst/>
          </a:prstGeom>
          <a:solidFill>
            <a:srgbClr val="DFF6DD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1591056"/>
            <a:ext cx="6583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B5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</a:t>
            </a:r>
            <a:endParaRPr lang="en-US" sz="600" dirty="0"/>
          </a:p>
        </p:txBody>
      </p:sp>
      <p:sp>
        <p:nvSpPr>
          <p:cNvPr id="13" name="Text 11"/>
          <p:cNvSpPr/>
          <p:nvPr/>
        </p:nvSpPr>
        <p:spPr>
          <a:xfrm>
            <a:off x="1097280" y="1572768"/>
            <a:ext cx="3154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Barclays Templates + From Scratch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84048" y="1792224"/>
            <a:ext cx="3886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templates (e.g. Speak Up, Team Effectiveness) can be created aligned to Barclays standards. Surveys can also be built from scratch or by duplicating an existing template.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274320" y="2103120"/>
            <a:ext cx="4069080" cy="53949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103120"/>
            <a:ext cx="54864" cy="539496"/>
          </a:xfrm>
          <a:prstGeom prst="rect">
            <a:avLst/>
          </a:prstGeom>
          <a:solidFill>
            <a:srgbClr val="107C10"/>
          </a:solidFill>
          <a:ln/>
        </p:spPr>
      </p:sp>
      <p:sp>
        <p:nvSpPr>
          <p:cNvPr id="17" name="Shape 15"/>
          <p:cNvSpPr/>
          <p:nvPr/>
        </p:nvSpPr>
        <p:spPr>
          <a:xfrm>
            <a:off x="365760" y="2176272"/>
            <a:ext cx="658368" cy="164592"/>
          </a:xfrm>
          <a:prstGeom prst="rect">
            <a:avLst/>
          </a:prstGeom>
          <a:solidFill>
            <a:srgbClr val="DFF6DD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2176272"/>
            <a:ext cx="6583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B5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</a:t>
            </a:r>
            <a:endParaRPr lang="en-US" sz="600" dirty="0"/>
          </a:p>
        </p:txBody>
      </p:sp>
      <p:sp>
        <p:nvSpPr>
          <p:cNvPr id="19" name="Text 17"/>
          <p:cNvSpPr/>
          <p:nvPr/>
        </p:nvSpPr>
        <p:spPr>
          <a:xfrm>
            <a:off x="1097280" y="2157984"/>
            <a:ext cx="3154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Distribution — No Manual Send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84048" y="2377440"/>
            <a:ext cx="3886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 sends survey emails automatically on a scheduled date to targeted recipients. Open link option also available. Unlike Qualtrics, manager does not need to send manually.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74320" y="2688336"/>
            <a:ext cx="4069080" cy="53949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2688336"/>
            <a:ext cx="54864" cy="539496"/>
          </a:xfrm>
          <a:prstGeom prst="rect">
            <a:avLst/>
          </a:prstGeom>
          <a:solidFill>
            <a:srgbClr val="107C10"/>
          </a:solidFill>
          <a:ln/>
        </p:spPr>
      </p:sp>
      <p:sp>
        <p:nvSpPr>
          <p:cNvPr id="23" name="Shape 21"/>
          <p:cNvSpPr/>
          <p:nvPr/>
        </p:nvSpPr>
        <p:spPr>
          <a:xfrm>
            <a:off x="365760" y="2761488"/>
            <a:ext cx="658368" cy="164592"/>
          </a:xfrm>
          <a:prstGeom prst="rect">
            <a:avLst/>
          </a:prstGeom>
          <a:solidFill>
            <a:srgbClr val="DFF6DD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" y="2761488"/>
            <a:ext cx="6583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B5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600" dirty="0"/>
          </a:p>
        </p:txBody>
      </p:sp>
      <p:sp>
        <p:nvSpPr>
          <p:cNvPr id="25" name="Text 23"/>
          <p:cNvSpPr/>
          <p:nvPr/>
        </p:nvSpPr>
        <p:spPr>
          <a:xfrm>
            <a:off x="1097280" y="2743200"/>
            <a:ext cx="3154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Threshold-Gated Reports — Tested at 4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84048" y="2962656"/>
            <a:ext cx="3886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are only accessible once the minimum response threshold is met. Successfully tested at 4 responses. Managers can view, share full reports, and collaborate with designated colleagues.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274320" y="3273552"/>
            <a:ext cx="4069080" cy="53949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74320" y="3273552"/>
            <a:ext cx="54864" cy="539496"/>
          </a:xfrm>
          <a:prstGeom prst="rect">
            <a:avLst/>
          </a:prstGeom>
          <a:solidFill>
            <a:srgbClr val="107C10"/>
          </a:solidFill>
          <a:ln/>
        </p:spPr>
      </p:sp>
      <p:sp>
        <p:nvSpPr>
          <p:cNvPr id="29" name="Shape 27"/>
          <p:cNvSpPr/>
          <p:nvPr/>
        </p:nvSpPr>
        <p:spPr>
          <a:xfrm>
            <a:off x="365760" y="3346704"/>
            <a:ext cx="658368" cy="164592"/>
          </a:xfrm>
          <a:prstGeom prst="rect">
            <a:avLst/>
          </a:prstGeom>
          <a:solidFill>
            <a:srgbClr val="DFF6DD"/>
          </a:solidFill>
          <a:ln/>
        </p:spPr>
      </p:sp>
      <p:sp>
        <p:nvSpPr>
          <p:cNvPr id="30" name="Text 28"/>
          <p:cNvSpPr/>
          <p:nvPr/>
        </p:nvSpPr>
        <p:spPr>
          <a:xfrm>
            <a:off x="365760" y="3346704"/>
            <a:ext cx="6583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B5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</a:t>
            </a:r>
            <a:endParaRPr lang="en-US" sz="600" dirty="0"/>
          </a:p>
        </p:txBody>
      </p:sp>
      <p:sp>
        <p:nvSpPr>
          <p:cNvPr id="31" name="Text 29"/>
          <p:cNvSpPr/>
          <p:nvPr/>
        </p:nvSpPr>
        <p:spPr>
          <a:xfrm>
            <a:off x="1097280" y="3328416"/>
            <a:ext cx="3154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Series, Scheduling &amp; Resend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84048" y="3547872"/>
            <a:ext cx="3886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Managers can schedule a series of surveys and resend to the same group after a defined period. Question-level tracking enables trend analysis over time.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274320" y="3858768"/>
            <a:ext cx="4069080" cy="53949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274320" y="3858768"/>
            <a:ext cx="54864" cy="539496"/>
          </a:xfrm>
          <a:prstGeom prst="rect">
            <a:avLst/>
          </a:prstGeom>
          <a:solidFill>
            <a:srgbClr val="107C10"/>
          </a:solidFill>
          <a:ln/>
        </p:spPr>
      </p:sp>
      <p:sp>
        <p:nvSpPr>
          <p:cNvPr id="35" name="Shape 33"/>
          <p:cNvSpPr/>
          <p:nvPr/>
        </p:nvSpPr>
        <p:spPr>
          <a:xfrm>
            <a:off x="365760" y="3931920"/>
            <a:ext cx="658368" cy="164592"/>
          </a:xfrm>
          <a:prstGeom prst="rect">
            <a:avLst/>
          </a:prstGeom>
          <a:solidFill>
            <a:srgbClr val="DFF6DD"/>
          </a:solidFill>
          <a:ln/>
        </p:spPr>
      </p:sp>
      <p:sp>
        <p:nvSpPr>
          <p:cNvPr id="36" name="Text 34"/>
          <p:cNvSpPr/>
          <p:nvPr/>
        </p:nvSpPr>
        <p:spPr>
          <a:xfrm>
            <a:off x="365760" y="3931920"/>
            <a:ext cx="6583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B5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</a:t>
            </a:r>
            <a:endParaRPr lang="en-US" sz="600" dirty="0"/>
          </a:p>
        </p:txBody>
      </p:sp>
      <p:sp>
        <p:nvSpPr>
          <p:cNvPr id="37" name="Text 35"/>
          <p:cNvSpPr/>
          <p:nvPr/>
        </p:nvSpPr>
        <p:spPr>
          <a:xfrm>
            <a:off x="1097280" y="3913632"/>
            <a:ext cx="3154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Response Per Participant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84048" y="4133088"/>
            <a:ext cx="3886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participant can only respond once — directly addresses the multiple-submission risk in Qualtrics. Note: classified as confidential, not fully anonymous (see open questions).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274320" y="4443984"/>
            <a:ext cx="4069080" cy="53949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274320" y="4443984"/>
            <a:ext cx="54864" cy="539496"/>
          </a:xfrm>
          <a:prstGeom prst="rect">
            <a:avLst/>
          </a:prstGeom>
          <a:solidFill>
            <a:srgbClr val="107C10"/>
          </a:solidFill>
          <a:ln/>
        </p:spPr>
      </p:sp>
      <p:sp>
        <p:nvSpPr>
          <p:cNvPr id="41" name="Shape 39"/>
          <p:cNvSpPr/>
          <p:nvPr/>
        </p:nvSpPr>
        <p:spPr>
          <a:xfrm>
            <a:off x="365760" y="4517136"/>
            <a:ext cx="658368" cy="164592"/>
          </a:xfrm>
          <a:prstGeom prst="rect">
            <a:avLst/>
          </a:prstGeom>
          <a:solidFill>
            <a:srgbClr val="DFF6DD"/>
          </a:solidFill>
          <a:ln/>
        </p:spPr>
      </p:sp>
      <p:sp>
        <p:nvSpPr>
          <p:cNvPr id="42" name="Text 40"/>
          <p:cNvSpPr/>
          <p:nvPr/>
        </p:nvSpPr>
        <p:spPr>
          <a:xfrm>
            <a:off x="365760" y="4517136"/>
            <a:ext cx="6583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B5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DELEGATE</a:t>
            </a:r>
            <a:endParaRPr lang="en-US" sz="600" dirty="0"/>
          </a:p>
        </p:txBody>
      </p:sp>
      <p:sp>
        <p:nvSpPr>
          <p:cNvPr id="43" name="Text 41"/>
          <p:cNvSpPr/>
          <p:nvPr/>
        </p:nvSpPr>
        <p:spPr>
          <a:xfrm>
            <a:off x="1097280" y="4498848"/>
            <a:ext cx="3154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Delegation Feature (Configurable)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384048" y="4718304"/>
            <a:ext cx="3886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Managers can delegate survey access to up to 5 colleagues. This feature can be turned on or off centrally — useful for team leads, but carries scope limitations (see gaps).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4617720" y="1207008"/>
            <a:ext cx="4251960" cy="237744"/>
          </a:xfrm>
          <a:prstGeom prst="rect">
            <a:avLst/>
          </a:prstGeom>
          <a:solidFill>
            <a:srgbClr val="C13515"/>
          </a:solidFill>
          <a:ln/>
        </p:spPr>
      </p:sp>
      <p:sp>
        <p:nvSpPr>
          <p:cNvPr id="46" name="Text 44"/>
          <p:cNvSpPr/>
          <p:nvPr/>
        </p:nvSpPr>
        <p:spPr>
          <a:xfrm>
            <a:off x="4727448" y="1207008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  &amp;  OPEN QUESTIONS FOR MICROSOFT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4617720" y="1517904"/>
            <a:ext cx="4251960" cy="539496"/>
          </a:xfrm>
          <a:prstGeom prst="rect">
            <a:avLst/>
          </a:prstGeom>
          <a:solidFill>
            <a:srgbClr val="FDE7E9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617720" y="1517904"/>
            <a:ext cx="54864" cy="539496"/>
          </a:xfrm>
          <a:prstGeom prst="rect">
            <a:avLst/>
          </a:prstGeom>
          <a:solidFill>
            <a:srgbClr val="C13515"/>
          </a:solidFill>
          <a:ln/>
        </p:spPr>
      </p:sp>
      <p:sp>
        <p:nvSpPr>
          <p:cNvPr id="49" name="Shape 47"/>
          <p:cNvSpPr/>
          <p:nvPr/>
        </p:nvSpPr>
        <p:spPr>
          <a:xfrm>
            <a:off x="4709160" y="1591056"/>
            <a:ext cx="502920" cy="164592"/>
          </a:xfrm>
          <a:prstGeom prst="rect">
            <a:avLst/>
          </a:prstGeom>
          <a:solidFill>
            <a:srgbClr val="C13515"/>
          </a:solidFill>
          <a:ln/>
        </p:spPr>
      </p:sp>
      <p:sp>
        <p:nvSpPr>
          <p:cNvPr id="50" name="Text 48"/>
          <p:cNvSpPr/>
          <p:nvPr/>
        </p:nvSpPr>
        <p:spPr>
          <a:xfrm>
            <a:off x="4709160" y="1591056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650" dirty="0"/>
          </a:p>
        </p:txBody>
      </p:sp>
      <p:sp>
        <p:nvSpPr>
          <p:cNvPr id="51" name="Text 49"/>
          <p:cNvSpPr/>
          <p:nvPr/>
        </p:nvSpPr>
        <p:spPr>
          <a:xfrm>
            <a:off x="5285232" y="1572768"/>
            <a:ext cx="34930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Creator Access Not Restricted to Managers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709160" y="1792224"/>
            <a:ext cx="4069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Pulse-enabled user can currently create a survey — not limited to managers. The manager eligibility check (4+ direct reports) cannot be enforced natively. Dependency: GTS / Microsoft to confirm solution.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4617720" y="2103120"/>
            <a:ext cx="4251960" cy="539496"/>
          </a:xfrm>
          <a:prstGeom prst="rect">
            <a:avLst/>
          </a:prstGeom>
          <a:solidFill>
            <a:srgbClr val="FDE7E9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4617720" y="2103120"/>
            <a:ext cx="54864" cy="539496"/>
          </a:xfrm>
          <a:prstGeom prst="rect">
            <a:avLst/>
          </a:prstGeom>
          <a:solidFill>
            <a:srgbClr val="C13515"/>
          </a:solidFill>
          <a:ln/>
        </p:spPr>
      </p:sp>
      <p:sp>
        <p:nvSpPr>
          <p:cNvPr id="55" name="Shape 53"/>
          <p:cNvSpPr/>
          <p:nvPr/>
        </p:nvSpPr>
        <p:spPr>
          <a:xfrm>
            <a:off x="4709160" y="2176272"/>
            <a:ext cx="502920" cy="164592"/>
          </a:xfrm>
          <a:prstGeom prst="rect">
            <a:avLst/>
          </a:prstGeom>
          <a:solidFill>
            <a:srgbClr val="C13515"/>
          </a:solidFill>
          <a:ln/>
        </p:spPr>
      </p:sp>
      <p:sp>
        <p:nvSpPr>
          <p:cNvPr id="56" name="Text 54"/>
          <p:cNvSpPr/>
          <p:nvPr/>
        </p:nvSpPr>
        <p:spPr>
          <a:xfrm>
            <a:off x="4709160" y="2176272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650" dirty="0"/>
          </a:p>
        </p:txBody>
      </p:sp>
      <p:sp>
        <p:nvSpPr>
          <p:cNvPr id="57" name="Text 55"/>
          <p:cNvSpPr/>
          <p:nvPr/>
        </p:nvSpPr>
        <p:spPr>
          <a:xfrm>
            <a:off x="5285232" y="2157984"/>
            <a:ext cx="34930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Branding &amp; Partial Sharing Not Available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4709160" y="2377440"/>
            <a:ext cx="4069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colours and visual branding cannot be aligned to Barclays standards. Reports must be shared in full — no ability to share a specific section or question subset.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4617720" y="2688336"/>
            <a:ext cx="4251960" cy="539496"/>
          </a:xfrm>
          <a:prstGeom prst="rect">
            <a:avLst/>
          </a:prstGeom>
          <a:solidFill>
            <a:srgbClr val="FDE7E9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4617720" y="2688336"/>
            <a:ext cx="54864" cy="539496"/>
          </a:xfrm>
          <a:prstGeom prst="rect">
            <a:avLst/>
          </a:prstGeom>
          <a:solidFill>
            <a:srgbClr val="C13515"/>
          </a:solidFill>
          <a:ln/>
        </p:spPr>
      </p:sp>
      <p:sp>
        <p:nvSpPr>
          <p:cNvPr id="61" name="Shape 59"/>
          <p:cNvSpPr/>
          <p:nvPr/>
        </p:nvSpPr>
        <p:spPr>
          <a:xfrm>
            <a:off x="4709160" y="2761488"/>
            <a:ext cx="502920" cy="164592"/>
          </a:xfrm>
          <a:prstGeom prst="rect">
            <a:avLst/>
          </a:prstGeom>
          <a:solidFill>
            <a:srgbClr val="C13515"/>
          </a:solidFill>
          <a:ln/>
        </p:spPr>
      </p:sp>
      <p:sp>
        <p:nvSpPr>
          <p:cNvPr id="62" name="Text 60"/>
          <p:cNvSpPr/>
          <p:nvPr/>
        </p:nvSpPr>
        <p:spPr>
          <a:xfrm>
            <a:off x="4709160" y="2761488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650" dirty="0"/>
          </a:p>
        </p:txBody>
      </p:sp>
      <p:sp>
        <p:nvSpPr>
          <p:cNvPr id="63" name="Text 61"/>
          <p:cNvSpPr/>
          <p:nvPr/>
        </p:nvSpPr>
        <p:spPr>
          <a:xfrm>
            <a:off x="5285232" y="2743200"/>
            <a:ext cx="34930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Delegate Access Scope Cannot Be Restricted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4709160" y="2962656"/>
            <a:ext cx="4069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delegation is active, the delegated colleague gains access to ALL the manager's surveys and reports — cannot be scoped to a single survey.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4617720" y="3273552"/>
            <a:ext cx="4251960" cy="539496"/>
          </a:xfrm>
          <a:prstGeom prst="rect">
            <a:avLst/>
          </a:prstGeom>
          <a:solidFill>
            <a:srgbClr val="FFF4CE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4617720" y="3273552"/>
            <a:ext cx="54864" cy="539496"/>
          </a:xfrm>
          <a:prstGeom prst="rect">
            <a:avLst/>
          </a:prstGeom>
          <a:solidFill>
            <a:srgbClr val="F4A623"/>
          </a:solidFill>
          <a:ln/>
        </p:spPr>
      </p:sp>
      <p:sp>
        <p:nvSpPr>
          <p:cNvPr id="67" name="Shape 65"/>
          <p:cNvSpPr/>
          <p:nvPr/>
        </p:nvSpPr>
        <p:spPr>
          <a:xfrm>
            <a:off x="4709160" y="3346704"/>
            <a:ext cx="502920" cy="164592"/>
          </a:xfrm>
          <a:prstGeom prst="rect">
            <a:avLst/>
          </a:prstGeom>
          <a:solidFill>
            <a:srgbClr val="F4A623"/>
          </a:solidFill>
          <a:ln/>
        </p:spPr>
      </p:sp>
      <p:sp>
        <p:nvSpPr>
          <p:cNvPr id="68" name="Text 66"/>
          <p:cNvSpPr/>
          <p:nvPr/>
        </p:nvSpPr>
        <p:spPr>
          <a:xfrm>
            <a:off x="4709160" y="3346704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650" dirty="0"/>
          </a:p>
        </p:txBody>
      </p:sp>
      <p:sp>
        <p:nvSpPr>
          <p:cNvPr id="69" name="Text 67"/>
          <p:cNvSpPr/>
          <p:nvPr/>
        </p:nvSpPr>
        <p:spPr>
          <a:xfrm>
            <a:off x="5285232" y="3328416"/>
            <a:ext cx="34930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Anonymity vs. Confidentiality — Awaiting Microsoft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4709160" y="3547872"/>
            <a:ext cx="4069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 prevents resubmission even after clearing cookies. This suggests confidential (identity linked but hidden), not fully anonymous. Critical governance question for HR and Data Privacy sign-off.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4617720" y="3858768"/>
            <a:ext cx="4251960" cy="539496"/>
          </a:xfrm>
          <a:prstGeom prst="rect">
            <a:avLst/>
          </a:prstGeom>
          <a:solidFill>
            <a:srgbClr val="FFF4CE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2" name="Shape 70"/>
          <p:cNvSpPr/>
          <p:nvPr/>
        </p:nvSpPr>
        <p:spPr>
          <a:xfrm>
            <a:off x="4617720" y="3858768"/>
            <a:ext cx="54864" cy="539496"/>
          </a:xfrm>
          <a:prstGeom prst="rect">
            <a:avLst/>
          </a:prstGeom>
          <a:solidFill>
            <a:srgbClr val="F4A623"/>
          </a:solidFill>
          <a:ln/>
        </p:spPr>
      </p:sp>
      <p:sp>
        <p:nvSpPr>
          <p:cNvPr id="73" name="Shape 71"/>
          <p:cNvSpPr/>
          <p:nvPr/>
        </p:nvSpPr>
        <p:spPr>
          <a:xfrm>
            <a:off x="4709160" y="3931920"/>
            <a:ext cx="502920" cy="164592"/>
          </a:xfrm>
          <a:prstGeom prst="rect">
            <a:avLst/>
          </a:prstGeom>
          <a:solidFill>
            <a:srgbClr val="F4A623"/>
          </a:solidFill>
          <a:ln/>
        </p:spPr>
      </p:sp>
      <p:sp>
        <p:nvSpPr>
          <p:cNvPr id="74" name="Text 72"/>
          <p:cNvSpPr/>
          <p:nvPr/>
        </p:nvSpPr>
        <p:spPr>
          <a:xfrm>
            <a:off x="4709160" y="3931920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650" dirty="0"/>
          </a:p>
        </p:txBody>
      </p:sp>
      <p:sp>
        <p:nvSpPr>
          <p:cNvPr id="75" name="Text 73"/>
          <p:cNvSpPr/>
          <p:nvPr/>
        </p:nvSpPr>
        <p:spPr>
          <a:xfrm>
            <a:off x="5285232" y="3913632"/>
            <a:ext cx="34930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Thresholds by Question Type — Awaiting Microsoft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4709160" y="4133088"/>
            <a:ext cx="4069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open-text responses have a threshold of 10 while closed-ended questions use a threshold of 4? Currently unconfirmed.</a:t>
            </a:r>
            <a:endParaRPr lang="en-US" sz="750" dirty="0"/>
          </a:p>
        </p:txBody>
      </p:sp>
      <p:sp>
        <p:nvSpPr>
          <p:cNvPr id="77" name="Shape 75"/>
          <p:cNvSpPr/>
          <p:nvPr/>
        </p:nvSpPr>
        <p:spPr>
          <a:xfrm>
            <a:off x="4617720" y="4443984"/>
            <a:ext cx="4251960" cy="539496"/>
          </a:xfrm>
          <a:prstGeom prst="rect">
            <a:avLst/>
          </a:prstGeom>
          <a:solidFill>
            <a:srgbClr val="FFF4CE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8" name="Shape 76"/>
          <p:cNvSpPr/>
          <p:nvPr/>
        </p:nvSpPr>
        <p:spPr>
          <a:xfrm>
            <a:off x="4617720" y="4443984"/>
            <a:ext cx="54864" cy="539496"/>
          </a:xfrm>
          <a:prstGeom prst="rect">
            <a:avLst/>
          </a:prstGeom>
          <a:solidFill>
            <a:srgbClr val="F4A623"/>
          </a:solidFill>
          <a:ln/>
        </p:spPr>
      </p:sp>
      <p:sp>
        <p:nvSpPr>
          <p:cNvPr id="79" name="Shape 77"/>
          <p:cNvSpPr/>
          <p:nvPr/>
        </p:nvSpPr>
        <p:spPr>
          <a:xfrm>
            <a:off x="4709160" y="4517136"/>
            <a:ext cx="502920" cy="164592"/>
          </a:xfrm>
          <a:prstGeom prst="rect">
            <a:avLst/>
          </a:prstGeom>
          <a:solidFill>
            <a:srgbClr val="F4A623"/>
          </a:solidFill>
          <a:ln/>
        </p:spPr>
      </p:sp>
      <p:sp>
        <p:nvSpPr>
          <p:cNvPr id="80" name="Text 78"/>
          <p:cNvSpPr/>
          <p:nvPr/>
        </p:nvSpPr>
        <p:spPr>
          <a:xfrm>
            <a:off x="4709160" y="4517136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650" dirty="0"/>
          </a:p>
        </p:txBody>
      </p:sp>
      <p:sp>
        <p:nvSpPr>
          <p:cNvPr id="81" name="Text 79"/>
          <p:cNvSpPr/>
          <p:nvPr/>
        </p:nvSpPr>
        <p:spPr>
          <a:xfrm>
            <a:off x="5285232" y="4498848"/>
            <a:ext cx="34930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&amp; Question Governance Controls — Awaiting Microsoft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4709160" y="4718304"/>
            <a:ext cx="4069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predefined Microsoft templates be selectively disabled? Can question editing by authors be restricted? Must new custom questions require admin + Data Privacy approval before publishing?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D5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One Scope &amp; Success Metrics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7E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must be in place on go-live day, and how we will measure whether migration has succeeded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069080" cy="256032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" y="100584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ONE — NON-NEGOTIABLE FOR GO-LIVE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4320" y="1353312"/>
            <a:ext cx="406908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353312"/>
            <a:ext cx="54864" cy="566928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9" name="Shape 7"/>
          <p:cNvSpPr/>
          <p:nvPr/>
        </p:nvSpPr>
        <p:spPr>
          <a:xfrm>
            <a:off x="365760" y="1426464"/>
            <a:ext cx="658368" cy="164592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426464"/>
            <a:ext cx="6583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</a:t>
            </a:r>
            <a:endParaRPr lang="en-US" sz="600" dirty="0"/>
          </a:p>
        </p:txBody>
      </p:sp>
      <p:sp>
        <p:nvSpPr>
          <p:cNvPr id="11" name="Text 9"/>
          <p:cNvSpPr/>
          <p:nvPr/>
        </p:nvSpPr>
        <p:spPr>
          <a:xfrm>
            <a:off x="1097280" y="1408176"/>
            <a:ext cx="3154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Barclays-Standard Templates Published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84048" y="1627632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8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Up and Team Effectiveness templates created, reviewed, and published. Predefined Microsoft templates that are not Barclays-relevant disabled or hidden.</a:t>
            </a:r>
            <a:endParaRPr lang="en-US" sz="780" dirty="0"/>
          </a:p>
        </p:txBody>
      </p:sp>
      <p:sp>
        <p:nvSpPr>
          <p:cNvPr id="13" name="Shape 11"/>
          <p:cNvSpPr/>
          <p:nvPr/>
        </p:nvSpPr>
        <p:spPr>
          <a:xfrm>
            <a:off x="274320" y="1965960"/>
            <a:ext cx="406908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1965960"/>
            <a:ext cx="54864" cy="566928"/>
          </a:xfrm>
          <a:prstGeom prst="rect">
            <a:avLst/>
          </a:prstGeom>
          <a:solidFill>
            <a:srgbClr val="005A9E"/>
          </a:solidFill>
          <a:ln/>
        </p:spPr>
      </p:sp>
      <p:sp>
        <p:nvSpPr>
          <p:cNvPr id="15" name="Shape 13"/>
          <p:cNvSpPr/>
          <p:nvPr/>
        </p:nvSpPr>
        <p:spPr>
          <a:xfrm>
            <a:off x="365760" y="2039112"/>
            <a:ext cx="658368" cy="164592"/>
          </a:xfrm>
          <a:prstGeom prst="rect">
            <a:avLst/>
          </a:prstGeom>
          <a:solidFill>
            <a:srgbClr val="005A9E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2039112"/>
            <a:ext cx="6583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1097280" y="2020824"/>
            <a:ext cx="3154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Manager-Only Access Enforced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84048" y="2240280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8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managers with 4+ direct reports can create and send surveys. Confirmation required from Microsoft / GTS — this is the single most critical dependency for go-live.</a:t>
            </a:r>
            <a:endParaRPr lang="en-US" sz="780" dirty="0"/>
          </a:p>
        </p:txBody>
      </p:sp>
      <p:sp>
        <p:nvSpPr>
          <p:cNvPr id="19" name="Shape 17"/>
          <p:cNvSpPr/>
          <p:nvPr/>
        </p:nvSpPr>
        <p:spPr>
          <a:xfrm>
            <a:off x="274320" y="2578608"/>
            <a:ext cx="406908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578608"/>
            <a:ext cx="54864" cy="566928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21" name="Shape 19"/>
          <p:cNvSpPr/>
          <p:nvPr/>
        </p:nvSpPr>
        <p:spPr>
          <a:xfrm>
            <a:off x="365760" y="2651760"/>
            <a:ext cx="658368" cy="164592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2651760"/>
            <a:ext cx="6583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1097280" y="2633472"/>
            <a:ext cx="3154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Governance Process Active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84048" y="2852928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8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new custom question must go through admin review and Data Privacy approval before being added. Process defined, documented, and communicated to all authors.</a:t>
            </a:r>
            <a:endParaRPr lang="en-US" sz="780" dirty="0"/>
          </a:p>
        </p:txBody>
      </p:sp>
      <p:sp>
        <p:nvSpPr>
          <p:cNvPr id="25" name="Shape 23"/>
          <p:cNvSpPr/>
          <p:nvPr/>
        </p:nvSpPr>
        <p:spPr>
          <a:xfrm>
            <a:off x="274320" y="3191256"/>
            <a:ext cx="406908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3191256"/>
            <a:ext cx="54864" cy="566928"/>
          </a:xfrm>
          <a:prstGeom prst="rect">
            <a:avLst/>
          </a:prstGeom>
          <a:solidFill>
            <a:srgbClr val="005A9E"/>
          </a:solidFill>
          <a:ln/>
        </p:spPr>
      </p:sp>
      <p:sp>
        <p:nvSpPr>
          <p:cNvPr id="27" name="Shape 25"/>
          <p:cNvSpPr/>
          <p:nvPr/>
        </p:nvSpPr>
        <p:spPr>
          <a:xfrm>
            <a:off x="365760" y="3264408"/>
            <a:ext cx="658368" cy="164592"/>
          </a:xfrm>
          <a:prstGeom prst="rect">
            <a:avLst/>
          </a:prstGeom>
          <a:solidFill>
            <a:srgbClr val="005A9E"/>
          </a:solidFill>
          <a:ln/>
        </p:spPr>
      </p:sp>
      <p:sp>
        <p:nvSpPr>
          <p:cNvPr id="28" name="Text 26"/>
          <p:cNvSpPr/>
          <p:nvPr/>
        </p:nvSpPr>
        <p:spPr>
          <a:xfrm>
            <a:off x="365760" y="3264408"/>
            <a:ext cx="6583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600" dirty="0"/>
          </a:p>
        </p:txBody>
      </p:sp>
      <p:sp>
        <p:nvSpPr>
          <p:cNvPr id="29" name="Text 27"/>
          <p:cNvSpPr/>
          <p:nvPr/>
        </p:nvSpPr>
        <p:spPr>
          <a:xfrm>
            <a:off x="1097280" y="3246120"/>
            <a:ext cx="3154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Eligible Managers Provisioned at Scale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84048" y="3465576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8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list of managers with 4+ direct reports obtained from HR Systems. All provisioned into Pulse before launch. Only users in the Pulse database can initiate surveys.</a:t>
            </a:r>
            <a:endParaRPr lang="en-US" sz="780" dirty="0"/>
          </a:p>
        </p:txBody>
      </p:sp>
      <p:sp>
        <p:nvSpPr>
          <p:cNvPr id="31" name="Shape 29"/>
          <p:cNvSpPr/>
          <p:nvPr/>
        </p:nvSpPr>
        <p:spPr>
          <a:xfrm>
            <a:off x="274320" y="3803904"/>
            <a:ext cx="406908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74320" y="3803904"/>
            <a:ext cx="54864" cy="566928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3" name="Shape 31"/>
          <p:cNvSpPr/>
          <p:nvPr/>
        </p:nvSpPr>
        <p:spPr>
          <a:xfrm>
            <a:off x="365760" y="3877056"/>
            <a:ext cx="658368" cy="164592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4" name="Text 32"/>
          <p:cNvSpPr/>
          <p:nvPr/>
        </p:nvSpPr>
        <p:spPr>
          <a:xfrm>
            <a:off x="365760" y="3877056"/>
            <a:ext cx="6583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600" dirty="0"/>
          </a:p>
        </p:txBody>
      </p:sp>
      <p:sp>
        <p:nvSpPr>
          <p:cNvPr id="35" name="Text 33"/>
          <p:cNvSpPr/>
          <p:nvPr/>
        </p:nvSpPr>
        <p:spPr>
          <a:xfrm>
            <a:off x="1097280" y="3858768"/>
            <a:ext cx="3154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Training Delivered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84048" y="4078224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8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managers trained on how to use Pulse: template selection, distribution, reading reports, and what is and is not permitted. Training materials prepared by Colleague Listening.</a:t>
            </a:r>
            <a:endParaRPr lang="en-US" sz="780" dirty="0"/>
          </a:p>
        </p:txBody>
      </p:sp>
      <p:sp>
        <p:nvSpPr>
          <p:cNvPr id="37" name="Shape 35"/>
          <p:cNvSpPr/>
          <p:nvPr/>
        </p:nvSpPr>
        <p:spPr>
          <a:xfrm>
            <a:off x="274320" y="4416552"/>
            <a:ext cx="406908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274320" y="4416552"/>
            <a:ext cx="54864" cy="566928"/>
          </a:xfrm>
          <a:prstGeom prst="rect">
            <a:avLst/>
          </a:prstGeom>
          <a:solidFill>
            <a:srgbClr val="0A3D62"/>
          </a:solidFill>
          <a:ln/>
        </p:spPr>
      </p:sp>
      <p:sp>
        <p:nvSpPr>
          <p:cNvPr id="39" name="Shape 37"/>
          <p:cNvSpPr/>
          <p:nvPr/>
        </p:nvSpPr>
        <p:spPr>
          <a:xfrm>
            <a:off x="365760" y="4489704"/>
            <a:ext cx="658368" cy="164592"/>
          </a:xfrm>
          <a:prstGeom prst="rect">
            <a:avLst/>
          </a:prstGeom>
          <a:solidFill>
            <a:srgbClr val="0A3D62"/>
          </a:solidFill>
          <a:ln/>
        </p:spPr>
      </p:sp>
      <p:sp>
        <p:nvSpPr>
          <p:cNvPr id="40" name="Text 38"/>
          <p:cNvSpPr/>
          <p:nvPr/>
        </p:nvSpPr>
        <p:spPr>
          <a:xfrm>
            <a:off x="365760" y="4489704"/>
            <a:ext cx="6583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OVERSIGHT</a:t>
            </a:r>
            <a:endParaRPr lang="en-US" sz="600" dirty="0"/>
          </a:p>
        </p:txBody>
      </p:sp>
      <p:sp>
        <p:nvSpPr>
          <p:cNvPr id="41" name="Text 39"/>
          <p:cNvSpPr/>
          <p:nvPr/>
        </p:nvSpPr>
        <p:spPr>
          <a:xfrm>
            <a:off x="1097280" y="4471416"/>
            <a:ext cx="3154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Oversight &amp; Support Model Live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84048" y="4690872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8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Colleague Listening team active to support managers. RTB holds the platform. Admin receives notifications of all survey activity for monitoring.</a:t>
            </a:r>
            <a:endParaRPr lang="en-US" sz="780" dirty="0"/>
          </a:p>
        </p:txBody>
      </p:sp>
      <p:sp>
        <p:nvSpPr>
          <p:cNvPr id="43" name="Shape 41"/>
          <p:cNvSpPr/>
          <p:nvPr/>
        </p:nvSpPr>
        <p:spPr>
          <a:xfrm>
            <a:off x="4617720" y="1005840"/>
            <a:ext cx="4251960" cy="256032"/>
          </a:xfrm>
          <a:prstGeom prst="rect">
            <a:avLst/>
          </a:prstGeom>
          <a:solidFill>
            <a:srgbClr val="F4A623"/>
          </a:solidFill>
          <a:ln/>
        </p:spPr>
      </p:sp>
      <p:sp>
        <p:nvSpPr>
          <p:cNvPr id="44" name="Text 42"/>
          <p:cNvSpPr/>
          <p:nvPr/>
        </p:nvSpPr>
        <p:spPr>
          <a:xfrm>
            <a:off x="4727448" y="100584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F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METRICS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4617720" y="1353312"/>
            <a:ext cx="425196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617720" y="1353312"/>
            <a:ext cx="475488" cy="566928"/>
          </a:xfrm>
          <a:prstGeom prst="rect">
            <a:avLst/>
          </a:prstGeom>
          <a:solidFill>
            <a:srgbClr val="0F2D52"/>
          </a:solidFill>
          <a:ln/>
        </p:spPr>
      </p:sp>
      <p:sp>
        <p:nvSpPr>
          <p:cNvPr id="47" name="Text 45"/>
          <p:cNvSpPr/>
          <p:nvPr/>
        </p:nvSpPr>
        <p:spPr>
          <a:xfrm>
            <a:off x="4617720" y="1353312"/>
            <a:ext cx="47548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5166360" y="1408176"/>
            <a:ext cx="3611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Data Migrated &amp; Preserved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166360" y="1627632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8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existing Qualtrics survey data exported and archived. Current templates successfully replicated to Barclays standard in Pulse.</a:t>
            </a:r>
            <a:endParaRPr lang="en-US" sz="780" dirty="0"/>
          </a:p>
        </p:txBody>
      </p:sp>
      <p:sp>
        <p:nvSpPr>
          <p:cNvPr id="50" name="Shape 48"/>
          <p:cNvSpPr/>
          <p:nvPr/>
        </p:nvSpPr>
        <p:spPr>
          <a:xfrm>
            <a:off x="4617720" y="1965960"/>
            <a:ext cx="425196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4617720" y="1965960"/>
            <a:ext cx="475488" cy="566928"/>
          </a:xfrm>
          <a:prstGeom prst="rect">
            <a:avLst/>
          </a:prstGeom>
          <a:solidFill>
            <a:srgbClr val="0F2D52"/>
          </a:solidFill>
          <a:ln/>
        </p:spPr>
      </p:sp>
      <p:sp>
        <p:nvSpPr>
          <p:cNvPr id="52" name="Text 50"/>
          <p:cNvSpPr/>
          <p:nvPr/>
        </p:nvSpPr>
        <p:spPr>
          <a:xfrm>
            <a:off x="4617720" y="1965960"/>
            <a:ext cx="47548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53" name="Text 51"/>
          <p:cNvSpPr/>
          <p:nvPr/>
        </p:nvSpPr>
        <p:spPr>
          <a:xfrm>
            <a:off x="5166360" y="2020824"/>
            <a:ext cx="3611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Access Operational at Scale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5166360" y="2240280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8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eligible managers (4+ direct reports) successfully onboarded and able to send surveys on Day 1 without IT or admin support.</a:t>
            </a:r>
            <a:endParaRPr lang="en-US" sz="780" dirty="0"/>
          </a:p>
        </p:txBody>
      </p:sp>
      <p:sp>
        <p:nvSpPr>
          <p:cNvPr id="55" name="Shape 53"/>
          <p:cNvSpPr/>
          <p:nvPr/>
        </p:nvSpPr>
        <p:spPr>
          <a:xfrm>
            <a:off x="4617720" y="2578608"/>
            <a:ext cx="425196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4617720" y="2578608"/>
            <a:ext cx="475488" cy="566928"/>
          </a:xfrm>
          <a:prstGeom prst="rect">
            <a:avLst/>
          </a:prstGeom>
          <a:solidFill>
            <a:srgbClr val="0F2D52"/>
          </a:solidFill>
          <a:ln/>
        </p:spPr>
      </p:sp>
      <p:sp>
        <p:nvSpPr>
          <p:cNvPr id="57" name="Text 55"/>
          <p:cNvSpPr/>
          <p:nvPr/>
        </p:nvSpPr>
        <p:spPr>
          <a:xfrm>
            <a:off x="4617720" y="2578608"/>
            <a:ext cx="47548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58" name="Text 56"/>
          <p:cNvSpPr/>
          <p:nvPr/>
        </p:nvSpPr>
        <p:spPr>
          <a:xfrm>
            <a:off x="5166360" y="2633472"/>
            <a:ext cx="3611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Reporting Working — No Manual Fixes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5166360" y="2852928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8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generate automatically once response thresholds are met. Zero incidents of the race condition seen in Qualtrics.</a:t>
            </a:r>
            <a:endParaRPr lang="en-US" sz="780" dirty="0"/>
          </a:p>
        </p:txBody>
      </p:sp>
      <p:sp>
        <p:nvSpPr>
          <p:cNvPr id="60" name="Shape 58"/>
          <p:cNvSpPr/>
          <p:nvPr/>
        </p:nvSpPr>
        <p:spPr>
          <a:xfrm>
            <a:off x="4617720" y="3191256"/>
            <a:ext cx="425196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4617720" y="3191256"/>
            <a:ext cx="475488" cy="566928"/>
          </a:xfrm>
          <a:prstGeom prst="rect">
            <a:avLst/>
          </a:prstGeom>
          <a:solidFill>
            <a:srgbClr val="0F2D52"/>
          </a:solidFill>
          <a:ln/>
        </p:spPr>
      </p:sp>
      <p:sp>
        <p:nvSpPr>
          <p:cNvPr id="62" name="Text 60"/>
          <p:cNvSpPr/>
          <p:nvPr/>
        </p:nvSpPr>
        <p:spPr>
          <a:xfrm>
            <a:off x="4617720" y="3191256"/>
            <a:ext cx="47548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" dirty="0"/>
          </a:p>
        </p:txBody>
      </p:sp>
      <p:sp>
        <p:nvSpPr>
          <p:cNvPr id="63" name="Text 61"/>
          <p:cNvSpPr/>
          <p:nvPr/>
        </p:nvSpPr>
        <p:spPr>
          <a:xfrm>
            <a:off x="5166360" y="3246120"/>
            <a:ext cx="3611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Executive-Level Aggregated Reporting Available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5166360" y="3465576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8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Ability to produce a combined cross-manager summary for senior / decision-level analysis. Dependency: confirm Pulse capability or define workaround with Colleague Listening team.</a:t>
            </a:r>
            <a:endParaRPr lang="en-US" sz="780" dirty="0"/>
          </a:p>
        </p:txBody>
      </p:sp>
      <p:sp>
        <p:nvSpPr>
          <p:cNvPr id="65" name="Shape 63"/>
          <p:cNvSpPr/>
          <p:nvPr/>
        </p:nvSpPr>
        <p:spPr>
          <a:xfrm>
            <a:off x="4617720" y="3803904"/>
            <a:ext cx="425196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4617720" y="3803904"/>
            <a:ext cx="475488" cy="566928"/>
          </a:xfrm>
          <a:prstGeom prst="rect">
            <a:avLst/>
          </a:prstGeom>
          <a:solidFill>
            <a:srgbClr val="0F2D52"/>
          </a:solidFill>
          <a:ln/>
        </p:spPr>
      </p:sp>
      <p:sp>
        <p:nvSpPr>
          <p:cNvPr id="67" name="Text 65"/>
          <p:cNvSpPr/>
          <p:nvPr/>
        </p:nvSpPr>
        <p:spPr>
          <a:xfrm>
            <a:off x="4617720" y="3803904"/>
            <a:ext cx="47548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500" dirty="0"/>
          </a:p>
        </p:txBody>
      </p:sp>
      <p:sp>
        <p:nvSpPr>
          <p:cNvPr id="68" name="Text 66"/>
          <p:cNvSpPr/>
          <p:nvPr/>
        </p:nvSpPr>
        <p:spPr>
          <a:xfrm>
            <a:off x="5166360" y="3858768"/>
            <a:ext cx="3611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Governance Verified &amp; Signed Off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5166360" y="4078224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8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authorised managers can create surveys. Confirmed by Data Privacy and RTB. No unauthorised survey creation on the platform.</a:t>
            </a:r>
            <a:endParaRPr lang="en-US" sz="780" dirty="0"/>
          </a:p>
        </p:txBody>
      </p:sp>
      <p:sp>
        <p:nvSpPr>
          <p:cNvPr id="70" name="Shape 68"/>
          <p:cNvSpPr/>
          <p:nvPr/>
        </p:nvSpPr>
        <p:spPr>
          <a:xfrm>
            <a:off x="4617720" y="4416552"/>
            <a:ext cx="425196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1" name="Shape 69"/>
          <p:cNvSpPr/>
          <p:nvPr/>
        </p:nvSpPr>
        <p:spPr>
          <a:xfrm>
            <a:off x="4617720" y="4416552"/>
            <a:ext cx="475488" cy="566928"/>
          </a:xfrm>
          <a:prstGeom prst="rect">
            <a:avLst/>
          </a:prstGeom>
          <a:solidFill>
            <a:srgbClr val="0F2D52"/>
          </a:solidFill>
          <a:ln/>
        </p:spPr>
      </p:sp>
      <p:sp>
        <p:nvSpPr>
          <p:cNvPr id="72" name="Text 70"/>
          <p:cNvSpPr/>
          <p:nvPr/>
        </p:nvSpPr>
        <p:spPr>
          <a:xfrm>
            <a:off x="4617720" y="4416552"/>
            <a:ext cx="47548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500" dirty="0"/>
          </a:p>
        </p:txBody>
      </p:sp>
      <p:sp>
        <p:nvSpPr>
          <p:cNvPr id="73" name="Text 71"/>
          <p:cNvSpPr/>
          <p:nvPr/>
        </p:nvSpPr>
        <p:spPr>
          <a:xfrm>
            <a:off x="5166360" y="4471416"/>
            <a:ext cx="3611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Qualtrics Fully Decommissioned by Q4 2027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5166360" y="4690872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8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manager-led surveys operational in Pulse. Qualtrics licence terminated before December 2027 deadline.</a:t>
            </a:r>
            <a:endParaRPr lang="en-US" sz="7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2D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77840" y="0"/>
            <a:ext cx="3566160" cy="5143500"/>
          </a:xfrm>
          <a:prstGeom prst="rect">
            <a:avLst/>
          </a:prstGeom>
          <a:solidFill>
            <a:srgbClr val="081D38"/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0"/>
            <a:ext cx="457200" cy="514350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&amp; Path Forward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7E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timeline, key team dependencies, and the recommended way forward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20040" y="1033272"/>
            <a:ext cx="1481328" cy="219456"/>
          </a:xfrm>
          <a:prstGeom prst="rect">
            <a:avLst/>
          </a:prstGeom>
          <a:solidFill>
            <a:srgbClr val="F4A623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033272"/>
            <a:ext cx="14813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— June 2026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1920240" y="1097280"/>
            <a:ext cx="100584" cy="100584"/>
          </a:xfrm>
          <a:prstGeom prst="rect">
            <a:avLst>
              <a:gd name="adj" fmla="val 50000"/>
            </a:avLst>
          </a:prstGeom>
          <a:solidFill>
            <a:srgbClr val="F4A623"/>
          </a:solidFill>
          <a:ln/>
        </p:spPr>
      </p:sp>
      <p:sp>
        <p:nvSpPr>
          <p:cNvPr id="9" name="Shape 7"/>
          <p:cNvSpPr/>
          <p:nvPr/>
        </p:nvSpPr>
        <p:spPr>
          <a:xfrm>
            <a:off x="1956816" y="1197864"/>
            <a:ext cx="36576" cy="694944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0" name="Text 8"/>
          <p:cNvSpPr/>
          <p:nvPr/>
        </p:nvSpPr>
        <p:spPr>
          <a:xfrm>
            <a:off x="2103120" y="1024128"/>
            <a:ext cx="3337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&amp; Foundation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103120" y="1261872"/>
            <a:ext cx="3337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C7E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Confirm manager-access control with GTS &amp; Microsoft</a:t>
            </a: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C7E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Resolve anonymity/confidentiality question with Data Privacy</a:t>
            </a: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C7E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Confirm threshold split (open-text 10 / closed-ended 4)</a:t>
            </a: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C7E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Obtain HR leadership &amp; Culture Team sign-off to proceed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20040" y="1938528"/>
            <a:ext cx="1481328" cy="219456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" y="1938528"/>
            <a:ext cx="14813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1920240" y="2002536"/>
            <a:ext cx="100584" cy="100584"/>
          </a:xfrm>
          <a:prstGeom prst="rect">
            <a:avLst>
              <a:gd name="adj" fmla="val 50000"/>
            </a:avLst>
          </a:prstGeom>
          <a:solidFill>
            <a:srgbClr val="0078D4"/>
          </a:solidFill>
          <a:ln/>
        </p:spPr>
      </p:sp>
      <p:sp>
        <p:nvSpPr>
          <p:cNvPr id="15" name="Shape 13"/>
          <p:cNvSpPr/>
          <p:nvPr/>
        </p:nvSpPr>
        <p:spPr>
          <a:xfrm>
            <a:off x="1956816" y="2103120"/>
            <a:ext cx="36576" cy="694944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6" name="Text 14"/>
          <p:cNvSpPr/>
          <p:nvPr/>
        </p:nvSpPr>
        <p:spPr>
          <a:xfrm>
            <a:off x="2103120" y="1929384"/>
            <a:ext cx="3337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Configure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103120" y="2167128"/>
            <a:ext cx="3337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C7E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Create Barclays-standard templates (Speak Up, Team Effectiveness)</a:t>
            </a: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C7E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Configure governance: question approval process &amp; admin oversight</a:t>
            </a: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C7E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Develop manager training materials</a:t>
            </a: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C7E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Pilot with a small manager cohort — validate access, threshold, reporting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20040" y="2843784"/>
            <a:ext cx="1481328" cy="219456"/>
          </a:xfrm>
          <a:prstGeom prst="rect">
            <a:avLst/>
          </a:prstGeom>
          <a:solidFill>
            <a:srgbClr val="107C10"/>
          </a:solidFill>
          <a:ln/>
        </p:spPr>
      </p:sp>
      <p:sp>
        <p:nvSpPr>
          <p:cNvPr id="19" name="Text 17"/>
          <p:cNvSpPr/>
          <p:nvPr/>
        </p:nvSpPr>
        <p:spPr>
          <a:xfrm>
            <a:off x="320040" y="2843784"/>
            <a:ext cx="14813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 — Q3 2027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1920240" y="2907792"/>
            <a:ext cx="100584" cy="100584"/>
          </a:xfrm>
          <a:prstGeom prst="rect">
            <a:avLst>
              <a:gd name="adj" fmla="val 50000"/>
            </a:avLst>
          </a:prstGeom>
          <a:solidFill>
            <a:srgbClr val="107C10"/>
          </a:solidFill>
          <a:ln/>
        </p:spPr>
      </p:sp>
      <p:sp>
        <p:nvSpPr>
          <p:cNvPr id="21" name="Shape 19"/>
          <p:cNvSpPr/>
          <p:nvPr/>
        </p:nvSpPr>
        <p:spPr>
          <a:xfrm>
            <a:off x="1956816" y="3008376"/>
            <a:ext cx="36576" cy="694944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2" name="Text 20"/>
          <p:cNvSpPr/>
          <p:nvPr/>
        </p:nvSpPr>
        <p:spPr>
          <a:xfrm>
            <a:off x="2103120" y="2834640"/>
            <a:ext cx="3337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 Rollout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103120" y="3072384"/>
            <a:ext cx="3337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C7E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Full manager enablement in Pulse (all eligible managers provisioned)</a:t>
            </a: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C7E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Training delivered; Colleague Listening support model live</a:t>
            </a: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C7E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Parallel run alongside Qualtrics until confidence is confirmed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20040" y="3749040"/>
            <a:ext cx="1481328" cy="219456"/>
          </a:xfrm>
          <a:prstGeom prst="rect">
            <a:avLst/>
          </a:prstGeom>
          <a:solidFill>
            <a:srgbClr val="C13515"/>
          </a:solidFill>
          <a:ln/>
        </p:spPr>
      </p:sp>
      <p:sp>
        <p:nvSpPr>
          <p:cNvPr id="25" name="Text 23"/>
          <p:cNvSpPr/>
          <p:nvPr/>
        </p:nvSpPr>
        <p:spPr>
          <a:xfrm>
            <a:off x="320040" y="3749040"/>
            <a:ext cx="14813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2027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1920240" y="3813048"/>
            <a:ext cx="100584" cy="100584"/>
          </a:xfrm>
          <a:prstGeom prst="rect">
            <a:avLst>
              <a:gd name="adj" fmla="val 50000"/>
            </a:avLst>
          </a:prstGeom>
          <a:solidFill>
            <a:srgbClr val="C13515"/>
          </a:solidFill>
          <a:ln/>
        </p:spPr>
      </p:sp>
      <p:sp>
        <p:nvSpPr>
          <p:cNvPr id="27" name="Text 25"/>
          <p:cNvSpPr/>
          <p:nvPr/>
        </p:nvSpPr>
        <p:spPr>
          <a:xfrm>
            <a:off x="2103120" y="3739896"/>
            <a:ext cx="3337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Qualtrics Decommission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103120" y="3977640"/>
            <a:ext cx="3337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C7E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All manager-led surveys live in Pulse</a:t>
            </a: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C7E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Qualtrics licence terminated before December 2027 deadline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715000" y="164592"/>
            <a:ext cx="2834640" cy="256032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0" name="Text 28"/>
          <p:cNvSpPr/>
          <p:nvPr/>
        </p:nvSpPr>
        <p:spPr>
          <a:xfrm>
            <a:off x="5833872" y="164592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DEPENDENCIES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715000" y="512064"/>
            <a:ext cx="2834640" cy="640080"/>
          </a:xfrm>
          <a:prstGeom prst="rect">
            <a:avLst/>
          </a:prstGeom>
          <a:solidFill>
            <a:srgbClr val="0D2540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715000" y="512064"/>
            <a:ext cx="54864" cy="64008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3" name="Text 31"/>
          <p:cNvSpPr/>
          <p:nvPr/>
        </p:nvSpPr>
        <p:spPr>
          <a:xfrm>
            <a:off x="5833872" y="557784"/>
            <a:ext cx="2633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7E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/ GTS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833872" y="758952"/>
            <a:ext cx="2633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8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Manager-access restriction, anonymity model, template disable, threshold by question type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5715000" y="1207008"/>
            <a:ext cx="2834640" cy="640080"/>
          </a:xfrm>
          <a:prstGeom prst="rect">
            <a:avLst/>
          </a:prstGeom>
          <a:solidFill>
            <a:srgbClr val="0D2540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715000" y="1207008"/>
            <a:ext cx="54864" cy="64008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7" name="Text 35"/>
          <p:cNvSpPr/>
          <p:nvPr/>
        </p:nvSpPr>
        <p:spPr>
          <a:xfrm>
            <a:off x="5833872" y="1252728"/>
            <a:ext cx="2633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7E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RTB Team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5833872" y="1453896"/>
            <a:ext cx="2633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8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ownership, bulk provisioning at go-live, ongoing admin governance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5715000" y="1901952"/>
            <a:ext cx="2834640" cy="640080"/>
          </a:xfrm>
          <a:prstGeom prst="rect">
            <a:avLst/>
          </a:prstGeom>
          <a:solidFill>
            <a:srgbClr val="0D2540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5715000" y="1901952"/>
            <a:ext cx="54864" cy="64008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41" name="Text 39"/>
          <p:cNvSpPr/>
          <p:nvPr/>
        </p:nvSpPr>
        <p:spPr>
          <a:xfrm>
            <a:off x="5833872" y="1947672"/>
            <a:ext cx="2633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7E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Colleague Listening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5833872" y="2148840"/>
            <a:ext cx="2633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8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creation &amp; QA, admin oversight, manager training, day-to-day support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5715000" y="2596896"/>
            <a:ext cx="2834640" cy="640080"/>
          </a:xfrm>
          <a:prstGeom prst="rect">
            <a:avLst/>
          </a:prstGeom>
          <a:solidFill>
            <a:srgbClr val="0D2540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5715000" y="2596896"/>
            <a:ext cx="54864" cy="64008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45" name="Text 43"/>
          <p:cNvSpPr/>
          <p:nvPr/>
        </p:nvSpPr>
        <p:spPr>
          <a:xfrm>
            <a:off x="5833872" y="2642616"/>
            <a:ext cx="2633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7E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Privacy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5833872" y="2843784"/>
            <a:ext cx="2633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8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Sign-off on confidentiality model and question governance process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5715000" y="3291840"/>
            <a:ext cx="2834640" cy="640080"/>
          </a:xfrm>
          <a:prstGeom prst="rect">
            <a:avLst/>
          </a:prstGeom>
          <a:solidFill>
            <a:srgbClr val="0D2540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5715000" y="3291840"/>
            <a:ext cx="54864" cy="64008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49" name="Text 47"/>
          <p:cNvSpPr/>
          <p:nvPr/>
        </p:nvSpPr>
        <p:spPr>
          <a:xfrm>
            <a:off x="5833872" y="3337560"/>
            <a:ext cx="2633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7E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Systems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5833872" y="3538728"/>
            <a:ext cx="2633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8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list of eligible managers (4+ direct reports) for Day 1 provisioning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5715000" y="3986784"/>
            <a:ext cx="2834640" cy="640080"/>
          </a:xfrm>
          <a:prstGeom prst="rect">
            <a:avLst/>
          </a:prstGeom>
          <a:solidFill>
            <a:srgbClr val="0D2540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5715000" y="3986784"/>
            <a:ext cx="54864" cy="64008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53" name="Text 51"/>
          <p:cNvSpPr/>
          <p:nvPr/>
        </p:nvSpPr>
        <p:spPr>
          <a:xfrm>
            <a:off x="5833872" y="4032504"/>
            <a:ext cx="2633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7E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Culture Team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5833872" y="4233672"/>
            <a:ext cx="2633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8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approval, success validation, executive reporting requirements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0" y="4690872"/>
            <a:ext cx="9144000" cy="45720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56" name="Text 54"/>
          <p:cNvSpPr/>
          <p:nvPr/>
        </p:nvSpPr>
        <p:spPr>
          <a:xfrm>
            <a:off x="320040" y="4709160"/>
            <a:ext cx="16642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1938528" y="4709160"/>
            <a:ext cx="6995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Proceed with Viva Pulse as the replacement platform. Resolve manager-access control and the anonymity/confidentiality question with Microsoft before committing to a go-live date. Single-phase enablement to follow GTS and Data Privacy alignment.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Manager-Led Survey Migration: Qualtrics to Viva Pulse</dc:title>
  <dc:subject>PptxGenJS Presentation</dc:subject>
  <dc:creator>PptxGenJS</dc:creator>
  <cp:lastModifiedBy>PptxGenJS</cp:lastModifiedBy>
  <cp:revision>1</cp:revision>
  <dcterms:created xsi:type="dcterms:W3CDTF">2026-06-02T10:16:08Z</dcterms:created>
  <dcterms:modified xsi:type="dcterms:W3CDTF">2026-06-02T10:16:08Z</dcterms:modified>
</cp:coreProperties>
</file>