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35A"/>
          </a:solidFill>
          <a:ln/>
        </p:spPr>
      </p:sp>
      <p:sp>
        <p:nvSpPr>
          <p:cNvPr id="4" name="Shape 2"/>
          <p:cNvSpPr/>
          <p:nvPr/>
        </p:nvSpPr>
        <p:spPr>
          <a:xfrm>
            <a:off x="6172200" y="32004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32004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95160" y="32004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32004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18120" y="32004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229600" y="32004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114300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114300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995160" y="114300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0" y="114300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18120" y="114300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14300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1965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1965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995160" y="1965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406640" y="1965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818120" y="1965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1965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172200" y="278892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278892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995160" y="278892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406640" y="278892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818120" y="278892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278892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172200" y="361188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0" y="361188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995160" y="361188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406640" y="361188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818120" y="361188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0" y="361188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731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4A223"/>
                </a:solidFill>
              </a:rPr>
              <a:t>VIVA GLINT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123444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Role &amp; Access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Framework</a:t>
            </a:r>
            <a:endParaRPr lang="en-US" sz="4400" dirty="0"/>
          </a:p>
        </p:txBody>
      </p:sp>
      <p:sp>
        <p:nvSpPr>
          <p:cNvPr id="36" name="Shape 34"/>
          <p:cNvSpPr/>
          <p:nvPr/>
        </p:nvSpPr>
        <p:spPr>
          <a:xfrm>
            <a:off x="365760" y="3063240"/>
            <a:ext cx="1005840" cy="54864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2461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Defining platform roles, permissions, user populations, and access provisioning strategy for CDO approval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663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Presented to CDO Team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155448"/>
            <a:ext cx="566928" cy="566928"/>
          </a:xfrm>
          <a:prstGeom prst="ellipse">
            <a:avLst/>
          </a:prstGeom>
          <a:solidFill>
            <a:srgbClr val="F4A22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55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Glint Service Admin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Role 1 of 7  |  Platform Super Admin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0" y="29260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92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051560"/>
            <a:ext cx="5074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051560"/>
            <a:ext cx="5074920" cy="347472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05156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23"/>
                </a:solidFill>
              </a:rPr>
              <a:t>PERMISSIONS &amp; CAPABILITIES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91056"/>
            <a:ext cx="118872" cy="118872"/>
          </a:xfrm>
          <a:prstGeom prst="ellipse">
            <a:avLst/>
          </a:prstGeom>
          <a:solidFill>
            <a:srgbClr val="F4A22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Programs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View, create, edit all surveys across all teams &amp; programs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066544"/>
            <a:ext cx="118872" cy="118872"/>
          </a:xfrm>
          <a:prstGeom prst="ellipse">
            <a:avLst/>
          </a:prstGeom>
          <a:solidFill>
            <a:srgbClr val="F4A223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Sensitive Comments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View, redact, or quarantine flagged comments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118872" cy="118872"/>
          </a:xfrm>
          <a:prstGeom prst="ellipse">
            <a:avLst/>
          </a:prstGeom>
          <a:solidFill>
            <a:srgbClr val="F4A223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Question Library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Create, modify, and use the global question library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118872" cy="118872"/>
          </a:xfrm>
          <a:prstGeom prst="ellipse">
            <a:avLst/>
          </a:prstGeom>
          <a:solidFill>
            <a:srgbClr val="F4A223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Dashboards &amp; Reports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Create dashboards, share reports, add/edit/delete filters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62072" y="1591056"/>
            <a:ext cx="118872" cy="118872"/>
          </a:xfrm>
          <a:prstGeom prst="ellipse">
            <a:avLst/>
          </a:prstGeom>
          <a:solidFill>
            <a:srgbClr val="F4A223"/>
          </a:solidFill>
          <a:ln/>
        </p:spPr>
      </p:sp>
      <p:sp>
        <p:nvSpPr>
          <p:cNvPr id="26" name="Text 24"/>
          <p:cNvSpPr/>
          <p:nvPr/>
        </p:nvSpPr>
        <p:spPr>
          <a:xfrm>
            <a:off x="3044952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Role Management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44952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Create new roles, assign users, control view/comment permissions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62072" y="2066544"/>
            <a:ext cx="118872" cy="118872"/>
          </a:xfrm>
          <a:prstGeom prst="ellipse">
            <a:avLst/>
          </a:prstGeom>
          <a:solidFill>
            <a:srgbClr val="F4A223"/>
          </a:solidFill>
          <a:ln/>
        </p:spPr>
      </p:sp>
      <p:sp>
        <p:nvSpPr>
          <p:cNvPr id="29" name="Text 27"/>
          <p:cNvSpPr/>
          <p:nvPr/>
        </p:nvSpPr>
        <p:spPr>
          <a:xfrm>
            <a:off x="3044952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Nudge Notifications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4952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Create and send survey nudge notifications to boost response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62072" y="2542032"/>
            <a:ext cx="118872" cy="118872"/>
          </a:xfrm>
          <a:prstGeom prst="ellipse">
            <a:avLst/>
          </a:prstGeom>
          <a:solidFill>
            <a:srgbClr val="F4A223"/>
          </a:solidFill>
          <a:ln/>
        </p:spPr>
      </p:sp>
      <p:sp>
        <p:nvSpPr>
          <p:cNvPr id="32" name="Text 30"/>
          <p:cNvSpPr/>
          <p:nvPr/>
        </p:nvSpPr>
        <p:spPr>
          <a:xfrm>
            <a:off x="3044952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Data Management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44952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Manage people, roles, proxy login, admin access, file uploads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62072" y="3017520"/>
            <a:ext cx="118872" cy="118872"/>
          </a:xfrm>
          <a:prstGeom prst="ellipse">
            <a:avLst/>
          </a:prstGeom>
          <a:solidFill>
            <a:srgbClr val="F4A223"/>
          </a:solidFill>
          <a:ln/>
        </p:spPr>
      </p:sp>
      <p:sp>
        <p:nvSpPr>
          <p:cNvPr id="35" name="Text 33"/>
          <p:cNvSpPr/>
          <p:nvPr/>
        </p:nvSpPr>
        <p:spPr>
          <a:xfrm>
            <a:off x="3044952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Advanced Config &amp; Integrations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44952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Survey thresholds, Viva Insights &amp; Viva Pulse integrations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68112" y="1051560"/>
            <a:ext cx="3474720" cy="74980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051560"/>
            <a:ext cx="54864" cy="749808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108813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4A223"/>
                </a:solidFill>
              </a:rPr>
              <a:t>DATA ACCESSIBLE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77840" y="129844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All survey data, all population segments — no restrictions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468112" y="1837944"/>
            <a:ext cx="3474720" cy="749808"/>
          </a:xfrm>
          <a:prstGeom prst="rect">
            <a:avLst/>
          </a:prstGeom>
          <a:solidFill>
            <a:srgbClr val="1B5E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68112" y="1837944"/>
            <a:ext cx="54864" cy="749808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18745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4A223"/>
                </a:solidFill>
              </a:rPr>
              <a:t>POPULATION COVERED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77840" y="208483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Global / All regions (India &amp; UK primary)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468112" y="2624328"/>
            <a:ext cx="3474720" cy="749808"/>
          </a:xfrm>
          <a:prstGeom prst="rect">
            <a:avLst/>
          </a:prstGeom>
          <a:solidFill>
            <a:srgbClr val="1A4A6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68112" y="2624328"/>
            <a:ext cx="54864" cy="749808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47" name="Text 45"/>
          <p:cNvSpPr/>
          <p:nvPr/>
        </p:nvSpPr>
        <p:spPr>
          <a:xfrm>
            <a:off x="5577840" y="266090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4A223"/>
                </a:solidFill>
              </a:rPr>
              <a:t>WHO RECEIVES ACCESS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77840" y="287121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Colleague Listening Team + Samuel Moore (Culture Team)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468112" y="3410712"/>
            <a:ext cx="3474720" cy="749808"/>
          </a:xfrm>
          <a:prstGeom prst="rect">
            <a:avLst/>
          </a:prstGeom>
          <a:solidFill>
            <a:srgbClr val="1639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68112" y="3410712"/>
            <a:ext cx="54864" cy="749808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51" name="Text 49"/>
          <p:cNvSpPr/>
          <p:nvPr/>
        </p:nvSpPr>
        <p:spPr>
          <a:xfrm>
            <a:off x="5577840" y="344728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4A223"/>
                </a:solidFill>
              </a:rPr>
              <a:t>WHY THEY NEED IT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77840" y="36576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Owns platform governance, configuration, and full lifecycle of all survey programs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5468112" y="4197096"/>
            <a:ext cx="3474720" cy="749808"/>
          </a:xfrm>
          <a:prstGeom prst="rect">
            <a:avLst/>
          </a:prstGeom>
          <a:solidFill>
            <a:srgbClr val="0F26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68112" y="4197096"/>
            <a:ext cx="54864" cy="749808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55" name="Text 53"/>
          <p:cNvSpPr/>
          <p:nvPr/>
        </p:nvSpPr>
        <p:spPr>
          <a:xfrm>
            <a:off x="5577840" y="42336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4A223"/>
                </a:solidFill>
              </a:rPr>
              <a:t>HOW PROVISIONED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44398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Bulk provisioning for full enablement; future requests via Access Request Portal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155448"/>
            <a:ext cx="566928" cy="566928"/>
          </a:xfrm>
          <a:prstGeom prst="ellipse">
            <a:avLst/>
          </a:prstGeom>
          <a:solidFill>
            <a:srgbClr val="4A90D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55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Survey Designer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Role 2 of 7  |  HR Survey Author (Non-Colleague Listening)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0" y="29260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92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051560"/>
            <a:ext cx="5074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051560"/>
            <a:ext cx="5074920" cy="347472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05156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23"/>
                </a:solidFill>
              </a:rPr>
              <a:t>PERMISSIONS &amp; CAPABILITIES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91056"/>
            <a:ext cx="118872" cy="1188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Programs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Access to all survey programs; create, edit, modify surveys &amp; distributions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066544"/>
            <a:ext cx="118872" cy="1188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360 Feedback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Full access including 360 subject/evaluator participation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118872" cy="1188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Engagement &amp; Lifecycle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Manage ad hoc, recurring, and lifecycle survey programs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118872" cy="1188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Participation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Participate in 360, engagement, ad hoc, and lifecycle surveys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62072" y="1591056"/>
            <a:ext cx="118872" cy="1188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3044952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Dashboards &amp; Reports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44952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Ad hoc filtering, company-wide alerts; same access as Service Admin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62072" y="2066544"/>
            <a:ext cx="118872" cy="1188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9" name="Text 27"/>
          <p:cNvSpPr/>
          <p:nvPr/>
        </p:nvSpPr>
        <p:spPr>
          <a:xfrm>
            <a:off x="3044952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Nudge Notifications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4952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Create and manage nudge notifications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62072" y="2542032"/>
            <a:ext cx="118872" cy="1188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2" name="Text 30"/>
          <p:cNvSpPr/>
          <p:nvPr/>
        </p:nvSpPr>
        <p:spPr>
          <a:xfrm>
            <a:off x="3044952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Distribution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44952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Distribute surveys using existing enterprise data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62072" y="3017520"/>
            <a:ext cx="118872" cy="1188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5" name="Text 33"/>
          <p:cNvSpPr/>
          <p:nvPr/>
        </p:nvSpPr>
        <p:spPr>
          <a:xfrm>
            <a:off x="3044952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sensitive comments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44952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Cannot view, redact, or quarantine sensitive comments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68112" y="1051560"/>
            <a:ext cx="3474720" cy="74980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051560"/>
            <a:ext cx="54864" cy="7498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108813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90D9"/>
                </a:solidFill>
              </a:rPr>
              <a:t>DATA ACCESSIBLE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77840" y="129844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All survey data &amp; population data; no data management or advanced config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468112" y="1837944"/>
            <a:ext cx="3474720" cy="749808"/>
          </a:xfrm>
          <a:prstGeom prst="rect">
            <a:avLst/>
          </a:prstGeom>
          <a:solidFill>
            <a:srgbClr val="1B5E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68112" y="1837944"/>
            <a:ext cx="54864" cy="7498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18745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90D9"/>
                </a:solidFill>
              </a:rPr>
              <a:t>POPULATION COVERED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77840" y="208483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India &amp; UK — HR (non-Colleague Listening)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468112" y="2624328"/>
            <a:ext cx="3474720" cy="749808"/>
          </a:xfrm>
          <a:prstGeom prst="rect">
            <a:avLst/>
          </a:prstGeom>
          <a:solidFill>
            <a:srgbClr val="1A4A6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68112" y="2624328"/>
            <a:ext cx="54864" cy="7498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7" name="Text 45"/>
          <p:cNvSpPr/>
          <p:nvPr/>
        </p:nvSpPr>
        <p:spPr>
          <a:xfrm>
            <a:off x="5577840" y="266090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90D9"/>
                </a:solidFill>
              </a:rPr>
              <a:t>WHO RECEIVES ACCESS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77840" y="287121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Talent Team (Lydia &amp; others), Journey Experts, OE Scientists, OE Team, Culture Team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468112" y="3410712"/>
            <a:ext cx="3474720" cy="749808"/>
          </a:xfrm>
          <a:prstGeom prst="rect">
            <a:avLst/>
          </a:prstGeom>
          <a:solidFill>
            <a:srgbClr val="1639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68112" y="3410712"/>
            <a:ext cx="54864" cy="7498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1" name="Text 49"/>
          <p:cNvSpPr/>
          <p:nvPr/>
        </p:nvSpPr>
        <p:spPr>
          <a:xfrm>
            <a:off x="5577840" y="344728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90D9"/>
                </a:solidFill>
              </a:rPr>
              <a:t>WHY THEY NEED IT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77840" y="36576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Run and author survey programs without needing full admin or data management rights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5468112" y="4197096"/>
            <a:ext cx="3474720" cy="749808"/>
          </a:xfrm>
          <a:prstGeom prst="rect">
            <a:avLst/>
          </a:prstGeom>
          <a:solidFill>
            <a:srgbClr val="0F26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68112" y="4197096"/>
            <a:ext cx="54864" cy="7498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5" name="Text 53"/>
          <p:cNvSpPr/>
          <p:nvPr/>
        </p:nvSpPr>
        <p:spPr>
          <a:xfrm>
            <a:off x="5577840" y="42336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90D9"/>
                </a:solidFill>
              </a:rPr>
              <a:t>HOW PROVISIONED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44398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Bulk provisioning initially; future requests via Access Request Portal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155448"/>
            <a:ext cx="566928" cy="566928"/>
          </a:xfrm>
          <a:prstGeom prst="ellipse">
            <a:avLst/>
          </a:prstGeom>
          <a:solidFill>
            <a:srgbClr val="27AE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55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Glint Survey Program Owner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Role 3 of 7  |  BUK — Engagement &amp; Lifecycle Only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0" y="29260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92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051560"/>
            <a:ext cx="5074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051560"/>
            <a:ext cx="5074920" cy="347472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05156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23"/>
                </a:solidFill>
              </a:rPr>
              <a:t>PERMISSIONS &amp; CAPABILITIES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91056"/>
            <a:ext cx="118872" cy="1188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Programs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All access same as Survey Designer role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066544"/>
            <a:ext cx="118872" cy="1188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Engagement &amp; Lifecycle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Full access to manage recurring, ad hoc, and lifecycle surveys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118872" cy="1188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Distribution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Distribute surveys using existing enterprise data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118872" cy="1188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Dashboards &amp; Reports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Ad hoc filtering, company-wide alerts; same as Survey Designer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62072" y="1591056"/>
            <a:ext cx="118872" cy="1188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3044952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Nudge Notifications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44952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Create and manage nudge notifications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62072" y="2066544"/>
            <a:ext cx="118872" cy="1188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3044952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Participation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4952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Participate in engagement, ad hoc, and lifecycle surveys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62072" y="2542032"/>
            <a:ext cx="118872" cy="1188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/>
          <p:nvPr/>
        </p:nvSpPr>
        <p:spPr>
          <a:xfrm>
            <a:off x="3044952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360 Feedback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44952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No access to 360 subject/evaluator programs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62072" y="3017520"/>
            <a:ext cx="118872" cy="1188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3044952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Data Mgmt/Adv Config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44952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No role mgmt, proxy login, attributes, or advanced settings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68112" y="1051560"/>
            <a:ext cx="3474720" cy="74980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051560"/>
            <a:ext cx="54864" cy="7498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108813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7AE60"/>
                </a:solidFill>
              </a:rPr>
              <a:t>DATA ACCESSIBLE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77840" y="129844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All survey &amp; population data except 360 program data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468112" y="1837944"/>
            <a:ext cx="3474720" cy="749808"/>
          </a:xfrm>
          <a:prstGeom prst="rect">
            <a:avLst/>
          </a:prstGeom>
          <a:solidFill>
            <a:srgbClr val="1B5E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68112" y="1837944"/>
            <a:ext cx="54864" cy="7498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18745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7AE60"/>
                </a:solidFill>
              </a:rPr>
              <a:t>POPULATION COVERED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77840" y="208483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India &amp; UK — BUK (Barclays UK) division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468112" y="2624328"/>
            <a:ext cx="3474720" cy="749808"/>
          </a:xfrm>
          <a:prstGeom prst="rect">
            <a:avLst/>
          </a:prstGeom>
          <a:solidFill>
            <a:srgbClr val="1A4A6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68112" y="2624328"/>
            <a:ext cx="54864" cy="7498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7" name="Text 45"/>
          <p:cNvSpPr/>
          <p:nvPr/>
        </p:nvSpPr>
        <p:spPr>
          <a:xfrm>
            <a:off x="5577840" y="266090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7AE60"/>
                </a:solidFill>
              </a:rPr>
              <a:t>WHO RECEIVES ACCESS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77840" y="287121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BUK team members who run periodic engagement surveys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468112" y="3410712"/>
            <a:ext cx="3474720" cy="749808"/>
          </a:xfrm>
          <a:prstGeom prst="rect">
            <a:avLst/>
          </a:prstGeom>
          <a:solidFill>
            <a:srgbClr val="1639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68112" y="3410712"/>
            <a:ext cx="54864" cy="7498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1" name="Text 49"/>
          <p:cNvSpPr/>
          <p:nvPr/>
        </p:nvSpPr>
        <p:spPr>
          <a:xfrm>
            <a:off x="5577840" y="344728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7AE60"/>
                </a:solidFill>
              </a:rPr>
              <a:t>WHY THEY NEED IT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77840" y="36576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BUK runs standalone engagement &amp; parameter analysis; 360 not applicable to their workflow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5468112" y="4197096"/>
            <a:ext cx="3474720" cy="749808"/>
          </a:xfrm>
          <a:prstGeom prst="rect">
            <a:avLst/>
          </a:prstGeom>
          <a:solidFill>
            <a:srgbClr val="0F26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68112" y="4197096"/>
            <a:ext cx="54864" cy="7498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5" name="Text 53"/>
          <p:cNvSpPr/>
          <p:nvPr/>
        </p:nvSpPr>
        <p:spPr>
          <a:xfrm>
            <a:off x="5577840" y="42336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7AE60"/>
                </a:solidFill>
              </a:rPr>
              <a:t>HOW PROVISIONED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44398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Bulk provisioning initially; future requests via Access Request Portal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155448"/>
            <a:ext cx="566928" cy="566928"/>
          </a:xfrm>
          <a:prstGeom prst="ellipse">
            <a:avLst/>
          </a:prstGeom>
          <a:solidFill>
            <a:srgbClr val="8E44A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55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Glint Survey Program Contributor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Role 4 of 7  |  BIA / CSO — Controlled Survey Distribution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0" y="29260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92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051560"/>
            <a:ext cx="5074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051560"/>
            <a:ext cx="5074920" cy="347472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05156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23"/>
                </a:solidFill>
              </a:rPr>
              <a:t>PERMISSIONS &amp; CAPABILITIES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91056"/>
            <a:ext cx="118872" cy="11887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Shared Survey Edit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Edit surveys shared with them; cannot create new survey programs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066544"/>
            <a:ext cx="118872" cy="11887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Distribution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Manage and send survey distributions independently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118872" cy="11887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Dashboard Access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Create dashboards and share with designated consumers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118872" cy="11887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Controlled Environment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Reuse same survey for different population cycles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62072" y="1591056"/>
            <a:ext cx="118872" cy="11887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6" name="Text 24"/>
          <p:cNvSpPr/>
          <p:nvPr/>
        </p:nvSpPr>
        <p:spPr>
          <a:xfrm>
            <a:off x="3044952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Survey Creation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44952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Cannot create or access new survey programs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62072" y="2066544"/>
            <a:ext cx="118872" cy="11887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9" name="Text 27"/>
          <p:cNvSpPr/>
          <p:nvPr/>
        </p:nvSpPr>
        <p:spPr>
          <a:xfrm>
            <a:off x="3044952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Data Management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4952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No role management, proxy login, or attribute control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62072" y="2542032"/>
            <a:ext cx="118872" cy="11887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32" name="Text 30"/>
          <p:cNvSpPr/>
          <p:nvPr/>
        </p:nvSpPr>
        <p:spPr>
          <a:xfrm>
            <a:off x="3044952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Sensitive Comments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44952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Cannot view, redact, or quarantine flagged comments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62072" y="3017520"/>
            <a:ext cx="118872" cy="11887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35" name="Text 33"/>
          <p:cNvSpPr/>
          <p:nvPr/>
        </p:nvSpPr>
        <p:spPr>
          <a:xfrm>
            <a:off x="3044952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Advanced Config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44952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No survey thresholds, integrations, or admin settings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68112" y="1051560"/>
            <a:ext cx="3474720" cy="74980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051560"/>
            <a:ext cx="54864" cy="7498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108813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44AD"/>
                </a:solidFill>
              </a:rPr>
              <a:t>DATA ACCESSIBLE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77840" y="129844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Only shared surveys assigned to them; controlled population per distribution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468112" y="1837944"/>
            <a:ext cx="3474720" cy="749808"/>
          </a:xfrm>
          <a:prstGeom prst="rect">
            <a:avLst/>
          </a:prstGeom>
          <a:solidFill>
            <a:srgbClr val="1B5E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68112" y="1837944"/>
            <a:ext cx="54864" cy="7498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18745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44AD"/>
                </a:solidFill>
              </a:rPr>
              <a:t>POPULATION COVERED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77840" y="208483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India &amp; UK — Barclays Internal Audit (BIA) &amp; CSO Teams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468112" y="2624328"/>
            <a:ext cx="3474720" cy="749808"/>
          </a:xfrm>
          <a:prstGeom prst="rect">
            <a:avLst/>
          </a:prstGeom>
          <a:solidFill>
            <a:srgbClr val="1A4A6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68112" y="2624328"/>
            <a:ext cx="54864" cy="7498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47" name="Text 45"/>
          <p:cNvSpPr/>
          <p:nvPr/>
        </p:nvSpPr>
        <p:spPr>
          <a:xfrm>
            <a:off x="5577840" y="266090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44AD"/>
                </a:solidFill>
              </a:rPr>
              <a:t>WHO RECEIVES ACCESS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77840" y="287121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BIA and CSO team members running periodic audit/compliance surveys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468112" y="3410712"/>
            <a:ext cx="3474720" cy="749808"/>
          </a:xfrm>
          <a:prstGeom prst="rect">
            <a:avLst/>
          </a:prstGeom>
          <a:solidFill>
            <a:srgbClr val="1639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68112" y="3410712"/>
            <a:ext cx="54864" cy="7498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51" name="Text 49"/>
          <p:cNvSpPr/>
          <p:nvPr/>
        </p:nvSpPr>
        <p:spPr>
          <a:xfrm>
            <a:off x="5577840" y="344728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44AD"/>
                </a:solidFill>
              </a:rPr>
              <a:t>WHY THEY NEED IT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77840" y="36576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Run periodic surveys with a fixed template reused across different populations without full authoring rights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5468112" y="4197096"/>
            <a:ext cx="3474720" cy="749808"/>
          </a:xfrm>
          <a:prstGeom prst="rect">
            <a:avLst/>
          </a:prstGeom>
          <a:solidFill>
            <a:srgbClr val="0F26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68112" y="4197096"/>
            <a:ext cx="54864" cy="7498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55" name="Text 53"/>
          <p:cNvSpPr/>
          <p:nvPr/>
        </p:nvSpPr>
        <p:spPr>
          <a:xfrm>
            <a:off x="5577840" y="42336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44AD"/>
                </a:solidFill>
              </a:rPr>
              <a:t>HOW PROVISIONED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44398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Bulk provisioning initially; future requests via Access Request Portal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155448"/>
            <a:ext cx="566928" cy="566928"/>
          </a:xfrm>
          <a:prstGeom prst="ellipse">
            <a:avLst/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55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Glint Advanced Analytics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Role 5 of 7  |  Data &amp; OB Science Team — Dashboard Only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0" y="29260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92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in Progress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051560"/>
            <a:ext cx="5074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051560"/>
            <a:ext cx="5074920" cy="347472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05156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23"/>
                </a:solidFill>
              </a:rPr>
              <a:t>PERMISSIONS &amp; CAPABILITIES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91056"/>
            <a:ext cx="118872" cy="1188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Dashboard Access (Read)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View all dashboards available within the platform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066544"/>
            <a:ext cx="118872" cy="1188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Report Consumption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Consume shared reports and insights from survey results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118872" cy="1188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Survey Authoring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Cannot create, edit, or modify any survey programs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118872" cy="1188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Distribution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Cannot send or manage survey distributions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62072" y="1591056"/>
            <a:ext cx="118872" cy="1188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3044952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Data Management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44952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No role management, proxy login, or attribute control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62072" y="2066544"/>
            <a:ext cx="118872" cy="1188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3044952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Advanced Config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4952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No survey thresholds, integrations, or advanced settings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62072" y="2542032"/>
            <a:ext cx="118872" cy="1188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3044952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⚠️ Platform Limitation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44952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Glint does not natively support advanced analytics — gap exists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62072" y="3017520"/>
            <a:ext cx="118872" cy="1188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5" name="Text 33"/>
          <p:cNvSpPr/>
          <p:nvPr/>
        </p:nvSpPr>
        <p:spPr>
          <a:xfrm>
            <a:off x="3044952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⚠️ Pending Solution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44952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Architecture decision required to enable analytics use case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68112" y="1051560"/>
            <a:ext cx="3474720" cy="74980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051560"/>
            <a:ext cx="54864" cy="7498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108813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67E22"/>
                </a:solidFill>
              </a:rPr>
              <a:t>DATA ACCESSIBLE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77840" y="129844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Dashboard data only — no raw survey or population data access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468112" y="1837944"/>
            <a:ext cx="3474720" cy="749808"/>
          </a:xfrm>
          <a:prstGeom prst="rect">
            <a:avLst/>
          </a:prstGeom>
          <a:solidFill>
            <a:srgbClr val="1B5E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68112" y="1837944"/>
            <a:ext cx="54864" cy="7498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18745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67E22"/>
                </a:solidFill>
              </a:rPr>
              <a:t>POPULATION COVERED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77840" y="208483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India &amp; UK — Data Science &amp; OB Science Teams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468112" y="2624328"/>
            <a:ext cx="3474720" cy="749808"/>
          </a:xfrm>
          <a:prstGeom prst="rect">
            <a:avLst/>
          </a:prstGeom>
          <a:solidFill>
            <a:srgbClr val="1A4A6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68112" y="2624328"/>
            <a:ext cx="54864" cy="7498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7" name="Text 45"/>
          <p:cNvSpPr/>
          <p:nvPr/>
        </p:nvSpPr>
        <p:spPr>
          <a:xfrm>
            <a:off x="5577840" y="266090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67E22"/>
                </a:solidFill>
              </a:rPr>
              <a:t>WHO RECEIVES ACCESS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77840" y="287121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Data Scientists and Organisational Behaviour Scientists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468112" y="3410712"/>
            <a:ext cx="3474720" cy="749808"/>
          </a:xfrm>
          <a:prstGeom prst="rect">
            <a:avLst/>
          </a:prstGeom>
          <a:solidFill>
            <a:srgbClr val="1639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68112" y="3410712"/>
            <a:ext cx="54864" cy="7498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1" name="Text 49"/>
          <p:cNvSpPr/>
          <p:nvPr/>
        </p:nvSpPr>
        <p:spPr>
          <a:xfrm>
            <a:off x="5577840" y="344728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67E22"/>
                </a:solidFill>
              </a:rPr>
              <a:t>WHY THEY NEED IT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77840" y="36576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Consume aggregated insights for research and analysis without authoring rights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5468112" y="4197096"/>
            <a:ext cx="3474720" cy="749808"/>
          </a:xfrm>
          <a:prstGeom prst="rect">
            <a:avLst/>
          </a:prstGeom>
          <a:solidFill>
            <a:srgbClr val="0F26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68112" y="4197096"/>
            <a:ext cx="54864" cy="7498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5" name="Text 53"/>
          <p:cNvSpPr/>
          <p:nvPr/>
        </p:nvSpPr>
        <p:spPr>
          <a:xfrm>
            <a:off x="5577840" y="42336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67E22"/>
                </a:solidFill>
              </a:rPr>
              <a:t>HOW PROVISIONED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44398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⚠️ Solution not yet defined — Glint native advanced analytics not available. Pending platform evaluation.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155448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55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Glint Survey Approver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Role 6 of 7  |  Corporate Comms — Approval Workflow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0" y="29260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92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in Progress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051560"/>
            <a:ext cx="5074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051560"/>
            <a:ext cx="5074920" cy="347472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05156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23"/>
                </a:solidFill>
              </a:rPr>
              <a:t>PERMISSIONS &amp; CAPABILITIES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91056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Approval (Proposed)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Review and approve surveys before they go live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066544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Distribution Approval (Proposed)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Approve survey distribution plans created by external teams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Third-Party Access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External consultants (e.g. Karian &amp; Box) cannot access Glint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Approver Role in Glint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Glint does not natively support a survey approver permission tier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62072" y="1591056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3044952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⚠️ Platform Limitation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44952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Approval-only role cannot be implemented with current Glint permissions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62072" y="2066544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3044952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⚠️ Pending Solution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4952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Workflow must be redesigned or managed outside Glint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62072" y="254203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3044952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🔍 Under Review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44952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Corporate Comms oversight model to be re-architected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62072" y="3017520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3044952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🔍 Stakeholder Input Needed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44952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CDO &amp; Corporate Comms alignment required to define interim process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68112" y="1051560"/>
            <a:ext cx="3474720" cy="74980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051560"/>
            <a:ext cx="54864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108813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0392B"/>
                </a:solidFill>
              </a:rPr>
              <a:t>DATA ACCESSIBLE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77840" y="129844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Intended: Survey content &amp; distribution plans only — no population data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468112" y="1837944"/>
            <a:ext cx="3474720" cy="749808"/>
          </a:xfrm>
          <a:prstGeom prst="rect">
            <a:avLst/>
          </a:prstGeom>
          <a:solidFill>
            <a:srgbClr val="1B5E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68112" y="1837944"/>
            <a:ext cx="54864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18745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0392B"/>
                </a:solidFill>
              </a:rPr>
              <a:t>POPULATION COVERED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77840" y="208483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India &amp; UK — Corporate Communications Team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468112" y="2624328"/>
            <a:ext cx="3474720" cy="749808"/>
          </a:xfrm>
          <a:prstGeom prst="rect">
            <a:avLst/>
          </a:prstGeom>
          <a:solidFill>
            <a:srgbClr val="1A4A6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68112" y="2624328"/>
            <a:ext cx="54864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7" name="Text 45"/>
          <p:cNvSpPr/>
          <p:nvPr/>
        </p:nvSpPr>
        <p:spPr>
          <a:xfrm>
            <a:off x="5577840" y="266090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0392B"/>
                </a:solidFill>
              </a:rPr>
              <a:t>WHO RECEIVES ACCESS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77840" y="287121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Corporate Comms team responsible for approving externally-authored surveys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468112" y="3410712"/>
            <a:ext cx="3474720" cy="749808"/>
          </a:xfrm>
          <a:prstGeom prst="rect">
            <a:avLst/>
          </a:prstGeom>
          <a:solidFill>
            <a:srgbClr val="1639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68112" y="3410712"/>
            <a:ext cx="54864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1" name="Text 49"/>
          <p:cNvSpPr/>
          <p:nvPr/>
        </p:nvSpPr>
        <p:spPr>
          <a:xfrm>
            <a:off x="5577840" y="344728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0392B"/>
                </a:solidFill>
              </a:rPr>
              <a:t>WHY THEY NEED IT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77840" y="36576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Oversight of surveys authored by 3rd parties (Karian &amp; Box) before distribution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5468112" y="4197096"/>
            <a:ext cx="3474720" cy="749808"/>
          </a:xfrm>
          <a:prstGeom prst="rect">
            <a:avLst/>
          </a:prstGeom>
          <a:solidFill>
            <a:srgbClr val="0F26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68112" y="4197096"/>
            <a:ext cx="54864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5" name="Text 53"/>
          <p:cNvSpPr/>
          <p:nvPr/>
        </p:nvSpPr>
        <p:spPr>
          <a:xfrm>
            <a:off x="5577840" y="42336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0392B"/>
                </a:solidFill>
              </a:rPr>
              <a:t>HOW PROVISIONED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44398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⚠️ Solution not yet defined — role not achievable in current Glint. Interim manual process needed.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155448"/>
            <a:ext cx="566928" cy="566928"/>
          </a:xfrm>
          <a:prstGeom prst="ellipse">
            <a:avLst/>
          </a:prstGeom>
          <a:solidFill>
            <a:srgbClr val="6C348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55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Restricted External Role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Role 7 of 7  |  External Consultant (Karian &amp; Box) — Linked to Role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0" y="29260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92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in Progress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051560"/>
            <a:ext cx="5074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051560"/>
            <a:ext cx="5074920" cy="347472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05156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23"/>
                </a:solidFill>
              </a:rPr>
              <a:t>PERMISSIONS &amp; CAPABILITIES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91056"/>
            <a:ext cx="118872" cy="1188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Creation (Proposed)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Create new surveys on behalf of Corporate Comms — cannot launch without Role 6 approval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066544"/>
            <a:ext cx="118872" cy="1188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Distribution (Proposed)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Distribute via mailing list — requires Corporate Comms approval before send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118872" cy="1188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Analysis &amp; Reporting (Proposed)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View results and perform analysis on their distributed surveys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118872" cy="1188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⚠️ Approval Gate 1 — Launch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Survey launch must be approved by Corporate Comms (Role 6) before going live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62072" y="1591056"/>
            <a:ext cx="118872" cy="1188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26" name="Text 24"/>
          <p:cNvSpPr/>
          <p:nvPr/>
        </p:nvSpPr>
        <p:spPr>
          <a:xfrm>
            <a:off x="3044952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⚠️ Approval Gate 2 — Distribution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44952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Mailing list distribution must be approved by Corporate Comms (Role 6)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62072" y="2066544"/>
            <a:ext cx="118872" cy="1188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29" name="Text 27"/>
          <p:cNvSpPr/>
          <p:nvPr/>
        </p:nvSpPr>
        <p:spPr>
          <a:xfrm>
            <a:off x="3044952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Platform Access Currently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4952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Glint does not support granting access to external/third-party users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62072" y="2542032"/>
            <a:ext cx="118872" cy="1188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32" name="Text 30"/>
          <p:cNvSpPr/>
          <p:nvPr/>
        </p:nvSpPr>
        <p:spPr>
          <a:xfrm>
            <a:off x="3044952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Native Approval Workflow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44952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Glint has no mechanism for an internal approver to gate external user actions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62072" y="3017520"/>
            <a:ext cx="118872" cy="1188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35" name="Text 33"/>
          <p:cNvSpPr/>
          <p:nvPr/>
        </p:nvSpPr>
        <p:spPr>
          <a:xfrm>
            <a:off x="3044952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🔍 Gap from Qualtrics Migration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44952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This workflow existed in Qualtrics; no equivalent yet available in Glint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68112" y="1051560"/>
            <a:ext cx="3474720" cy="74980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051560"/>
            <a:ext cx="54864" cy="74980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108813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C3483"/>
                </a:solidFill>
              </a:rPr>
              <a:t>DATA ACCESSIBLE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77840" y="129844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Intended: Only surveys created by them &amp; associated response data — no other Barclays data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468112" y="1837944"/>
            <a:ext cx="3474720" cy="749808"/>
          </a:xfrm>
          <a:prstGeom prst="rect">
            <a:avLst/>
          </a:prstGeom>
          <a:solidFill>
            <a:srgbClr val="1B5E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68112" y="1837944"/>
            <a:ext cx="54864" cy="74980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18745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C3483"/>
                </a:solidFill>
              </a:rPr>
              <a:t>POPULATION COVERED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77840" y="208483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External — Karian &amp; Box consultants acting on behalf of Corporate Comms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468112" y="2624328"/>
            <a:ext cx="3474720" cy="749808"/>
          </a:xfrm>
          <a:prstGeom prst="rect">
            <a:avLst/>
          </a:prstGeom>
          <a:solidFill>
            <a:srgbClr val="1A4A6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68112" y="2624328"/>
            <a:ext cx="54864" cy="74980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47" name="Text 45"/>
          <p:cNvSpPr/>
          <p:nvPr/>
        </p:nvSpPr>
        <p:spPr>
          <a:xfrm>
            <a:off x="5577840" y="266090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C3483"/>
                </a:solidFill>
              </a:rPr>
              <a:t>WHO RECEIVES ACCESS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77840" y="287121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Karian &amp; Box external consultant team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468112" y="3410712"/>
            <a:ext cx="3474720" cy="749808"/>
          </a:xfrm>
          <a:prstGeom prst="rect">
            <a:avLst/>
          </a:prstGeom>
          <a:solidFill>
            <a:srgbClr val="1639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68112" y="3410712"/>
            <a:ext cx="54864" cy="74980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51" name="Text 49"/>
          <p:cNvSpPr/>
          <p:nvPr/>
        </p:nvSpPr>
        <p:spPr>
          <a:xfrm>
            <a:off x="5577840" y="344728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C3483"/>
                </a:solidFill>
              </a:rPr>
              <a:t>WHY THEY NEED IT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77840" y="36576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Corporate Comms outsources survey creation, distribution &amp; analysis to Karian &amp; Box; oversight maintained via two internal approval gates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5468112" y="4197096"/>
            <a:ext cx="3474720" cy="749808"/>
          </a:xfrm>
          <a:prstGeom prst="rect">
            <a:avLst/>
          </a:prstGeom>
          <a:solidFill>
            <a:srgbClr val="0F26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68112" y="4197096"/>
            <a:ext cx="54864" cy="74980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55" name="Text 53"/>
          <p:cNvSpPr/>
          <p:nvPr/>
        </p:nvSpPr>
        <p:spPr>
          <a:xfrm>
            <a:off x="5577840" y="42336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C3483"/>
                </a:solidFill>
              </a:rPr>
              <a:t>HOW PROVISIONED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44398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⚠️ Solution not yet defined — external access + approval workflow not achievable in current Glint. Pending CDO guidance.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Roles 6 &amp; 7: Interconnected WIP — Approval Workflow Gap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Corporate Comms (Approver)  ↔  Karian &amp; Box (External Creator) — No native solution in Glint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35661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356616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97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ROLE 6 — Survey Approver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Corporate Comms Team (Internal Barclays)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5681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40"/>
                </a:solidFill>
              </a:rPr>
              <a:t>Reviews surveys authored by Karian &amp; Box before launch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67004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9689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40"/>
                </a:solidFill>
              </a:rPr>
              <a:t>Approves or rejects distribution via mailing list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31012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3697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40"/>
                </a:solidFill>
              </a:rPr>
              <a:t>Acts as governance gate for all externally-authored surveys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95020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87705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40"/>
                </a:solidFill>
              </a:rPr>
              <a:t>No equivalent approver role exists in Glint natively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913632" y="1737360"/>
            <a:ext cx="1316736" cy="2560320"/>
          </a:xfrm>
          <a:prstGeom prst="rect">
            <a:avLst/>
          </a:prstGeom>
          <a:solidFill>
            <a:srgbClr val="FEF3C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13632" y="187452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D5A00"/>
                </a:solidFill>
              </a:rPr>
              <a:t>APPROVAL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7D5A00"/>
                </a:solidFill>
              </a:rPr>
              <a:t>GATES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005072" y="2377440"/>
            <a:ext cx="1133856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4005072" y="237744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Gate 1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Survey Launch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005072" y="3017520"/>
            <a:ext cx="1133856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4005072" y="301752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Gate 2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Distribution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005072" y="356616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D5A00"/>
                </a:solidFill>
              </a:rPr>
              <a:t>↕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349240" y="1097280"/>
            <a:ext cx="35661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49240" y="1097280"/>
            <a:ext cx="3566160" cy="38404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7" name="Text 25"/>
          <p:cNvSpPr/>
          <p:nvPr/>
        </p:nvSpPr>
        <p:spPr>
          <a:xfrm>
            <a:off x="5440680" y="1097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ROLE 7 — Restricted External Role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40680" y="1572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Karian &amp; Box (External Consultants)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40680" y="2029968"/>
            <a:ext cx="109728" cy="109728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30" name="Text 28"/>
          <p:cNvSpPr/>
          <p:nvPr/>
        </p:nvSpPr>
        <p:spPr>
          <a:xfrm>
            <a:off x="5623560" y="195681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40"/>
                </a:solidFill>
              </a:rPr>
              <a:t>Create surveys on behalf of Corporate Comms (cannot launch without approval)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40680" y="2670048"/>
            <a:ext cx="109728" cy="109728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32" name="Text 30"/>
          <p:cNvSpPr/>
          <p:nvPr/>
        </p:nvSpPr>
        <p:spPr>
          <a:xfrm>
            <a:off x="5623560" y="259689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40"/>
                </a:solidFill>
              </a:rPr>
              <a:t>Distribute surveys via mailing list (cannot send without approval)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40680" y="3310128"/>
            <a:ext cx="109728" cy="109728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34" name="Text 32"/>
          <p:cNvSpPr/>
          <p:nvPr/>
        </p:nvSpPr>
        <p:spPr>
          <a:xfrm>
            <a:off x="5623560" y="323697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40"/>
                </a:solidFill>
              </a:rPr>
              <a:t>Perform analysis and reporting on survey results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40680" y="3950208"/>
            <a:ext cx="109728" cy="109728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36" name="Text 34"/>
          <p:cNvSpPr/>
          <p:nvPr/>
        </p:nvSpPr>
        <p:spPr>
          <a:xfrm>
            <a:off x="5623560" y="387705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40"/>
                </a:solidFill>
              </a:rPr>
              <a:t>Previously had equivalent access in Qualtrics — not replicable in Glint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38" name="Shape 36"/>
          <p:cNvSpPr/>
          <p:nvPr/>
        </p:nvSpPr>
        <p:spPr>
          <a:xfrm>
            <a:off x="228600" y="4681728"/>
            <a:ext cx="54864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681728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2B21"/>
                </a:solidFill>
              </a:rPr>
              <a:t>⚠  PLATFORM GAP: Glint has no native mechanism to restrict external user actions behind an internal approver. This two-gate control workflow (as operated in Qualtrics) cannot currently be replicated. CDO decision required on interim process.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ROLE SUMMARY — ALL 7 GLINT ACCESS ROLES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24128"/>
          <a:ext cx="8823960" cy="3730752"/>
        </p:xfrm>
        <a:graphic>
          <a:graphicData uri="http://schemas.openxmlformats.org/drawingml/2006/table">
            <a:tbl>
              <a:tblPr/>
              <a:tblGrid>
                <a:gridCol w="274320"/>
                <a:gridCol w="1965960"/>
                <a:gridCol w="2148840"/>
                <a:gridCol w="914400"/>
                <a:gridCol w="685800"/>
                <a:gridCol w="685800"/>
                <a:gridCol w="640080"/>
                <a:gridCol w="594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Role Name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Key Users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Survey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Authoring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Data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Mgmt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360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Feedback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Adv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Config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34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Glint Service Admin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Colleague Listening + Samuel Moore (Culture)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Full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Full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Yes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Yes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Live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34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Survey Designer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Talent, OE, Journey Experts, Culture (non-CL)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Full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Yes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Live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34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Survey Program Owner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BUK Team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Full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Live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34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Survey Program Contributor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BIA &amp; CSO Teams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Edit only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Live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34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Advanced Analytics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Data &amp; OB Science Team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</a:rPr>
                        <a:t>WIP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34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Survey Approver (linked *)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Corporate Comms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Approve only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</a:rPr>
                        <a:t>WIP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340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Restricted External (linked *)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Karian &amp; Box (External)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Proposed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</a:rPr>
                        <a:t>WIP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4773168"/>
            <a:ext cx="8778240" cy="256032"/>
          </a:xfrm>
          <a:prstGeom prst="rect">
            <a:avLst/>
          </a:prstGeom>
          <a:solidFill>
            <a:srgbClr val="FEF3CD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5A00"/>
                </a:solidFill>
              </a:rPr>
              <a:t>⚠  Roles 5, 6 &amp; 7 are Work in Progress. (*) Roles 6 &amp; 7 are interconnected — no native Glint approval workflow available. CDO decision required on interim process.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Viva Glint – Role &amp; Access Framework</dc:title>
  <dc:subject>PptxGenJS Presentation</dc:subject>
  <dc:creator>PptxGenJS</dc:creator>
  <cp:lastModifiedBy>PptxGenJS</cp:lastModifiedBy>
  <cp:revision>1</cp:revision>
  <dcterms:created xsi:type="dcterms:W3CDTF">2026-04-10T03:43:26Z</dcterms:created>
  <dcterms:modified xsi:type="dcterms:W3CDTF">2026-04-10T03:43:26Z</dcterms:modified>
</cp:coreProperties>
</file>