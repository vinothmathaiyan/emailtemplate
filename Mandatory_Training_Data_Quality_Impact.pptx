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Reported (incl. duplicates)</c:v>
                </c:pt>
              </c:strCache>
            </c:strRef>
          </c:tx>
          <c:spPr>
            <a:solidFill>
              <a:srgbClr val="C5D2E2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950" u="none">
                    <a:solidFill>
                      <a:srgbClr val="1E293B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Q3 2025</c:v>
                  </c:pt>
                  <c:pt idx="1">
                    <c:v>Q1 2026</c:v>
                  </c:pt>
                  <c:pt idx="2">
                    <c:v>Q2 2026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59</c:v>
                </c:pt>
                <c:pt idx="1">
                  <c:v>45</c:v>
                </c:pt>
                <c:pt idx="2">
                  <c:v>32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Corrected (unique only)</c:v>
                </c:pt>
              </c:strCache>
            </c:strRef>
          </c:tx>
          <c:spPr>
            <a:solidFill>
              <a:srgbClr val="14274E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950" u="none">
                    <a:solidFill>
                      <a:srgbClr val="1E293B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Q3 2025</c:v>
                  </c:pt>
                  <c:pt idx="1">
                    <c:v>Q1 2026</c:v>
                  </c:pt>
                  <c:pt idx="2">
                    <c:v>Q2 2026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47</c:v>
                </c:pt>
                <c:pt idx="1">
                  <c:v>36</c:v>
                </c:pt>
                <c:pt idx="2">
                  <c:v>26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950" u="none">
                  <a:solidFill>
                    <a:srgbClr val="1E293B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E293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64748B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Headline: a survey-configuration flaw let colleagues submit the mandatory-training survey more than once across Q3 2025, Q1 2026 and Q2 2026. Root cause is a combination, not a single fault: a generic (shared) task-card link, the multiple-submission setting being on, and the task card not clearing once completed. The visible impact is on response rates — they were inflated by 6 to 12 points. Stress that the investigation is complete and the live survey is already fixed.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reassuring message for leadership: the duplicates moved sentiment scores by no more than four points, so the conclusions we have reported are sound. The real correction is to response rates / representativeness, not to the substance of the insight. On remediation, lead with what is already fixed (multiple submission off, tested) then the forward actions. If pressed on 'were decisions influenced?' — low risk: rankings and trends are unchanged; the main restatement is to the reported response rates on the affected dashboards.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/ppt/charts/chart1.xml"/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0E72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COLLEAGUE LISTENING   ·   DATA QUALITY INCIDENT   ·   IMPACT ASSESSMENT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40080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427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Duplicate responses in the mandatory training survey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37160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configuration flaw in the mandatory training survey allowed duplicate submissions across three cycles — Q3 2025, Q1 2026 and Q2 2026. Investigation is complete and fixes are underway. The effect was to overstate reported response rates; the impact on sentiment findings is limited.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2084832"/>
            <a:ext cx="384048" cy="384048"/>
          </a:xfrm>
          <a:prstGeom prst="ellipse">
            <a:avLst/>
          </a:prstGeom>
          <a:solidFill>
            <a:srgbClr val="B7791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" y="2180844"/>
            <a:ext cx="192024" cy="19202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33272" y="204825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427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caused it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502920" y="2578608"/>
            <a:ext cx="5440680" cy="3822192"/>
          </a:xfrm>
          <a:prstGeom prst="roundRect">
            <a:avLst>
              <a:gd name="adj" fmla="val 167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9AA7B8">
                <a:alpha val="2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704088" y="2734056"/>
            <a:ext cx="274320" cy="274320"/>
          </a:xfrm>
          <a:prstGeom prst="ellipse">
            <a:avLst/>
          </a:prstGeom>
          <a:solidFill>
            <a:srgbClr val="14274E"/>
          </a:solidFill>
          <a:ln/>
        </p:spPr>
      </p:sp>
      <p:sp>
        <p:nvSpPr>
          <p:cNvPr id="10" name="Text 7"/>
          <p:cNvSpPr/>
          <p:nvPr/>
        </p:nvSpPr>
        <p:spPr>
          <a:xfrm>
            <a:off x="704088" y="27340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106424" y="2660904"/>
            <a:ext cx="4617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 migrated from the EX to the CX platform (Qualtrics) to enable automated sampling from Workday. The Workday integration proved unfeasible, but CX continued in use for trend reporting.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704088" y="3465576"/>
            <a:ext cx="274320" cy="274320"/>
          </a:xfrm>
          <a:prstGeom prst="ellipse">
            <a:avLst/>
          </a:prstGeom>
          <a:solidFill>
            <a:srgbClr val="14274E"/>
          </a:solidFill>
          <a:ln/>
        </p:spPr>
      </p:sp>
      <p:sp>
        <p:nvSpPr>
          <p:cNvPr id="13" name="Text 10"/>
          <p:cNvSpPr/>
          <p:nvPr/>
        </p:nvSpPr>
        <p:spPr>
          <a:xfrm>
            <a:off x="704088" y="34655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1106424" y="3392424"/>
            <a:ext cx="4617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Q3 2025 a BNow task card was added to lift participation — task-card surveys reach &gt;25%, versus 14–16% without one.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704088" y="4197096"/>
            <a:ext cx="274320" cy="274320"/>
          </a:xfrm>
          <a:prstGeom prst="ellipse">
            <a:avLst/>
          </a:prstGeom>
          <a:solidFill>
            <a:srgbClr val="14274E"/>
          </a:solidFill>
          <a:ln/>
        </p:spPr>
      </p:sp>
      <p:sp>
        <p:nvSpPr>
          <p:cNvPr id="16" name="Text 13"/>
          <p:cNvSpPr/>
          <p:nvPr/>
        </p:nvSpPr>
        <p:spPr>
          <a:xfrm>
            <a:off x="704088" y="41970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1106424" y="4123944"/>
            <a:ext cx="4617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CX has no native BNow integration, so a generic link (not a unique, per-recipient link) had to be placed in the task card.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704088" y="4928616"/>
            <a:ext cx="274320" cy="274320"/>
          </a:xfrm>
          <a:prstGeom prst="ellipse">
            <a:avLst/>
          </a:prstGeom>
          <a:solidFill>
            <a:srgbClr val="14274E"/>
          </a:solidFill>
          <a:ln/>
        </p:spPr>
      </p:sp>
      <p:sp>
        <p:nvSpPr>
          <p:cNvPr id="19" name="Text 16"/>
          <p:cNvSpPr/>
          <p:nvPr/>
        </p:nvSpPr>
        <p:spPr>
          <a:xfrm>
            <a:off x="704088" y="49286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1106424" y="4855464"/>
            <a:ext cx="4617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Multiple-response submission was switched on to support repeat audiences across quarters.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704088" y="5660136"/>
            <a:ext cx="274320" cy="274320"/>
          </a:xfrm>
          <a:prstGeom prst="ellipse">
            <a:avLst/>
          </a:prstGeom>
          <a:solidFill>
            <a:srgbClr val="14274E"/>
          </a:solidFill>
          <a:ln/>
        </p:spPr>
      </p:sp>
      <p:sp>
        <p:nvSpPr>
          <p:cNvPr id="22" name="Text 19"/>
          <p:cNvSpPr/>
          <p:nvPr/>
        </p:nvSpPr>
        <p:spPr>
          <a:xfrm>
            <a:off x="704088" y="56601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1106424" y="5586984"/>
            <a:ext cx="4617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link + multiple submission + a task card that does not clear on completion together let the same colleague submit more than once.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6263640" y="2084832"/>
            <a:ext cx="384048" cy="384048"/>
          </a:xfrm>
          <a:prstGeom prst="ellipse">
            <a:avLst/>
          </a:prstGeom>
          <a:solidFill>
            <a:srgbClr val="0E72B5"/>
          </a:solidFill>
          <a:ln/>
        </p:spPr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9652" y="2180844"/>
            <a:ext cx="192024" cy="192024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6793992" y="204825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427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Response-rate impact</a:t>
            </a:r>
            <a:endParaRPr lang="en-US" sz="1700" dirty="0"/>
          </a:p>
        </p:txBody>
      </p:sp>
      <p:graphicFrame>
        <p:nvGraphicFramePr>
          <p:cNvPr id="27" name="Chart 0" descr=""/>
          <p:cNvGraphicFramePr/>
          <p:nvPr/>
        </p:nvGraphicFramePr>
        <p:xfrm>
          <a:off x="6217920" y="2596896"/>
          <a:ext cx="5486400" cy="1883664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63640" y="4590288"/>
          <a:ext cx="5440680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1417320"/>
                <a:gridCol w="1325880"/>
                <a:gridCol w="128016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Cycle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74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Responses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(incl. dup.)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74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Unique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responses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74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Duplicates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removed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74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427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Q3 2025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2,945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2,334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B9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611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427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Q1 2026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2,229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1,786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B9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427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Q2 2026 *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1,582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1,312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B9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9" name="Text 23"/>
          <p:cNvSpPr/>
          <p:nvPr/>
        </p:nvSpPr>
        <p:spPr>
          <a:xfrm>
            <a:off x="6263640" y="6053328"/>
            <a:ext cx="5440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142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Reported response rates were overstated by 6–12 percentage points. </a:t>
            </a:r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audience 5,000 per cycle.  * Q2 2026 is still in field — figures provisional as at 19 June 2026.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0E72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COLLEAGUE LISTENING   ·   DATA QUALITY INCIDENT   ·   ASSESSMENT &amp; REMEDIATION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40080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427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Impact on the insight — and the corrective action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37160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duplicates inflated reported reach but had only a minor effect on what the survey actually tells us. Below is our assessment of the impact and the remediation now in train.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874520"/>
            <a:ext cx="384048" cy="384048"/>
          </a:xfrm>
          <a:prstGeom prst="ellipse">
            <a:avLst/>
          </a:prstGeom>
          <a:solidFill>
            <a:srgbClr val="0E72B5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" y="1970532"/>
            <a:ext cx="192024" cy="19202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33272" y="1837944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427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Impact on sentiment scores</a:t>
            </a:r>
            <a:endParaRPr lang="en-US" sz="17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2359152"/>
          <a:ext cx="5440680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1417320"/>
                <a:gridCol w="1325880"/>
                <a:gridCol w="1280160"/>
              </a:tblGrid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Cycle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74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Reported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(incl. dup.)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74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Corrected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(unique)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74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Shift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74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427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Q3 2025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77%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−2 pp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427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Q1 2026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−2 pp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427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Q2 2026 *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79%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 pp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502920" y="3950208"/>
            <a:ext cx="5440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Illustrative: “Overall experience”, % favourable.  </a:t>
            </a:r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all 7 closed questions analysed the change is ≤4 pp (largest: relevance-to-role, ~4 pp). Question rankings, the direction of results and quarter-on-quarter trends are unchanged.  </a:t>
            </a:r>
            <a:pPr algn="l" indent="0" marL="0">
              <a:lnSpc>
                <a:spcPct val="100000"/>
              </a:lnSpc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Q2 2026 in field — figures provisional as at 19 June 2026.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6263640" y="1874520"/>
            <a:ext cx="384048" cy="384048"/>
          </a:xfrm>
          <a:prstGeom prst="ellipse">
            <a:avLst/>
          </a:prstGeom>
          <a:solidFill>
            <a:srgbClr val="1E3A5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9652" y="1970532"/>
            <a:ext cx="192024" cy="192024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793992" y="1837944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427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assessment</a:t>
            </a:r>
            <a:endParaRPr lang="en-US" sz="1700" dirty="0"/>
          </a:p>
        </p:txBody>
      </p:sp>
      <p:sp>
        <p:nvSpPr>
          <p:cNvPr id="13" name="Shape 8"/>
          <p:cNvSpPr/>
          <p:nvPr/>
        </p:nvSpPr>
        <p:spPr>
          <a:xfrm>
            <a:off x="6281928" y="2423160"/>
            <a:ext cx="109728" cy="109728"/>
          </a:xfrm>
          <a:prstGeom prst="ellipse">
            <a:avLst/>
          </a:prstGeom>
          <a:solidFill>
            <a:srgbClr val="0E72B5"/>
          </a:solidFill>
          <a:ln/>
        </p:spPr>
      </p:sp>
      <p:sp>
        <p:nvSpPr>
          <p:cNvPr id="14" name="Text 9"/>
          <p:cNvSpPr/>
          <p:nvPr/>
        </p:nvSpPr>
        <p:spPr>
          <a:xfrm>
            <a:off x="6556248" y="2322576"/>
            <a:ext cx="5129784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050" b="1" dirty="0">
                <a:solidFill>
                  <a:srgbClr val="142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Reported reach was overstated.  </a:t>
            </a:r>
            <a:pPr algn="l" indent="0" marL="0">
              <a:lnSpc>
                <a:spcPct val="98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rates fall 6–12 pp once duplicates are removed — this is the primary correction to make.</a:t>
            </a:r>
            <a:endParaRPr lang="en-US" sz="1050" dirty="0"/>
          </a:p>
        </p:txBody>
      </p:sp>
      <p:sp>
        <p:nvSpPr>
          <p:cNvPr id="15" name="Shape 10"/>
          <p:cNvSpPr/>
          <p:nvPr/>
        </p:nvSpPr>
        <p:spPr>
          <a:xfrm>
            <a:off x="6281928" y="3072384"/>
            <a:ext cx="109728" cy="109728"/>
          </a:xfrm>
          <a:prstGeom prst="ellipse">
            <a:avLst/>
          </a:prstGeom>
          <a:solidFill>
            <a:srgbClr val="0E72B5"/>
          </a:solidFill>
          <a:ln/>
        </p:spPr>
      </p:sp>
      <p:sp>
        <p:nvSpPr>
          <p:cNvPr id="16" name="Text 11"/>
          <p:cNvSpPr/>
          <p:nvPr/>
        </p:nvSpPr>
        <p:spPr>
          <a:xfrm>
            <a:off x="6556248" y="2971800"/>
            <a:ext cx="5129784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050" b="1" dirty="0">
                <a:solidFill>
                  <a:srgbClr val="142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Substantive findings hold.  </a:t>
            </a:r>
            <a:pPr algn="l" indent="0" marL="0">
              <a:lnSpc>
                <a:spcPct val="98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Favourable scores move ≤4 pp (mostly 1–2 pp), so conclusions and priorities are unchanged.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6281928" y="3721608"/>
            <a:ext cx="109728" cy="109728"/>
          </a:xfrm>
          <a:prstGeom prst="ellipse">
            <a:avLst/>
          </a:prstGeom>
          <a:solidFill>
            <a:srgbClr val="0E72B5"/>
          </a:solidFill>
          <a:ln/>
        </p:spPr>
      </p:sp>
      <p:sp>
        <p:nvSpPr>
          <p:cNvPr id="18" name="Text 13"/>
          <p:cNvSpPr/>
          <p:nvPr/>
        </p:nvSpPr>
        <p:spPr>
          <a:xfrm>
            <a:off x="6556248" y="3621024"/>
            <a:ext cx="5129784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050" b="1" dirty="0">
                <a:solidFill>
                  <a:srgbClr val="142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Trends stay comparable.  </a:t>
            </a:r>
            <a:pPr algn="l" indent="0" marL="0">
              <a:lnSpc>
                <a:spcPct val="98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cycles are affected consistently, so quarter-on-quarter movement is preserved.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6281928" y="4370832"/>
            <a:ext cx="109728" cy="109728"/>
          </a:xfrm>
          <a:prstGeom prst="ellipse">
            <a:avLst/>
          </a:prstGeom>
          <a:solidFill>
            <a:srgbClr val="0E72B5"/>
          </a:solidFill>
          <a:ln/>
        </p:spPr>
      </p:sp>
      <p:sp>
        <p:nvSpPr>
          <p:cNvPr id="20" name="Text 15"/>
          <p:cNvSpPr/>
          <p:nvPr/>
        </p:nvSpPr>
        <p:spPr>
          <a:xfrm>
            <a:off x="6556248" y="4270248"/>
            <a:ext cx="5129784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050" b="1" dirty="0">
                <a:solidFill>
                  <a:srgbClr val="142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risk of misdirected decisions.  </a:t>
            </a:r>
            <a:pPr algn="l" indent="0" marL="0">
              <a:lnSpc>
                <a:spcPct val="98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Corrected rates (26–47%) remain workable for a mandatory-training pulse. Q2 2026 is provisional until close.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502920" y="4992624"/>
            <a:ext cx="384048" cy="384048"/>
          </a:xfrm>
          <a:prstGeom prst="ellipse">
            <a:avLst/>
          </a:prstGeom>
          <a:solidFill>
            <a:srgbClr val="15803D"/>
          </a:solidFill>
          <a:ln/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932" y="5088636"/>
            <a:ext cx="192024" cy="192024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033272" y="495604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427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Remediation &amp; next steps</a:t>
            </a:r>
            <a:endParaRPr lang="en-US" sz="1700" dirty="0"/>
          </a:p>
        </p:txBody>
      </p:sp>
      <p:sp>
        <p:nvSpPr>
          <p:cNvPr id="24" name="Shape 18"/>
          <p:cNvSpPr/>
          <p:nvPr/>
        </p:nvSpPr>
        <p:spPr>
          <a:xfrm>
            <a:off x="502920" y="5413248"/>
            <a:ext cx="5440680" cy="1152144"/>
          </a:xfrm>
          <a:prstGeom prst="roundRect">
            <a:avLst>
              <a:gd name="adj" fmla="val 4762"/>
            </a:avLst>
          </a:prstGeom>
          <a:solidFill>
            <a:srgbClr val="F0FAF3"/>
          </a:solidFill>
          <a:ln w="12700">
            <a:solidFill>
              <a:srgbClr val="C8E6D2"/>
            </a:solidFill>
            <a:prstDash val="solid"/>
          </a:ln>
          <a:effectLst>
            <a:outerShdw sx="100000" sy="100000" kx="0" ky="0" algn="bl" rotWithShape="0" blurRad="88900" dist="38100" dir="5400000">
              <a:srgbClr val="9AA7B8">
                <a:alpha val="22000"/>
              </a:srgbClr>
            </a:outerShdw>
          </a:effectLst>
        </p:spPr>
      </p:sp>
      <p:sp>
        <p:nvSpPr>
          <p:cNvPr id="25" name="Text 19"/>
          <p:cNvSpPr/>
          <p:nvPr/>
        </p:nvSpPr>
        <p:spPr>
          <a:xfrm>
            <a:off x="722376" y="5559552"/>
            <a:ext cx="5074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PLACE NOW</a:t>
            </a:r>
            <a:endParaRPr lang="en-US" sz="1000" dirty="0"/>
          </a:p>
        </p:txBody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664" y="5925312"/>
            <a:ext cx="201168" cy="20116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051560" y="5870448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Multiple-response submission switched off on the live survey and tested — now strictly one response per colleague, with no further duplicates captured.</a:t>
            </a:r>
            <a:endParaRPr lang="en-US" sz="1050" dirty="0"/>
          </a:p>
        </p:txBody>
      </p:sp>
      <p:sp>
        <p:nvSpPr>
          <p:cNvPr id="28" name="Shape 21"/>
          <p:cNvSpPr/>
          <p:nvPr/>
        </p:nvSpPr>
        <p:spPr>
          <a:xfrm>
            <a:off x="6263640" y="5413248"/>
            <a:ext cx="5440680" cy="1152144"/>
          </a:xfrm>
          <a:prstGeom prst="roundRect">
            <a:avLst>
              <a:gd name="adj" fmla="val 476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9AA7B8">
                <a:alpha val="22000"/>
              </a:srgbClr>
            </a:outerShdw>
          </a:effectLst>
        </p:spPr>
      </p:sp>
      <p:sp>
        <p:nvSpPr>
          <p:cNvPr id="29" name="Text 22"/>
          <p:cNvSpPr/>
          <p:nvPr/>
        </p:nvSpPr>
        <p:spPr>
          <a:xfrm>
            <a:off x="6483096" y="5559552"/>
            <a:ext cx="5074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42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 /  IN DISCUSSION WITH BNOW &amp; TEAM</a:t>
            </a:r>
            <a:endParaRPr lang="en-US" sz="1000" dirty="0"/>
          </a:p>
        </p:txBody>
      </p:sp>
      <p:sp>
        <p:nvSpPr>
          <p:cNvPr id="30" name="Text 23"/>
          <p:cNvSpPr/>
          <p:nvPr/>
        </p:nvSpPr>
        <p:spPr>
          <a:xfrm>
            <a:off x="6501384" y="5833872"/>
            <a:ext cx="4983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lnSpc>
                <a:spcPct val="94000"/>
              </a:lnSpc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to a unique-link task card (raise feasibility with BNow).</a:t>
            </a:r>
            <a:endParaRPr lang="en-US" sz="950" dirty="0"/>
          </a:p>
          <a:p>
            <a:pPr algn="l" marL="152400" indent="-152400">
              <a:lnSpc>
                <a:spcPct val="94000"/>
              </a:lnSpc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dedicated survey per quarter; multiple submission off by default — no link reused across cycles.</a:t>
            </a:r>
            <a:endParaRPr lang="en-US" sz="950" dirty="0"/>
          </a:p>
          <a:p>
            <a:pPr algn="l" marL="152400" indent="-152400">
              <a:lnSpc>
                <a:spcPct val="94000"/>
              </a:lnSpc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de-duplication during the ~3-week field window; add a source field for traceability.</a:t>
            </a:r>
            <a:endParaRPr lang="en-US" sz="950" dirty="0"/>
          </a:p>
          <a:p>
            <a:pPr algn="l" marL="152400" indent="-152400">
              <a:lnSpc>
                <a:spcPct val="94000"/>
              </a:lnSpc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Restate the affected dashboards (Q3 2025, Q1 2026, Q2 2026) on de-duplicated data.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Mandatory Training Survey — Data Quality Incident</dc:title>
  <dc:subject>PptxGenJS Presentation</dc:subject>
  <dc:creator>Colleague Listening</dc:creator>
  <cp:lastModifiedBy>Colleague Listening</cp:lastModifiedBy>
  <cp:revision>1</cp:revision>
  <dcterms:created xsi:type="dcterms:W3CDTF">2026-06-22T04:20:29Z</dcterms:created>
  <dcterms:modified xsi:type="dcterms:W3CDTF">2026-06-22T04:20:29Z</dcterms:modified>
</cp:coreProperties>
</file>